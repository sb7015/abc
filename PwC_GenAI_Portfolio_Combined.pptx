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228600"/>
            <a:ext cx="1463040" cy="201168"/>
          </a:xfrm>
          <a:prstGeom prst="parallelogram">
            <a:avLst/>
          </a:prstGeom>
          <a:solidFill>
            <a:srgbClr val="F5DCCB"/>
          </a:solidFill>
          <a:ln/>
        </p:spPr>
      </p:sp>
      <p:sp>
        <p:nvSpPr>
          <p:cNvPr id="3" name="Shape 1"/>
          <p:cNvSpPr/>
          <p:nvPr/>
        </p:nvSpPr>
        <p:spPr>
          <a:xfrm>
            <a:off x="457200" y="365760"/>
            <a:ext cx="731520" cy="320040"/>
          </a:xfrm>
          <a:prstGeom prst="rect">
            <a:avLst/>
          </a:prstGeom>
          <a:solidFill>
            <a:srgbClr val="D04A02"/>
          </a:solidFill>
          <a:ln/>
          <a:effectLst>
            <a:outerShdw sx="100000" sy="100000" kx="0" ky="0" algn="bl" rotWithShape="0" blurRad="38100" dist="12700" dir="5400000">
              <a:srgbClr val="AAAAAA">
                <a:alpha val="25000"/>
              </a:srgbClr>
            </a:outerShdw>
          </a:effectLst>
        </p:spPr>
      </p:sp>
      <p:sp>
        <p:nvSpPr>
          <p:cNvPr id="4" name="Text 2"/>
          <p:cNvSpPr/>
          <p:nvPr/>
        </p:nvSpPr>
        <p:spPr>
          <a:xfrm>
            <a:off x="457200" y="365760"/>
            <a:ext cx="73152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pwc</a:t>
            </a:r>
            <a:endParaRPr lang="en-US" sz="1400" dirty="0"/>
          </a:p>
        </p:txBody>
      </p:sp>
      <p:sp>
        <p:nvSpPr>
          <p:cNvPr id="5" name="Text 3"/>
          <p:cNvSpPr/>
          <p:nvPr/>
        </p:nvSpPr>
        <p:spPr>
          <a:xfrm>
            <a:off x="1371600" y="365760"/>
            <a:ext cx="2286000" cy="320040"/>
          </a:xfrm>
          <a:prstGeom prst="rect">
            <a:avLst/>
          </a:prstGeom>
          <a:noFill/>
          <a:ln/>
        </p:spPr>
        <p:txBody>
          <a:bodyPr wrap="square" rtlCol="0" anchor="ctr"/>
          <a:lstStyle/>
          <a:p>
            <a:pPr indent="0" marL="0">
              <a:buNone/>
            </a:pPr>
            <a:r>
              <a:rPr lang="en-US" sz="2000" b="1" dirty="0">
                <a:solidFill>
                  <a:srgbClr val="2D2D2D"/>
                </a:solidFill>
                <a:latin typeface="Georgia" pitchFamily="34" charset="0"/>
                <a:ea typeface="Georgia" pitchFamily="34" charset="-122"/>
                <a:cs typeface="Georgia" pitchFamily="34" charset="-120"/>
              </a:rPr>
              <a:t>Surge 1 Qual</a:t>
            </a:r>
            <a:endParaRPr lang="en-US" sz="2000" dirty="0"/>
          </a:p>
        </p:txBody>
      </p:sp>
      <p:sp>
        <p:nvSpPr>
          <p:cNvPr id="6" name="Text 4"/>
          <p:cNvSpPr/>
          <p:nvPr/>
        </p:nvSpPr>
        <p:spPr>
          <a:xfrm>
            <a:off x="457200" y="1371600"/>
            <a:ext cx="8229600" cy="640080"/>
          </a:xfrm>
          <a:prstGeom prst="rect">
            <a:avLst/>
          </a:prstGeom>
          <a:noFill/>
          <a:ln/>
        </p:spPr>
        <p:txBody>
          <a:bodyPr wrap="square" rtlCol="0" anchor="ctr"/>
          <a:lstStyle/>
          <a:p>
            <a:pPr indent="0" marL="0">
              <a:buNone/>
            </a:pPr>
            <a:r>
              <a:rPr lang="en-US" sz="3600" b="1" dirty="0">
                <a:solidFill>
                  <a:srgbClr val="2D2D2D"/>
                </a:solidFill>
                <a:latin typeface="Georgia" pitchFamily="34" charset="0"/>
                <a:ea typeface="Georgia" pitchFamily="34" charset="-122"/>
                <a:cs typeface="Georgia" pitchFamily="34" charset="-120"/>
              </a:rPr>
              <a:t>UW Evaluation:</a:t>
            </a:r>
            <a:endParaRPr lang="en-US" sz="3600" dirty="0"/>
          </a:p>
        </p:txBody>
      </p:sp>
      <p:sp>
        <p:nvSpPr>
          <p:cNvPr id="7" name="Text 5"/>
          <p:cNvSpPr/>
          <p:nvPr/>
        </p:nvSpPr>
        <p:spPr>
          <a:xfrm>
            <a:off x="457200" y="2011680"/>
            <a:ext cx="8229600" cy="1097280"/>
          </a:xfrm>
          <a:prstGeom prst="rect">
            <a:avLst/>
          </a:prstGeom>
          <a:noFill/>
          <a:ln/>
        </p:spPr>
        <p:txBody>
          <a:bodyPr wrap="square" rtlCol="0" anchor="ctr"/>
          <a:lstStyle/>
          <a:p>
            <a:pPr indent="0" marL="0">
              <a:buNone/>
            </a:pPr>
            <a:r>
              <a:rPr lang="en-US" sz="2800" dirty="0">
                <a:solidFill>
                  <a:srgbClr val="D04A02"/>
                </a:solidFill>
                <a:latin typeface="Georgia" pitchFamily="34" charset="0"/>
                <a:ea typeface="Georgia" pitchFamily="34" charset="-122"/>
                <a:cs typeface="Georgia" pitchFamily="34" charset="-120"/>
              </a:rPr>
              <a:t>Proving Faster, More Consistent Informal</a:t>
            </a:r>
            <a:endParaRPr lang="en-US" sz="2800" dirty="0"/>
          </a:p>
          <a:p>
            <a:pPr indent="0" marL="0">
              <a:buNone/>
            </a:pPr>
            <a:r>
              <a:rPr lang="en-US" sz="2800" dirty="0">
                <a:solidFill>
                  <a:srgbClr val="D04A02"/>
                </a:solidFill>
                <a:latin typeface="Georgia" pitchFamily="34" charset="0"/>
                <a:ea typeface="Georgia" pitchFamily="34" charset="-122"/>
                <a:cs typeface="Georgia" pitchFamily="34" charset="-120"/>
              </a:rPr>
              <a:t>Underwriting with GenAI Decision Support</a:t>
            </a:r>
            <a:endParaRPr lang="en-US" sz="2800" dirty="0"/>
          </a:p>
        </p:txBody>
      </p:sp>
      <p:sp>
        <p:nvSpPr>
          <p:cNvPr id="8" name="Text 6"/>
          <p:cNvSpPr/>
          <p:nvPr/>
        </p:nvSpPr>
        <p:spPr>
          <a:xfrm>
            <a:off x="457200" y="3200400"/>
            <a:ext cx="8046720" cy="365760"/>
          </a:xfrm>
          <a:prstGeom prst="rect">
            <a:avLst/>
          </a:prstGeom>
          <a:noFill/>
          <a:ln/>
        </p:spPr>
        <p:txBody>
          <a:bodyPr wrap="square" rtlCol="0" anchor="ctr"/>
          <a:lstStyle/>
          <a:p>
            <a:pPr indent="0" marL="0">
              <a:buNone/>
            </a:pPr>
            <a:r>
              <a:rPr lang="en-US" sz="1400" i="1" dirty="0">
                <a:solidFill>
                  <a:srgbClr val="5C5C5C"/>
                </a:solidFill>
                <a:latin typeface="Calibri" pitchFamily="34" charset="0"/>
                <a:ea typeface="Calibri" pitchFamily="34" charset="-122"/>
                <a:cs typeface="Calibri" pitchFamily="34" charset="-120"/>
              </a:rPr>
              <a:t>A 10-week, underwriter-guided journey from concept to validated decision support</a:t>
            </a:r>
            <a:endParaRPr lang="en-US" sz="1400" dirty="0"/>
          </a:p>
        </p:txBody>
      </p:sp>
      <p:sp>
        <p:nvSpPr>
          <p:cNvPr id="9" name="Shape 7"/>
          <p:cNvSpPr/>
          <p:nvPr/>
        </p:nvSpPr>
        <p:spPr>
          <a:xfrm>
            <a:off x="1828800" y="3840480"/>
            <a:ext cx="3200400" cy="365760"/>
          </a:xfrm>
          <a:prstGeom prst="parallelogram">
            <a:avLst/>
          </a:prstGeom>
          <a:solidFill>
            <a:srgbClr val="D04A02"/>
          </a:solidFill>
          <a:ln/>
          <a:effectLst>
            <a:outerShdw sx="100000" sy="100000" kx="0" ky="0" algn="bl" rotWithShape="0" blurRad="483870000" dist="161290000" dir="324000000000">
              <a:srgbClr val="AAAAAA">
                <a:alpha val="2500000000"/>
              </a:srgbClr>
            </a:outerShdw>
          </a:effectLst>
        </p:spPr>
      </p:sp>
      <p:sp>
        <p:nvSpPr>
          <p:cNvPr id="10" name="Shape 8"/>
          <p:cNvSpPr/>
          <p:nvPr/>
        </p:nvSpPr>
        <p:spPr>
          <a:xfrm>
            <a:off x="4114800" y="4206240"/>
            <a:ext cx="3200400" cy="365760"/>
          </a:xfrm>
          <a:prstGeom prst="parallelogram">
            <a:avLst/>
          </a:prstGeom>
          <a:solidFill>
            <a:srgbClr val="E8713A"/>
          </a:solidFill>
          <a:ln/>
          <a:effectLst>
            <a:outerShdw sx="100000" sy="100000" kx="0" ky="0" algn="bl" rotWithShape="0" blurRad="6145149000000" dist="2048383000000" dir="19440000000000000">
              <a:srgbClr val="AAAAAA">
                <a:alpha val="250000000000000"/>
              </a:srgbClr>
            </a:outerShdw>
          </a:effectLst>
        </p:spPr>
      </p:sp>
      <p:sp>
        <p:nvSpPr>
          <p:cNvPr id="11" name="Shape 9"/>
          <p:cNvSpPr/>
          <p:nvPr/>
        </p:nvSpPr>
        <p:spPr>
          <a:xfrm>
            <a:off x="274320" y="4846320"/>
            <a:ext cx="8595360" cy="7315"/>
          </a:xfrm>
          <a:prstGeom prst="rect">
            <a:avLst/>
          </a:prstGeom>
          <a:solidFill>
            <a:srgbClr val="D9D9D9"/>
          </a:solidFill>
          <a:ln/>
        </p:spPr>
      </p:sp>
      <p:sp>
        <p:nvSpPr>
          <p:cNvPr id="12" name="Shape 10"/>
          <p:cNvSpPr/>
          <p:nvPr/>
        </p:nvSpPr>
        <p:spPr>
          <a:xfrm>
            <a:off x="274320" y="4919472"/>
            <a:ext cx="82296" cy="82296"/>
          </a:xfrm>
          <a:prstGeom prst="rect">
            <a:avLst/>
          </a:prstGeom>
          <a:solidFill>
            <a:srgbClr val="D04A02"/>
          </a:solidFill>
          <a:ln/>
        </p:spPr>
      </p:sp>
      <p:sp>
        <p:nvSpPr>
          <p:cNvPr id="13" name="Text 11"/>
          <p:cNvSpPr/>
          <p:nvPr/>
        </p:nvSpPr>
        <p:spPr>
          <a:xfrm>
            <a:off x="411480" y="4873752"/>
            <a:ext cx="3657600" cy="182880"/>
          </a:xfrm>
          <a:prstGeom prst="rect">
            <a:avLst/>
          </a:prstGeom>
          <a:noFill/>
          <a:ln/>
        </p:spPr>
        <p:txBody>
          <a:bodyPr wrap="square" lIns="0" tIns="0" rIns="0" bIns="0" rtlCol="0" anchor="ctr"/>
          <a:lstStyle/>
          <a:p>
            <a:pPr indent="0" marL="0">
              <a:buNone/>
            </a:pPr>
            <a:r>
              <a:rPr lang="en-US" sz="650" dirty="0">
                <a:solidFill>
                  <a:srgbClr val="5C5C5C"/>
                </a:solidFill>
                <a:latin typeface="Arial" pitchFamily="34" charset="0"/>
                <a:ea typeface="Arial" pitchFamily="34" charset="-122"/>
                <a:cs typeface="Arial" pitchFamily="34" charset="-120"/>
              </a:rPr>
              <a:t>PwC | Surge 1 Qual — GenAI Portfolio</a:t>
            </a:r>
            <a:endParaRPr lang="en-US" sz="650" dirty="0"/>
          </a:p>
        </p:txBody>
      </p:sp>
      <p:sp>
        <p:nvSpPr>
          <p:cNvPr id="14" name="Text 12"/>
          <p:cNvSpPr/>
          <p:nvPr/>
        </p:nvSpPr>
        <p:spPr>
          <a:xfrm>
            <a:off x="8412480" y="4873752"/>
            <a:ext cx="457200" cy="182880"/>
          </a:xfrm>
          <a:prstGeom prst="rect">
            <a:avLst/>
          </a:prstGeom>
          <a:noFill/>
          <a:ln/>
        </p:spPr>
        <p:txBody>
          <a:bodyPr wrap="square" lIns="0" tIns="0" rIns="0" bIns="0" rtlCol="0" anchor="ctr"/>
          <a:lstStyle/>
          <a:p>
            <a:pPr algn="r" indent="0" marL="0">
              <a:buNone/>
            </a:pPr>
            <a:r>
              <a:rPr lang="en-US" sz="650" dirty="0">
                <a:solidFill>
                  <a:srgbClr val="5C5C5C"/>
                </a:solidFill>
                <a:latin typeface="Arial" pitchFamily="34" charset="0"/>
                <a:ea typeface="Arial" pitchFamily="34" charset="-122"/>
                <a:cs typeface="Arial" pitchFamily="34" charset="-120"/>
              </a:rPr>
              <a:t>1</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91440"/>
            <a:ext cx="8595360" cy="329184"/>
          </a:xfrm>
          <a:prstGeom prst="rect">
            <a:avLst/>
          </a:prstGeom>
          <a:noFill/>
          <a:ln/>
        </p:spPr>
        <p:txBody>
          <a:bodyPr wrap="square" lIns="0" tIns="0" rIns="0" bIns="0" rtlCol="0" anchor="ctr"/>
          <a:lstStyle/>
          <a:p>
            <a:pPr indent="0" marL="0">
              <a:buNone/>
            </a:pPr>
            <a:r>
              <a:rPr lang="en-US" sz="1500" b="1" dirty="0">
                <a:solidFill>
                  <a:srgbClr val="2D2D2D"/>
                </a:solidFill>
                <a:latin typeface="Georgia" pitchFamily="34" charset="0"/>
                <a:ea typeface="Georgia" pitchFamily="34" charset="-122"/>
                <a:cs typeface="Georgia" pitchFamily="34" charset="-120"/>
              </a:rPr>
              <a:t>GenAI-Enabled – </a:t>
            </a:r>
            <a:pPr indent="0" marL="0">
              <a:buNone/>
            </a:pPr>
            <a:r>
              <a:rPr lang="en-US" sz="1500" b="1" dirty="0">
                <a:solidFill>
                  <a:srgbClr val="D04A02"/>
                </a:solidFill>
                <a:latin typeface="Georgia" pitchFamily="34" charset="0"/>
                <a:ea typeface="Georgia" pitchFamily="34" charset="-122"/>
                <a:cs typeface="Georgia" pitchFamily="34" charset="-120"/>
              </a:rPr>
              <a:t>Automated Underwriting Risk Classification System</a:t>
            </a:r>
            <a:endParaRPr lang="en-US" sz="1500" dirty="0"/>
          </a:p>
        </p:txBody>
      </p:sp>
      <p:sp>
        <p:nvSpPr>
          <p:cNvPr id="3" name="Text 1"/>
          <p:cNvSpPr/>
          <p:nvPr/>
        </p:nvSpPr>
        <p:spPr>
          <a:xfrm>
            <a:off x="274320" y="420624"/>
            <a:ext cx="7772400" cy="219456"/>
          </a:xfrm>
          <a:prstGeom prst="rect">
            <a:avLst/>
          </a:prstGeom>
          <a:noFill/>
          <a:ln/>
        </p:spPr>
        <p:txBody>
          <a:bodyPr wrap="square" lIns="0" tIns="0" rIns="0" bIns="0" rtlCol="0" anchor="ctr"/>
          <a:lstStyle/>
          <a:p>
            <a:pPr indent="0" marL="0">
              <a:buNone/>
            </a:pPr>
            <a:r>
              <a:rPr lang="en-US" sz="1200" dirty="0">
                <a:solidFill>
                  <a:srgbClr val="2D2D2D"/>
                </a:solidFill>
                <a:latin typeface="Georgia" pitchFamily="34" charset="0"/>
                <a:ea typeface="Georgia" pitchFamily="34" charset="-122"/>
                <a:cs typeface="Georgia" pitchFamily="34" charset="-120"/>
              </a:rPr>
              <a:t>for Life Insurance Informal Underwriting</a:t>
            </a:r>
            <a:endParaRPr lang="en-US" sz="1200" dirty="0"/>
          </a:p>
        </p:txBody>
      </p:sp>
      <p:sp>
        <p:nvSpPr>
          <p:cNvPr id="4" name="Shape 2"/>
          <p:cNvSpPr/>
          <p:nvPr/>
        </p:nvSpPr>
        <p:spPr>
          <a:xfrm>
            <a:off x="274320" y="658368"/>
            <a:ext cx="8595360" cy="18288"/>
          </a:xfrm>
          <a:prstGeom prst="rect">
            <a:avLst/>
          </a:prstGeom>
          <a:solidFill>
            <a:srgbClr val="E8713A"/>
          </a:solidFill>
          <a:ln/>
        </p:spPr>
      </p:sp>
      <p:sp>
        <p:nvSpPr>
          <p:cNvPr id="5" name="Shape 3"/>
          <p:cNvSpPr/>
          <p:nvPr/>
        </p:nvSpPr>
        <p:spPr>
          <a:xfrm>
            <a:off x="274320" y="713232"/>
            <a:ext cx="8595360" cy="640080"/>
          </a:xfrm>
          <a:prstGeom prst="roundRect">
            <a:avLst>
              <a:gd name="adj" fmla="val 7143"/>
            </a:avLst>
          </a:prstGeom>
          <a:solidFill>
            <a:srgbClr val="FBF3EE"/>
          </a:solidFill>
          <a:ln w="9525">
            <a:solidFill>
              <a:srgbClr val="F0D8CB"/>
            </a:solidFill>
            <a:prstDash val="solid"/>
          </a:ln>
          <a:effectLst>
            <a:outerShdw sx="100000" sy="100000" kx="0" ky="0" algn="bl" rotWithShape="0" blurRad="78043392300000000" dist="26014464100000000" dir="1.1664e+21">
              <a:srgbClr val="AAAAAA">
                <a:alpha val="25000000000000000000"/>
              </a:srgbClr>
            </a:outerShdw>
          </a:effectLst>
        </p:spPr>
      </p:sp>
      <p:sp>
        <p:nvSpPr>
          <p:cNvPr id="6" name="Shape 4"/>
          <p:cNvSpPr/>
          <p:nvPr/>
        </p:nvSpPr>
        <p:spPr>
          <a:xfrm>
            <a:off x="274320" y="749808"/>
            <a:ext cx="54864" cy="566928"/>
          </a:xfrm>
          <a:prstGeom prst="rect">
            <a:avLst/>
          </a:prstGeom>
          <a:solidFill>
            <a:srgbClr val="C41E3A"/>
          </a:solidFill>
          <a:ln/>
        </p:spPr>
      </p:sp>
      <p:pic>
        <p:nvPicPr>
          <p:cNvPr id="7" name="Image 0" descr="preencoded.png">    </p:cNvPr>
          <p:cNvPicPr>
            <a:picLocks noChangeAspect="1"/>
          </p:cNvPicPr>
          <p:nvPr/>
        </p:nvPicPr>
        <p:blipFill>
          <a:blip r:embed="rId1"/>
          <a:stretch>
            <a:fillRect/>
          </a:stretch>
        </p:blipFill>
        <p:spPr>
          <a:xfrm>
            <a:off x="429768" y="777240"/>
            <a:ext cx="173736" cy="173736"/>
          </a:xfrm>
          <a:prstGeom prst="rect">
            <a:avLst/>
          </a:prstGeom>
        </p:spPr>
      </p:pic>
      <p:sp>
        <p:nvSpPr>
          <p:cNvPr id="8" name="Text 5"/>
          <p:cNvSpPr/>
          <p:nvPr/>
        </p:nvSpPr>
        <p:spPr>
          <a:xfrm>
            <a:off x="658368" y="768096"/>
            <a:ext cx="2743200" cy="201168"/>
          </a:xfrm>
          <a:prstGeom prst="rect">
            <a:avLst/>
          </a:prstGeom>
          <a:noFill/>
          <a:ln/>
        </p:spPr>
        <p:txBody>
          <a:bodyPr wrap="square" lIns="0" tIns="0" rIns="0" bIns="0" rtlCol="0" anchor="ctr"/>
          <a:lstStyle/>
          <a:p>
            <a:pPr indent="0" marL="0">
              <a:buNone/>
            </a:pPr>
            <a:r>
              <a:rPr lang="en-US" sz="900" b="1" dirty="0">
                <a:solidFill>
                  <a:srgbClr val="C41E3A"/>
                </a:solidFill>
                <a:latin typeface="Arial" pitchFamily="34" charset="0"/>
                <a:ea typeface="Arial" pitchFamily="34" charset="-122"/>
                <a:cs typeface="Arial" pitchFamily="34" charset="-120"/>
              </a:rPr>
              <a:t>The Challenge We Addressed</a:t>
            </a:r>
            <a:endParaRPr lang="en-US" sz="900" dirty="0"/>
          </a:p>
        </p:txBody>
      </p:sp>
      <p:sp>
        <p:nvSpPr>
          <p:cNvPr id="9" name="Text 6"/>
          <p:cNvSpPr/>
          <p:nvPr/>
        </p:nvSpPr>
        <p:spPr>
          <a:xfrm>
            <a:off x="429768" y="987552"/>
            <a:ext cx="8275320" cy="347472"/>
          </a:xfrm>
          <a:prstGeom prst="rect">
            <a:avLst/>
          </a:prstGeom>
          <a:noFill/>
          <a:ln/>
        </p:spPr>
        <p:txBody>
          <a:bodyPr wrap="square" lIns="0" tIns="0" rIns="0" bIns="0" rtlCol="0" anchor="t"/>
          <a:lstStyle/>
          <a:p>
            <a:pPr indent="0" marL="0">
              <a:buNone/>
            </a:pPr>
            <a:r>
              <a:rPr lang="en-US" sz="750" dirty="0">
                <a:solidFill>
                  <a:srgbClr val="5C5C5C"/>
                </a:solidFill>
                <a:latin typeface="Calibri" pitchFamily="34" charset="0"/>
                <a:ea typeface="Calibri" pitchFamily="34" charset="-122"/>
                <a:cs typeface="Calibri" pitchFamily="34" charset="-120"/>
              </a:rPr>
              <a:t>Informal underwriting was constrained by highly manual processes requiring underwriters to navigate multiple systems and interpret guidelines independently. This resulted in inconsistent risk classifications, extended turnaround times, limited ability to prioritize high-value cases, and significant time spent on repetitive data reconciliation rather than applying judgment where it mattered most.</a:t>
            </a:r>
            <a:endParaRPr lang="en-US" sz="750" dirty="0"/>
          </a:p>
        </p:txBody>
      </p:sp>
      <p:sp>
        <p:nvSpPr>
          <p:cNvPr id="10" name="Shape 7"/>
          <p:cNvSpPr/>
          <p:nvPr/>
        </p:nvSpPr>
        <p:spPr>
          <a:xfrm>
            <a:off x="228600" y="1389888"/>
            <a:ext cx="2377440" cy="1783080"/>
          </a:xfrm>
          <a:prstGeom prst="roundRect">
            <a:avLst>
              <a:gd name="adj" fmla="val 2564"/>
            </a:avLst>
          </a:prstGeom>
          <a:solidFill>
            <a:srgbClr val="F7F6F4"/>
          </a:solidFill>
          <a:ln w="6350">
            <a:solidFill>
              <a:srgbClr val="ECEAE6"/>
            </a:solidFill>
            <a:prstDash val="solid"/>
          </a:ln>
        </p:spPr>
      </p:sp>
      <p:sp>
        <p:nvSpPr>
          <p:cNvPr id="11" name="Shape 8"/>
          <p:cNvSpPr/>
          <p:nvPr/>
        </p:nvSpPr>
        <p:spPr>
          <a:xfrm>
            <a:off x="2670048" y="1389888"/>
            <a:ext cx="1700784" cy="1783080"/>
          </a:xfrm>
          <a:prstGeom prst="roundRect">
            <a:avLst>
              <a:gd name="adj" fmla="val 2688"/>
            </a:avLst>
          </a:prstGeom>
          <a:solidFill>
            <a:srgbClr val="F7F6F4"/>
          </a:solidFill>
          <a:ln w="6350">
            <a:solidFill>
              <a:srgbClr val="ECEAE6"/>
            </a:solidFill>
            <a:prstDash val="solid"/>
          </a:ln>
        </p:spPr>
      </p:sp>
      <p:sp>
        <p:nvSpPr>
          <p:cNvPr id="12" name="Shape 9"/>
          <p:cNvSpPr/>
          <p:nvPr/>
        </p:nvSpPr>
        <p:spPr>
          <a:xfrm>
            <a:off x="4434840" y="1389888"/>
            <a:ext cx="1737360" cy="1783080"/>
          </a:xfrm>
          <a:prstGeom prst="roundRect">
            <a:avLst>
              <a:gd name="adj" fmla="val 2632"/>
            </a:avLst>
          </a:prstGeom>
          <a:solidFill>
            <a:srgbClr val="F7F6F4"/>
          </a:solidFill>
          <a:ln w="6350">
            <a:solidFill>
              <a:srgbClr val="ECEAE6"/>
            </a:solidFill>
            <a:prstDash val="solid"/>
          </a:ln>
        </p:spPr>
      </p:sp>
      <p:pic>
        <p:nvPicPr>
          <p:cNvPr id="13" name="Image 1" descr="preencoded.png">    </p:cNvPr>
          <p:cNvPicPr>
            <a:picLocks noChangeAspect="1"/>
          </p:cNvPicPr>
          <p:nvPr/>
        </p:nvPicPr>
        <p:blipFill>
          <a:blip r:embed="rId2"/>
          <a:stretch>
            <a:fillRect/>
          </a:stretch>
        </p:blipFill>
        <p:spPr>
          <a:xfrm>
            <a:off x="320040" y="1444752"/>
            <a:ext cx="164592" cy="164592"/>
          </a:xfrm>
          <a:prstGeom prst="rect">
            <a:avLst/>
          </a:prstGeom>
        </p:spPr>
      </p:pic>
      <p:sp>
        <p:nvSpPr>
          <p:cNvPr id="14" name="Text 10"/>
          <p:cNvSpPr/>
          <p:nvPr/>
        </p:nvSpPr>
        <p:spPr>
          <a:xfrm>
            <a:off x="539496" y="1417320"/>
            <a:ext cx="1993392" cy="219456"/>
          </a:xfrm>
          <a:prstGeom prst="rect">
            <a:avLst/>
          </a:prstGeom>
          <a:noFill/>
          <a:ln/>
        </p:spPr>
        <p:txBody>
          <a:bodyPr wrap="square" lIns="0" tIns="0" rIns="0" bIns="0" rtlCol="0" anchor="ctr"/>
          <a:lstStyle/>
          <a:p>
            <a:pPr indent="0" marL="0">
              <a:buNone/>
            </a:pPr>
            <a:r>
              <a:rPr lang="en-US" sz="900" b="1" dirty="0">
                <a:solidFill>
                  <a:srgbClr val="2D2D2D"/>
                </a:solidFill>
                <a:latin typeface="Arial" pitchFamily="34" charset="0"/>
                <a:ea typeface="Arial" pitchFamily="34" charset="-122"/>
                <a:cs typeface="Arial" pitchFamily="34" charset="-120"/>
              </a:rPr>
              <a:t>What We Proved in 10 Weeks</a:t>
            </a:r>
            <a:endParaRPr lang="en-US" sz="900" dirty="0"/>
          </a:p>
        </p:txBody>
      </p:sp>
      <p:sp>
        <p:nvSpPr>
          <p:cNvPr id="15" name="Text 11"/>
          <p:cNvSpPr/>
          <p:nvPr/>
        </p:nvSpPr>
        <p:spPr>
          <a:xfrm>
            <a:off x="320040" y="1664208"/>
            <a:ext cx="2212848" cy="777240"/>
          </a:xfrm>
          <a:prstGeom prst="rect">
            <a:avLst/>
          </a:prstGeom>
          <a:noFill/>
          <a:ln/>
        </p:spPr>
        <p:txBody>
          <a:bodyPr wrap="square" rtlCol="0" anchor="t"/>
          <a:lstStyle/>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Created GenAI-powered underwriting decision support consolidating APS data with guidelines</a:t>
            </a:r>
            <a:endParaRPr lang="en-US" sz="65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Human-in-the-loop model: GenAI recommends, underwriters retain final authority</a:t>
            </a:r>
            <a:endParaRPr lang="en-US" sz="65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Achieved 92% risk class alignment with underwriter validation</a:t>
            </a:r>
            <a:endParaRPr lang="en-US" sz="650" dirty="0"/>
          </a:p>
        </p:txBody>
      </p:sp>
      <p:sp>
        <p:nvSpPr>
          <p:cNvPr id="16" name="Shape 12"/>
          <p:cNvSpPr/>
          <p:nvPr/>
        </p:nvSpPr>
        <p:spPr>
          <a:xfrm>
            <a:off x="320040" y="2441448"/>
            <a:ext cx="2075688" cy="0"/>
          </a:xfrm>
          <a:prstGeom prst="line">
            <a:avLst/>
          </a:prstGeom>
          <a:noFill/>
          <a:ln w="6350">
            <a:solidFill>
              <a:srgbClr val="CCCCCC"/>
            </a:solidFill>
            <a:prstDash val="solid"/>
          </a:ln>
        </p:spPr>
      </p:sp>
      <p:sp>
        <p:nvSpPr>
          <p:cNvPr id="17" name="Text 13"/>
          <p:cNvSpPr/>
          <p:nvPr/>
        </p:nvSpPr>
        <p:spPr>
          <a:xfrm>
            <a:off x="320040" y="2487168"/>
            <a:ext cx="2212848" cy="640080"/>
          </a:xfrm>
          <a:prstGeom prst="rect">
            <a:avLst/>
          </a:prstGeom>
          <a:noFill/>
          <a:ln/>
        </p:spPr>
        <p:txBody>
          <a:bodyPr wrap="square" rtlCol="0" anchor="t"/>
          <a:lstStyle/>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Leveraged AWS Bedrock Knowledge Base for UW guidelines</a:t>
            </a:r>
            <a:endParaRPr lang="en-US" sz="65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Integrated APS extraction with rule comparison engine</a:t>
            </a:r>
            <a:endParaRPr lang="en-US" sz="65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Built automated risk bucketing with explainable outputs</a:t>
            </a:r>
            <a:endParaRPr lang="en-US" sz="650" dirty="0"/>
          </a:p>
        </p:txBody>
      </p:sp>
      <p:sp>
        <p:nvSpPr>
          <p:cNvPr id="18" name="Text 14"/>
          <p:cNvSpPr/>
          <p:nvPr/>
        </p:nvSpPr>
        <p:spPr>
          <a:xfrm>
            <a:off x="2743200" y="1417320"/>
            <a:ext cx="1572768" cy="310896"/>
          </a:xfrm>
          <a:prstGeom prst="rect">
            <a:avLst/>
          </a:prstGeom>
          <a:noFill/>
          <a:ln/>
        </p:spPr>
        <p:txBody>
          <a:bodyPr wrap="square" lIns="0" tIns="0" rIns="0" bIns="0" rtlCol="0" anchor="ctr"/>
          <a:lstStyle/>
          <a:p>
            <a:pPr indent="0" marL="0">
              <a:buNone/>
            </a:pPr>
            <a:r>
              <a:rPr lang="en-US" sz="900" b="1" dirty="0">
                <a:solidFill>
                  <a:srgbClr val="2D2D2D"/>
                </a:solidFill>
                <a:latin typeface="Arial" pitchFamily="34" charset="0"/>
                <a:ea typeface="Arial" pitchFamily="34" charset="-122"/>
                <a:cs typeface="Arial" pitchFamily="34" charset="-120"/>
              </a:rPr>
              <a:t>GenAI Reusable</a:t>
            </a:r>
            <a:endParaRPr lang="en-US" sz="900" dirty="0"/>
          </a:p>
          <a:p>
            <a:pPr indent="0" marL="0">
              <a:buNone/>
            </a:pPr>
            <a:r>
              <a:rPr lang="en-US" sz="900" b="1" dirty="0">
                <a:solidFill>
                  <a:srgbClr val="2D2D2D"/>
                </a:solidFill>
                <a:latin typeface="Arial" pitchFamily="34" charset="0"/>
                <a:ea typeface="Arial" pitchFamily="34" charset="-122"/>
                <a:cs typeface="Arial" pitchFamily="34" charset="-120"/>
              </a:rPr>
              <a:t>Infrastructure</a:t>
            </a:r>
            <a:endParaRPr lang="en-US" sz="900" dirty="0"/>
          </a:p>
        </p:txBody>
      </p:sp>
      <p:sp>
        <p:nvSpPr>
          <p:cNvPr id="19" name="Text 15"/>
          <p:cNvSpPr/>
          <p:nvPr/>
        </p:nvSpPr>
        <p:spPr>
          <a:xfrm>
            <a:off x="2743200" y="1764792"/>
            <a:ext cx="1572768" cy="1371600"/>
          </a:xfrm>
          <a:prstGeom prst="rect">
            <a:avLst/>
          </a:prstGeom>
          <a:noFill/>
          <a:ln/>
        </p:spPr>
        <p:txBody>
          <a:bodyPr wrap="square" rtlCol="0" anchor="t"/>
          <a:lstStyle/>
          <a:p>
            <a:pPr indent="0" marL="0">
              <a:buNone/>
            </a:pPr>
            <a:r>
              <a:rPr lang="en-US" sz="650" b="1" dirty="0">
                <a:solidFill>
                  <a:srgbClr val="5C5C5C"/>
                </a:solidFill>
                <a:latin typeface="Calibri" pitchFamily="34" charset="0"/>
                <a:ea typeface="Calibri" pitchFamily="34" charset="-122"/>
                <a:cs typeface="Calibri" pitchFamily="34" charset="-120"/>
              </a:rPr>
              <a:t>AWS Bedrock: </a:t>
            </a:r>
            <a:pPr indent="0" marL="0">
              <a:buNone/>
            </a:pPr>
            <a:r>
              <a:rPr lang="en-US" sz="650" dirty="0">
                <a:solidFill>
                  <a:srgbClr val="5C5C5C"/>
                </a:solidFill>
                <a:latin typeface="Calibri" pitchFamily="34" charset="0"/>
                <a:ea typeface="Calibri" pitchFamily="34" charset="-122"/>
                <a:cs typeface="Calibri" pitchFamily="34" charset="-120"/>
              </a:rPr>
              <a:t>Knowledge Base for UW rules</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Data pipelines: </a:t>
            </a:r>
            <a:pPr indent="0" marL="0">
              <a:buNone/>
            </a:pPr>
            <a:r>
              <a:rPr lang="en-US" sz="650" dirty="0">
                <a:solidFill>
                  <a:srgbClr val="5C5C5C"/>
                </a:solidFill>
                <a:latin typeface="Calibri" pitchFamily="34" charset="0"/>
                <a:ea typeface="Calibri" pitchFamily="34" charset="-122"/>
                <a:cs typeface="Calibri" pitchFamily="34" charset="-120"/>
              </a:rPr>
              <a:t>S3 storage, extraction</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RAG Framework: </a:t>
            </a:r>
            <a:pPr indent="0" marL="0">
              <a:buNone/>
            </a:pPr>
            <a:r>
              <a:rPr lang="en-US" sz="650" dirty="0">
                <a:solidFill>
                  <a:srgbClr val="5C5C5C"/>
                </a:solidFill>
                <a:latin typeface="Calibri" pitchFamily="34" charset="0"/>
                <a:ea typeface="Calibri" pitchFamily="34" charset="-122"/>
                <a:cs typeface="Calibri" pitchFamily="34" charset="-120"/>
              </a:rPr>
              <a:t>Context-aware decisions</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Step Functions: </a:t>
            </a:r>
            <a:pPr indent="0" marL="0">
              <a:buNone/>
            </a:pPr>
            <a:r>
              <a:rPr lang="en-US" sz="650" dirty="0">
                <a:solidFill>
                  <a:srgbClr val="5C5C5C"/>
                </a:solidFill>
                <a:latin typeface="Calibri" pitchFamily="34" charset="0"/>
                <a:ea typeface="Calibri" pitchFamily="34" charset="-122"/>
                <a:cs typeface="Calibri" pitchFamily="34" charset="-120"/>
              </a:rPr>
              <a:t>Workflow orchestration Ingest→Extract→Classify→Review</a:t>
            </a:r>
            <a:endParaRPr lang="en-US" sz="650" dirty="0"/>
          </a:p>
        </p:txBody>
      </p:sp>
      <p:sp>
        <p:nvSpPr>
          <p:cNvPr id="20" name="Text 16"/>
          <p:cNvSpPr/>
          <p:nvPr/>
        </p:nvSpPr>
        <p:spPr>
          <a:xfrm>
            <a:off x="4507992" y="1417320"/>
            <a:ext cx="1600200" cy="310896"/>
          </a:xfrm>
          <a:prstGeom prst="rect">
            <a:avLst/>
          </a:prstGeom>
          <a:noFill/>
          <a:ln/>
        </p:spPr>
        <p:txBody>
          <a:bodyPr wrap="square" lIns="0" tIns="0" rIns="0" bIns="0" rtlCol="0" anchor="ctr"/>
          <a:lstStyle/>
          <a:p>
            <a:pPr indent="0" marL="0">
              <a:buNone/>
            </a:pPr>
            <a:r>
              <a:rPr lang="en-US" sz="900" b="1" dirty="0">
                <a:solidFill>
                  <a:srgbClr val="2D2D2D"/>
                </a:solidFill>
                <a:latin typeface="Arial" pitchFamily="34" charset="0"/>
                <a:ea typeface="Arial" pitchFamily="34" charset="-122"/>
                <a:cs typeface="Arial" pitchFamily="34" charset="-120"/>
              </a:rPr>
              <a:t>Human-in-the-Loop</a:t>
            </a:r>
            <a:endParaRPr lang="en-US" sz="900" dirty="0"/>
          </a:p>
          <a:p>
            <a:pPr indent="0" marL="0">
              <a:buNone/>
            </a:pPr>
            <a:r>
              <a:rPr lang="en-US" sz="900" b="1" dirty="0">
                <a:solidFill>
                  <a:srgbClr val="2D2D2D"/>
                </a:solidFill>
                <a:latin typeface="Arial" pitchFamily="34" charset="0"/>
                <a:ea typeface="Arial" pitchFamily="34" charset="-122"/>
                <a:cs typeface="Arial" pitchFamily="34" charset="-120"/>
              </a:rPr>
              <a:t>Decision Support UI</a:t>
            </a:r>
            <a:endParaRPr lang="en-US" sz="900" dirty="0"/>
          </a:p>
        </p:txBody>
      </p:sp>
      <p:sp>
        <p:nvSpPr>
          <p:cNvPr id="21" name="Text 17"/>
          <p:cNvSpPr/>
          <p:nvPr/>
        </p:nvSpPr>
        <p:spPr>
          <a:xfrm>
            <a:off x="4507992" y="1764792"/>
            <a:ext cx="1600200" cy="1371600"/>
          </a:xfrm>
          <a:prstGeom prst="rect">
            <a:avLst/>
          </a:prstGeom>
          <a:noFill/>
          <a:ln/>
        </p:spPr>
        <p:txBody>
          <a:bodyPr wrap="square" rtlCol="0" anchor="t"/>
          <a:lstStyle/>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UW reviews AI-generated classifications</a:t>
            </a:r>
            <a:endParaRPr lang="en-US" sz="65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Explainable recommendations with citations</a:t>
            </a:r>
            <a:endParaRPr lang="en-US" sz="65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Final authority with underwriter SMEs</a:t>
            </a:r>
            <a:endParaRPr lang="en-US" sz="65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Structured format for consistency</a:t>
            </a:r>
            <a:endParaRPr lang="en-US" sz="65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Traceable audit trail</a:t>
            </a:r>
            <a:endParaRPr lang="en-US" sz="650" dirty="0"/>
          </a:p>
        </p:txBody>
      </p:sp>
      <p:sp>
        <p:nvSpPr>
          <p:cNvPr id="22" name="Text 18"/>
          <p:cNvSpPr/>
          <p:nvPr/>
        </p:nvSpPr>
        <p:spPr>
          <a:xfrm>
            <a:off x="6263640" y="1417320"/>
            <a:ext cx="2743200" cy="182880"/>
          </a:xfrm>
          <a:prstGeom prst="rect">
            <a:avLst/>
          </a:prstGeom>
          <a:noFill/>
          <a:ln/>
        </p:spPr>
        <p:txBody>
          <a:bodyPr wrap="square" lIns="0" tIns="0" rIns="0" bIns="0" rtlCol="0" anchor="ctr"/>
          <a:lstStyle/>
          <a:p>
            <a:pPr indent="0" marL="0">
              <a:buNone/>
            </a:pPr>
            <a:r>
              <a:rPr lang="en-US" sz="900" b="1" dirty="0">
                <a:solidFill>
                  <a:srgbClr val="2D2D2D"/>
                </a:solidFill>
                <a:latin typeface="Arial" pitchFamily="34" charset="0"/>
                <a:ea typeface="Arial" pitchFamily="34" charset="-122"/>
                <a:cs typeface="Arial" pitchFamily="34" charset="-120"/>
              </a:rPr>
              <a:t>Key Features and Workflow</a:t>
            </a:r>
            <a:endParaRPr lang="en-US" sz="900" dirty="0"/>
          </a:p>
        </p:txBody>
      </p:sp>
      <p:sp>
        <p:nvSpPr>
          <p:cNvPr id="23" name="Shape 19"/>
          <p:cNvSpPr/>
          <p:nvPr/>
        </p:nvSpPr>
        <p:spPr>
          <a:xfrm>
            <a:off x="6263640" y="1618488"/>
            <a:ext cx="804672" cy="256032"/>
          </a:xfrm>
          <a:prstGeom prst="roundRect">
            <a:avLst>
              <a:gd name="adj" fmla="val 12500"/>
            </a:avLst>
          </a:prstGeom>
          <a:solidFill>
            <a:srgbClr val="D04A02"/>
          </a:solidFill>
          <a:ln/>
          <a:effectLst>
            <a:outerShdw sx="100000" sy="100000" kx="0" ky="0" algn="bl" rotWithShape="0" blurRad="991151082210000000000" dist="330383694070000000000" dir="6.9984e+25">
              <a:srgbClr val="AAAAAA">
                <a:alpha val="2.5e+24"/>
              </a:srgbClr>
            </a:outerShdw>
          </a:effectLst>
        </p:spPr>
      </p:sp>
      <p:sp>
        <p:nvSpPr>
          <p:cNvPr id="24" name="Text 20"/>
          <p:cNvSpPr/>
          <p:nvPr/>
        </p:nvSpPr>
        <p:spPr>
          <a:xfrm>
            <a:off x="6263640" y="1618488"/>
            <a:ext cx="804672" cy="256032"/>
          </a:xfrm>
          <a:prstGeom prst="rect">
            <a:avLst/>
          </a:prstGeom>
          <a:noFill/>
          <a:ln/>
        </p:spPr>
        <p:txBody>
          <a:bodyPr wrap="square"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Application Upload</a:t>
            </a:r>
            <a:endParaRPr lang="en-US" sz="550" dirty="0"/>
          </a:p>
        </p:txBody>
      </p:sp>
      <p:sp>
        <p:nvSpPr>
          <p:cNvPr id="25" name="Text 21"/>
          <p:cNvSpPr/>
          <p:nvPr/>
        </p:nvSpPr>
        <p:spPr>
          <a:xfrm>
            <a:off x="7114032" y="1618488"/>
            <a:ext cx="1920240" cy="256032"/>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User uploads application form</a:t>
            </a:r>
            <a:endParaRPr lang="en-US" sz="600" dirty="0"/>
          </a:p>
        </p:txBody>
      </p:sp>
      <p:sp>
        <p:nvSpPr>
          <p:cNvPr id="26" name="Shape 22"/>
          <p:cNvSpPr/>
          <p:nvPr/>
        </p:nvSpPr>
        <p:spPr>
          <a:xfrm>
            <a:off x="6263640" y="1911096"/>
            <a:ext cx="804672" cy="256032"/>
          </a:xfrm>
          <a:prstGeom prst="roundRect">
            <a:avLst>
              <a:gd name="adj" fmla="val 12500"/>
            </a:avLst>
          </a:prstGeom>
          <a:solidFill>
            <a:srgbClr val="D04A02"/>
          </a:solidFill>
          <a:ln/>
          <a:effectLst>
            <a:outerShdw sx="100000" sy="100000" kx="0" ky="0" algn="bl" rotWithShape="0" blurRad="1.2587618744067e+25" dist="4.195872914689e+24" dir="4.19904e+30">
              <a:srgbClr val="AAAAAA">
                <a:alpha val="2.5000000000000004e+29"/>
              </a:srgbClr>
            </a:outerShdw>
          </a:effectLst>
        </p:spPr>
      </p:sp>
      <p:sp>
        <p:nvSpPr>
          <p:cNvPr id="27" name="Text 23"/>
          <p:cNvSpPr/>
          <p:nvPr/>
        </p:nvSpPr>
        <p:spPr>
          <a:xfrm>
            <a:off x="6263640" y="1911096"/>
            <a:ext cx="804672" cy="256032"/>
          </a:xfrm>
          <a:prstGeom prst="rect">
            <a:avLst/>
          </a:prstGeom>
          <a:noFill/>
          <a:ln/>
        </p:spPr>
        <p:txBody>
          <a:bodyPr wrap="square"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Data Extraction</a:t>
            </a:r>
            <a:endParaRPr lang="en-US" sz="550" dirty="0"/>
          </a:p>
        </p:txBody>
      </p:sp>
      <p:sp>
        <p:nvSpPr>
          <p:cNvPr id="28" name="Text 24"/>
          <p:cNvSpPr/>
          <p:nvPr/>
        </p:nvSpPr>
        <p:spPr>
          <a:xfrm>
            <a:off x="7114032" y="1911096"/>
            <a:ext cx="1920240" cy="256032"/>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Extract medical history, conditions</a:t>
            </a:r>
            <a:endParaRPr lang="en-US" sz="600" dirty="0"/>
          </a:p>
        </p:txBody>
      </p:sp>
      <p:sp>
        <p:nvSpPr>
          <p:cNvPr id="29" name="Shape 25"/>
          <p:cNvSpPr/>
          <p:nvPr/>
        </p:nvSpPr>
        <p:spPr>
          <a:xfrm>
            <a:off x="6263640" y="2203704"/>
            <a:ext cx="804672" cy="256032"/>
          </a:xfrm>
          <a:prstGeom prst="roundRect">
            <a:avLst>
              <a:gd name="adj" fmla="val 12500"/>
            </a:avLst>
          </a:prstGeom>
          <a:solidFill>
            <a:srgbClr val="D04A02"/>
          </a:solidFill>
          <a:ln/>
          <a:effectLst>
            <a:outerShdw sx="100000" sy="100000" kx="0" ky="0" algn="bl" rotWithShape="0" blurRad="1.598627580496509e+29" dist="5.3287586016550295e+28" dir="2.519424e+35">
              <a:srgbClr val="AAAAAA">
                <a:alpha val="2.5000000000000004e+34"/>
              </a:srgbClr>
            </a:outerShdw>
          </a:effectLst>
        </p:spPr>
      </p:sp>
      <p:sp>
        <p:nvSpPr>
          <p:cNvPr id="30" name="Text 26"/>
          <p:cNvSpPr/>
          <p:nvPr/>
        </p:nvSpPr>
        <p:spPr>
          <a:xfrm>
            <a:off x="6263640" y="2203704"/>
            <a:ext cx="804672" cy="256032"/>
          </a:xfrm>
          <a:prstGeom prst="rect">
            <a:avLst/>
          </a:prstGeom>
          <a:noFill/>
          <a:ln/>
        </p:spPr>
        <p:txBody>
          <a:bodyPr wrap="square"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Rule Comparison</a:t>
            </a:r>
            <a:endParaRPr lang="en-US" sz="550" dirty="0"/>
          </a:p>
        </p:txBody>
      </p:sp>
      <p:sp>
        <p:nvSpPr>
          <p:cNvPr id="31" name="Text 27"/>
          <p:cNvSpPr/>
          <p:nvPr/>
        </p:nvSpPr>
        <p:spPr>
          <a:xfrm>
            <a:off x="7114032" y="2203704"/>
            <a:ext cx="1920240" cy="256032"/>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Compare against predefined UW rules</a:t>
            </a:r>
            <a:endParaRPr lang="en-US" sz="600" dirty="0"/>
          </a:p>
        </p:txBody>
      </p:sp>
      <p:sp>
        <p:nvSpPr>
          <p:cNvPr id="32" name="Shape 28"/>
          <p:cNvSpPr/>
          <p:nvPr/>
        </p:nvSpPr>
        <p:spPr>
          <a:xfrm>
            <a:off x="6263640" y="2496312"/>
            <a:ext cx="804672" cy="256032"/>
          </a:xfrm>
          <a:prstGeom prst="roundRect">
            <a:avLst>
              <a:gd name="adj" fmla="val 12500"/>
            </a:avLst>
          </a:prstGeom>
          <a:solidFill>
            <a:srgbClr val="D04A02"/>
          </a:solidFill>
          <a:ln/>
          <a:effectLst>
            <a:outerShdw sx="100000" sy="100000" kx="0" ky="0" algn="bl" rotWithShape="0" blurRad="2.0302570272305663e+33" dist="6.767523424101888e+32" dir="1.5116544e+40">
              <a:srgbClr val="AAAAAA">
                <a:alpha val="2.5000000000000004e+39"/>
              </a:srgbClr>
            </a:outerShdw>
          </a:effectLst>
        </p:spPr>
      </p:sp>
      <p:sp>
        <p:nvSpPr>
          <p:cNvPr id="33" name="Text 29"/>
          <p:cNvSpPr/>
          <p:nvPr/>
        </p:nvSpPr>
        <p:spPr>
          <a:xfrm>
            <a:off x="6263640" y="2496312"/>
            <a:ext cx="804672" cy="256032"/>
          </a:xfrm>
          <a:prstGeom prst="rect">
            <a:avLst/>
          </a:prstGeom>
          <a:noFill/>
          <a:ln/>
        </p:spPr>
        <p:txBody>
          <a:bodyPr wrap="square"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Risk Bucketing</a:t>
            </a:r>
            <a:endParaRPr lang="en-US" sz="550" dirty="0"/>
          </a:p>
        </p:txBody>
      </p:sp>
      <p:sp>
        <p:nvSpPr>
          <p:cNvPr id="34" name="Text 30"/>
          <p:cNvSpPr/>
          <p:nvPr/>
        </p:nvSpPr>
        <p:spPr>
          <a:xfrm>
            <a:off x="7114032" y="2496312"/>
            <a:ext cx="1920240" cy="256032"/>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Classify into risk categories</a:t>
            </a:r>
            <a:endParaRPr lang="en-US" sz="600" dirty="0"/>
          </a:p>
        </p:txBody>
      </p:sp>
      <p:sp>
        <p:nvSpPr>
          <p:cNvPr id="35" name="Shape 31"/>
          <p:cNvSpPr/>
          <p:nvPr/>
        </p:nvSpPr>
        <p:spPr>
          <a:xfrm>
            <a:off x="6263640" y="2788920"/>
            <a:ext cx="804672" cy="256032"/>
          </a:xfrm>
          <a:prstGeom prst="roundRect">
            <a:avLst>
              <a:gd name="adj" fmla="val 12500"/>
            </a:avLst>
          </a:prstGeom>
          <a:solidFill>
            <a:srgbClr val="D04A02"/>
          </a:solidFill>
          <a:ln/>
          <a:effectLst>
            <a:outerShdw sx="100000" sy="100000" kx="0" ky="0" algn="bl" rotWithShape="0" blurRad="2.578426424582819e+37" dist="8.594754748609397e+36" dir="9.069926400000001e+44">
              <a:srgbClr val="AAAAAA">
                <a:alpha val="2.5000000000000002e+44"/>
              </a:srgbClr>
            </a:outerShdw>
          </a:effectLst>
        </p:spPr>
      </p:sp>
      <p:sp>
        <p:nvSpPr>
          <p:cNvPr id="36" name="Text 32"/>
          <p:cNvSpPr/>
          <p:nvPr/>
        </p:nvSpPr>
        <p:spPr>
          <a:xfrm>
            <a:off x="6263640" y="2788920"/>
            <a:ext cx="804672" cy="256032"/>
          </a:xfrm>
          <a:prstGeom prst="rect">
            <a:avLst/>
          </a:prstGeom>
          <a:noFill/>
          <a:ln/>
        </p:spPr>
        <p:txBody>
          <a:bodyPr wrap="square"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UW Review</a:t>
            </a:r>
            <a:endParaRPr lang="en-US" sz="550" dirty="0"/>
          </a:p>
        </p:txBody>
      </p:sp>
      <p:sp>
        <p:nvSpPr>
          <p:cNvPr id="37" name="Text 33"/>
          <p:cNvSpPr/>
          <p:nvPr/>
        </p:nvSpPr>
        <p:spPr>
          <a:xfrm>
            <a:off x="7114032" y="2788920"/>
            <a:ext cx="1920240" cy="256032"/>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Underwriter validates decision</a:t>
            </a:r>
            <a:endParaRPr lang="en-US" sz="600" dirty="0"/>
          </a:p>
        </p:txBody>
      </p:sp>
      <p:sp>
        <p:nvSpPr>
          <p:cNvPr id="38" name="Text 34"/>
          <p:cNvSpPr/>
          <p:nvPr/>
        </p:nvSpPr>
        <p:spPr>
          <a:xfrm>
            <a:off x="6263640" y="3154680"/>
            <a:ext cx="2286000" cy="146304"/>
          </a:xfrm>
          <a:prstGeom prst="rect">
            <a:avLst/>
          </a:prstGeom>
          <a:noFill/>
          <a:ln/>
        </p:spPr>
        <p:txBody>
          <a:bodyPr wrap="square" lIns="0" tIns="0" rIns="0" bIns="0" rtlCol="0" anchor="ctr"/>
          <a:lstStyle/>
          <a:p>
            <a:pPr indent="0" marL="0">
              <a:buNone/>
            </a:pPr>
            <a:r>
              <a:rPr lang="en-US" sz="700" b="1" dirty="0">
                <a:solidFill>
                  <a:srgbClr val="D04A02"/>
                </a:solidFill>
                <a:latin typeface="Arial" pitchFamily="34" charset="0"/>
                <a:ea typeface="Arial" pitchFamily="34" charset="-122"/>
                <a:cs typeface="Arial" pitchFamily="34" charset="-120"/>
              </a:rPr>
              <a:t>Knowledge Base Sources</a:t>
            </a:r>
            <a:endParaRPr lang="en-US" sz="700" dirty="0"/>
          </a:p>
        </p:txBody>
      </p:sp>
      <p:pic>
        <p:nvPicPr>
          <p:cNvPr id="39" name="Image 2" descr="preencoded.png">    </p:cNvPr>
          <p:cNvPicPr>
            <a:picLocks noChangeAspect="1"/>
          </p:cNvPicPr>
          <p:nvPr/>
        </p:nvPicPr>
        <p:blipFill>
          <a:blip r:embed="rId3"/>
          <a:stretch>
            <a:fillRect/>
          </a:stretch>
        </p:blipFill>
        <p:spPr>
          <a:xfrm>
            <a:off x="6263640" y="3328416"/>
            <a:ext cx="91440" cy="91440"/>
          </a:xfrm>
          <a:prstGeom prst="rect">
            <a:avLst/>
          </a:prstGeom>
        </p:spPr>
      </p:pic>
      <p:sp>
        <p:nvSpPr>
          <p:cNvPr id="40" name="Text 35"/>
          <p:cNvSpPr/>
          <p:nvPr/>
        </p:nvSpPr>
        <p:spPr>
          <a:xfrm>
            <a:off x="6391656" y="3314700"/>
            <a:ext cx="2011680" cy="128016"/>
          </a:xfrm>
          <a:prstGeom prst="rect">
            <a:avLst/>
          </a:prstGeom>
          <a:noFill/>
          <a:ln/>
        </p:spPr>
        <p:txBody>
          <a:bodyPr wrap="square" lIns="0" tIns="0" rIns="0" bIns="0" rtlCol="0" anchor="ctr"/>
          <a:lstStyle/>
          <a:p>
            <a:pPr indent="0" marL="0">
              <a:buNone/>
            </a:pPr>
            <a:r>
              <a:rPr lang="en-US" sz="600" dirty="0">
                <a:solidFill>
                  <a:srgbClr val="5C5C5C"/>
                </a:solidFill>
                <a:latin typeface="Calibri" pitchFamily="34" charset="0"/>
                <a:ea typeface="Calibri" pitchFamily="34" charset="-122"/>
                <a:cs typeface="Calibri" pitchFamily="34" charset="-120"/>
              </a:rPr>
              <a:t>UW Guidelines</a:t>
            </a:r>
            <a:endParaRPr lang="en-US" sz="600" dirty="0"/>
          </a:p>
        </p:txBody>
      </p:sp>
      <p:pic>
        <p:nvPicPr>
          <p:cNvPr id="41" name="Image 3" descr="preencoded.png">    </p:cNvPr>
          <p:cNvPicPr>
            <a:picLocks noChangeAspect="1"/>
          </p:cNvPicPr>
          <p:nvPr/>
        </p:nvPicPr>
        <p:blipFill>
          <a:blip r:embed="rId4"/>
          <a:stretch>
            <a:fillRect/>
          </a:stretch>
        </p:blipFill>
        <p:spPr>
          <a:xfrm>
            <a:off x="6263640" y="3470148"/>
            <a:ext cx="91440" cy="91440"/>
          </a:xfrm>
          <a:prstGeom prst="rect">
            <a:avLst/>
          </a:prstGeom>
        </p:spPr>
      </p:pic>
      <p:sp>
        <p:nvSpPr>
          <p:cNvPr id="42" name="Text 36"/>
          <p:cNvSpPr/>
          <p:nvPr/>
        </p:nvSpPr>
        <p:spPr>
          <a:xfrm>
            <a:off x="6391656" y="3456432"/>
            <a:ext cx="2011680" cy="128016"/>
          </a:xfrm>
          <a:prstGeom prst="rect">
            <a:avLst/>
          </a:prstGeom>
          <a:noFill/>
          <a:ln/>
        </p:spPr>
        <p:txBody>
          <a:bodyPr wrap="square" lIns="0" tIns="0" rIns="0" bIns="0" rtlCol="0" anchor="ctr"/>
          <a:lstStyle/>
          <a:p>
            <a:pPr indent="0" marL="0">
              <a:buNone/>
            </a:pPr>
            <a:r>
              <a:rPr lang="en-US" sz="600" dirty="0">
                <a:solidFill>
                  <a:srgbClr val="5C5C5C"/>
                </a:solidFill>
                <a:latin typeface="Calibri" pitchFamily="34" charset="0"/>
                <a:ea typeface="Calibri" pitchFamily="34" charset="-122"/>
                <a:cs typeface="Calibri" pitchFamily="34" charset="-120"/>
              </a:rPr>
              <a:t>Risk Rules</a:t>
            </a:r>
            <a:endParaRPr lang="en-US" sz="600" dirty="0"/>
          </a:p>
        </p:txBody>
      </p:sp>
      <p:pic>
        <p:nvPicPr>
          <p:cNvPr id="43" name="Image 4" descr="preencoded.png">    </p:cNvPr>
          <p:cNvPicPr>
            <a:picLocks noChangeAspect="1"/>
          </p:cNvPicPr>
          <p:nvPr/>
        </p:nvPicPr>
        <p:blipFill>
          <a:blip r:embed="rId5"/>
          <a:stretch>
            <a:fillRect/>
          </a:stretch>
        </p:blipFill>
        <p:spPr>
          <a:xfrm>
            <a:off x="6263640" y="3611880"/>
            <a:ext cx="91440" cy="91440"/>
          </a:xfrm>
          <a:prstGeom prst="rect">
            <a:avLst/>
          </a:prstGeom>
        </p:spPr>
      </p:pic>
      <p:sp>
        <p:nvSpPr>
          <p:cNvPr id="44" name="Text 37"/>
          <p:cNvSpPr/>
          <p:nvPr/>
        </p:nvSpPr>
        <p:spPr>
          <a:xfrm>
            <a:off x="6391656" y="3598164"/>
            <a:ext cx="2011680" cy="128016"/>
          </a:xfrm>
          <a:prstGeom prst="rect">
            <a:avLst/>
          </a:prstGeom>
          <a:noFill/>
          <a:ln/>
        </p:spPr>
        <p:txBody>
          <a:bodyPr wrap="square" lIns="0" tIns="0" rIns="0" bIns="0" rtlCol="0" anchor="ctr"/>
          <a:lstStyle/>
          <a:p>
            <a:pPr indent="0" marL="0">
              <a:buNone/>
            </a:pPr>
            <a:r>
              <a:rPr lang="en-US" sz="600" dirty="0">
                <a:solidFill>
                  <a:srgbClr val="5C5C5C"/>
                </a:solidFill>
                <a:latin typeface="Calibri" pitchFamily="34" charset="0"/>
                <a:ea typeface="Calibri" pitchFamily="34" charset="-122"/>
                <a:cs typeface="Calibri" pitchFamily="34" charset="-120"/>
              </a:rPr>
              <a:t>Medical Tables</a:t>
            </a:r>
            <a:endParaRPr lang="en-US" sz="600" dirty="0"/>
          </a:p>
        </p:txBody>
      </p:sp>
      <p:pic>
        <p:nvPicPr>
          <p:cNvPr id="45" name="Image 5" descr="preencoded.png">    </p:cNvPr>
          <p:cNvPicPr>
            <a:picLocks noChangeAspect="1"/>
          </p:cNvPicPr>
          <p:nvPr/>
        </p:nvPicPr>
        <p:blipFill>
          <a:blip r:embed="rId6"/>
          <a:stretch>
            <a:fillRect/>
          </a:stretch>
        </p:blipFill>
        <p:spPr>
          <a:xfrm>
            <a:off x="6263640" y="3753612"/>
            <a:ext cx="91440" cy="91440"/>
          </a:xfrm>
          <a:prstGeom prst="rect">
            <a:avLst/>
          </a:prstGeom>
        </p:spPr>
      </p:pic>
      <p:sp>
        <p:nvSpPr>
          <p:cNvPr id="46" name="Text 38"/>
          <p:cNvSpPr/>
          <p:nvPr/>
        </p:nvSpPr>
        <p:spPr>
          <a:xfrm>
            <a:off x="6391656" y="3739896"/>
            <a:ext cx="2011680" cy="128016"/>
          </a:xfrm>
          <a:prstGeom prst="rect">
            <a:avLst/>
          </a:prstGeom>
          <a:noFill/>
          <a:ln/>
        </p:spPr>
        <p:txBody>
          <a:bodyPr wrap="square" lIns="0" tIns="0" rIns="0" bIns="0" rtlCol="0" anchor="ctr"/>
          <a:lstStyle/>
          <a:p>
            <a:pPr indent="0" marL="0">
              <a:buNone/>
            </a:pPr>
            <a:r>
              <a:rPr lang="en-US" sz="600" dirty="0">
                <a:solidFill>
                  <a:srgbClr val="5C5C5C"/>
                </a:solidFill>
                <a:latin typeface="Calibri" pitchFamily="34" charset="0"/>
                <a:ea typeface="Calibri" pitchFamily="34" charset="-122"/>
                <a:cs typeface="Calibri" pitchFamily="34" charset="-120"/>
              </a:rPr>
              <a:t>APS Standards</a:t>
            </a:r>
            <a:endParaRPr lang="en-US" sz="600" dirty="0"/>
          </a:p>
        </p:txBody>
      </p:sp>
      <p:sp>
        <p:nvSpPr>
          <p:cNvPr id="47" name="Shape 39"/>
          <p:cNvSpPr/>
          <p:nvPr/>
        </p:nvSpPr>
        <p:spPr>
          <a:xfrm>
            <a:off x="274320" y="3246120"/>
            <a:ext cx="2286000" cy="201168"/>
          </a:xfrm>
          <a:prstGeom prst="roundRect">
            <a:avLst>
              <a:gd name="adj" fmla="val 13636"/>
            </a:avLst>
          </a:prstGeom>
          <a:solidFill>
            <a:srgbClr val="E8713A"/>
          </a:solidFill>
          <a:ln/>
          <a:effectLst>
            <a:outerShdw sx="100000" sy="100000" kx="0" ky="0" algn="bl" rotWithShape="0" blurRad="3.2746015592201804e+41" dist="1.0915338530733935e+41" dir="5.44195584e+49">
              <a:srgbClr val="AAAAAA">
                <a:alpha val="2.5e+49"/>
              </a:srgbClr>
            </a:outerShdw>
          </a:effectLst>
        </p:spPr>
      </p:sp>
      <p:sp>
        <p:nvSpPr>
          <p:cNvPr id="48" name="Text 40"/>
          <p:cNvSpPr/>
          <p:nvPr/>
        </p:nvSpPr>
        <p:spPr>
          <a:xfrm>
            <a:off x="347472" y="3246120"/>
            <a:ext cx="2194560" cy="20116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Qualitative Impact</a:t>
            </a:r>
            <a:endParaRPr lang="en-US" sz="800" dirty="0"/>
          </a:p>
        </p:txBody>
      </p:sp>
      <p:sp>
        <p:nvSpPr>
          <p:cNvPr id="49" name="Text 41"/>
          <p:cNvSpPr/>
          <p:nvPr/>
        </p:nvSpPr>
        <p:spPr>
          <a:xfrm>
            <a:off x="274320" y="3474720"/>
            <a:ext cx="2286000" cy="1097280"/>
          </a:xfrm>
          <a:prstGeom prst="rect">
            <a:avLst/>
          </a:prstGeom>
          <a:noFill/>
          <a:ln/>
        </p:spPr>
        <p:txBody>
          <a:bodyPr wrap="square" rtlCol="0" anchor="t"/>
          <a:lstStyle/>
          <a:p>
            <a:pPr indent="0" marL="0">
              <a:buNone/>
            </a:pPr>
            <a:r>
              <a:rPr lang="en-US" sz="650" b="1" dirty="0">
                <a:solidFill>
                  <a:srgbClr val="5C5C5C"/>
                </a:solidFill>
                <a:latin typeface="Calibri" pitchFamily="34" charset="0"/>
                <a:ea typeface="Calibri" pitchFamily="34" charset="-122"/>
                <a:cs typeface="Calibri" pitchFamily="34" charset="-120"/>
              </a:rPr>
              <a:t>Preparedness: </a:t>
            </a:r>
            <a:pPr indent="0" marL="0">
              <a:buNone/>
            </a:pPr>
            <a:r>
              <a:rPr lang="en-US" sz="650" dirty="0">
                <a:solidFill>
                  <a:srgbClr val="5C5C5C"/>
                </a:solidFill>
                <a:latin typeface="Calibri" pitchFamily="34" charset="0"/>
                <a:ea typeface="Calibri" pitchFamily="34" charset="-122"/>
                <a:cs typeface="Calibri" pitchFamily="34" charset="-120"/>
              </a:rPr>
              <a:t>Repeatable evaluations for consistency</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Risk control: </a:t>
            </a:r>
            <a:pPr indent="0" marL="0">
              <a:buNone/>
            </a:pPr>
            <a:r>
              <a:rPr lang="en-US" sz="650" dirty="0">
                <a:solidFill>
                  <a:srgbClr val="5C5C5C"/>
                </a:solidFill>
                <a:latin typeface="Calibri" pitchFamily="34" charset="0"/>
                <a:ea typeface="Calibri" pitchFamily="34" charset="-122"/>
                <a:cs typeface="Calibri" pitchFamily="34" charset="-120"/>
              </a:rPr>
              <a:t>Structured outputs for compliance</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Scalability: </a:t>
            </a:r>
            <a:pPr indent="0" marL="0">
              <a:buNone/>
            </a:pPr>
            <a:r>
              <a:rPr lang="en-US" sz="650" dirty="0">
                <a:solidFill>
                  <a:srgbClr val="5C5C5C"/>
                </a:solidFill>
                <a:latin typeface="Calibri" pitchFamily="34" charset="0"/>
                <a:ea typeface="Calibri" pitchFamily="34" charset="-122"/>
                <a:cs typeface="Calibri" pitchFamily="34" charset="-120"/>
              </a:rPr>
              <a:t>Foundation for future GenAI use cases</a:t>
            </a:r>
            <a:endParaRPr lang="en-US" sz="650" dirty="0"/>
          </a:p>
        </p:txBody>
      </p:sp>
      <p:sp>
        <p:nvSpPr>
          <p:cNvPr id="50" name="Shape 42"/>
          <p:cNvSpPr/>
          <p:nvPr/>
        </p:nvSpPr>
        <p:spPr>
          <a:xfrm>
            <a:off x="2651760" y="3246120"/>
            <a:ext cx="1005840" cy="201168"/>
          </a:xfrm>
          <a:prstGeom prst="roundRect">
            <a:avLst>
              <a:gd name="adj" fmla="val 13636"/>
            </a:avLst>
          </a:prstGeom>
          <a:solidFill>
            <a:srgbClr val="E8713A"/>
          </a:solidFill>
          <a:ln/>
          <a:effectLst>
            <a:outerShdw sx="100000" sy="100000" kx="0" ky="0" algn="bl" rotWithShape="0" blurRad="4.158743980209629e+45" dist="1.3862479934032098e+45" dir="3.2651735040000005e+54">
              <a:srgbClr val="AAAAAA">
                <a:alpha val="2.5e+54"/>
              </a:srgbClr>
            </a:outerShdw>
          </a:effectLst>
        </p:spPr>
      </p:sp>
      <p:sp>
        <p:nvSpPr>
          <p:cNvPr id="51" name="Text 43"/>
          <p:cNvSpPr/>
          <p:nvPr/>
        </p:nvSpPr>
        <p:spPr>
          <a:xfrm>
            <a:off x="2697480" y="3246120"/>
            <a:ext cx="960120" cy="20116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By the Numbers</a:t>
            </a:r>
            <a:endParaRPr lang="en-US" sz="800" dirty="0"/>
          </a:p>
        </p:txBody>
      </p:sp>
      <p:sp>
        <p:nvSpPr>
          <p:cNvPr id="52" name="Shape 44"/>
          <p:cNvSpPr/>
          <p:nvPr/>
        </p:nvSpPr>
        <p:spPr>
          <a:xfrm>
            <a:off x="2651760" y="3520440"/>
            <a:ext cx="868680" cy="1051560"/>
          </a:xfrm>
          <a:prstGeom prst="roundRect">
            <a:avLst>
              <a:gd name="adj" fmla="val 5263"/>
            </a:avLst>
          </a:prstGeom>
          <a:solidFill>
            <a:srgbClr val="2E8B57"/>
          </a:solidFill>
          <a:ln/>
          <a:effectLst>
            <a:outerShdw sx="100000" sy="100000" kx="0" ky="0" algn="bl" rotWithShape="0" blurRad="63500" dist="25400" dir="5400000">
              <a:srgbClr val="9E9E9E">
                <a:alpha val="30000"/>
              </a:srgbClr>
            </a:outerShdw>
          </a:effectLst>
        </p:spPr>
      </p:sp>
      <p:sp>
        <p:nvSpPr>
          <p:cNvPr id="53" name="Text 45"/>
          <p:cNvSpPr/>
          <p:nvPr/>
        </p:nvSpPr>
        <p:spPr>
          <a:xfrm>
            <a:off x="2651760" y="3602736"/>
            <a:ext cx="86868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92%</a:t>
            </a:r>
            <a:endParaRPr lang="en-US" sz="1400" dirty="0"/>
          </a:p>
        </p:txBody>
      </p:sp>
      <p:sp>
        <p:nvSpPr>
          <p:cNvPr id="54" name="Shape 46"/>
          <p:cNvSpPr/>
          <p:nvPr/>
        </p:nvSpPr>
        <p:spPr>
          <a:xfrm>
            <a:off x="2907792" y="3950208"/>
            <a:ext cx="356616" cy="12802"/>
          </a:xfrm>
          <a:prstGeom prst="rect">
            <a:avLst/>
          </a:prstGeom>
          <a:solidFill>
            <a:srgbClr val="FFFFFF"/>
          </a:solidFill>
          <a:ln/>
        </p:spPr>
      </p:sp>
      <p:sp>
        <p:nvSpPr>
          <p:cNvPr id="55" name="Text 47"/>
          <p:cNvSpPr/>
          <p:nvPr/>
        </p:nvSpPr>
        <p:spPr>
          <a:xfrm>
            <a:off x="2697480" y="4005072"/>
            <a:ext cx="777240" cy="530352"/>
          </a:xfrm>
          <a:prstGeom prst="rect">
            <a:avLst/>
          </a:prstGeom>
          <a:noFill/>
          <a:ln/>
        </p:spPr>
        <p:txBody>
          <a:bodyPr wrap="square"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risk class</a:t>
            </a:r>
            <a:endParaRPr lang="en-US" sz="600" dirty="0"/>
          </a:p>
          <a:p>
            <a:pPr algn="ctr" indent="0" marL="0">
              <a:buNone/>
            </a:pPr>
            <a:r>
              <a:rPr lang="en-US" sz="600" dirty="0">
                <a:solidFill>
                  <a:srgbClr val="FFFFFF"/>
                </a:solidFill>
                <a:latin typeface="Calibri" pitchFamily="34" charset="0"/>
                <a:ea typeface="Calibri" pitchFamily="34" charset="-122"/>
                <a:cs typeface="Calibri" pitchFamily="34" charset="-120"/>
              </a:rPr>
              <a:t>alignment</a:t>
            </a:r>
            <a:endParaRPr lang="en-US" sz="600" dirty="0"/>
          </a:p>
        </p:txBody>
      </p:sp>
      <p:sp>
        <p:nvSpPr>
          <p:cNvPr id="56" name="Shape 48"/>
          <p:cNvSpPr/>
          <p:nvPr/>
        </p:nvSpPr>
        <p:spPr>
          <a:xfrm>
            <a:off x="3566160" y="3520440"/>
            <a:ext cx="868680" cy="1051560"/>
          </a:xfrm>
          <a:prstGeom prst="roundRect">
            <a:avLst>
              <a:gd name="adj" fmla="val 5263"/>
            </a:avLst>
          </a:prstGeom>
          <a:solidFill>
            <a:srgbClr val="2E8B57"/>
          </a:solidFill>
          <a:ln/>
          <a:effectLst>
            <a:outerShdw sx="100000" sy="100000" kx="0" ky="0" algn="bl" rotWithShape="0" blurRad="806450000" dist="322580000" dir="324000000000">
              <a:srgbClr val="9E9E9E">
                <a:alpha val="3000000000"/>
              </a:srgbClr>
            </a:outerShdw>
          </a:effectLst>
        </p:spPr>
      </p:sp>
      <p:sp>
        <p:nvSpPr>
          <p:cNvPr id="57" name="Text 49"/>
          <p:cNvSpPr/>
          <p:nvPr/>
        </p:nvSpPr>
        <p:spPr>
          <a:xfrm>
            <a:off x="3566160" y="3602736"/>
            <a:ext cx="86868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40-80%</a:t>
            </a:r>
            <a:endParaRPr lang="en-US" sz="1400" dirty="0"/>
          </a:p>
        </p:txBody>
      </p:sp>
      <p:sp>
        <p:nvSpPr>
          <p:cNvPr id="58" name="Shape 50"/>
          <p:cNvSpPr/>
          <p:nvPr/>
        </p:nvSpPr>
        <p:spPr>
          <a:xfrm>
            <a:off x="3822192" y="3950208"/>
            <a:ext cx="356616" cy="12802"/>
          </a:xfrm>
          <a:prstGeom prst="rect">
            <a:avLst/>
          </a:prstGeom>
          <a:solidFill>
            <a:srgbClr val="FFFFFF"/>
          </a:solidFill>
          <a:ln/>
        </p:spPr>
      </p:sp>
      <p:sp>
        <p:nvSpPr>
          <p:cNvPr id="59" name="Text 51"/>
          <p:cNvSpPr/>
          <p:nvPr/>
        </p:nvSpPr>
        <p:spPr>
          <a:xfrm>
            <a:off x="3611880" y="4005072"/>
            <a:ext cx="777240" cy="530352"/>
          </a:xfrm>
          <a:prstGeom prst="rect">
            <a:avLst/>
          </a:prstGeom>
          <a:noFill/>
          <a:ln/>
        </p:spPr>
        <p:txBody>
          <a:bodyPr wrap="square"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time</a:t>
            </a:r>
            <a:endParaRPr lang="en-US" sz="600" dirty="0"/>
          </a:p>
          <a:p>
            <a:pPr algn="ctr" indent="0" marL="0">
              <a:buNone/>
            </a:pPr>
            <a:r>
              <a:rPr lang="en-US" sz="600" dirty="0">
                <a:solidFill>
                  <a:srgbClr val="FFFFFF"/>
                </a:solidFill>
                <a:latin typeface="Calibri" pitchFamily="34" charset="0"/>
                <a:ea typeface="Calibri" pitchFamily="34" charset="-122"/>
                <a:cs typeface="Calibri" pitchFamily="34" charset="-120"/>
              </a:rPr>
              <a:t>reduction</a:t>
            </a:r>
            <a:endParaRPr lang="en-US" sz="600" dirty="0"/>
          </a:p>
        </p:txBody>
      </p:sp>
      <p:sp>
        <p:nvSpPr>
          <p:cNvPr id="60" name="Shape 52"/>
          <p:cNvSpPr/>
          <p:nvPr/>
        </p:nvSpPr>
        <p:spPr>
          <a:xfrm>
            <a:off x="4480560" y="3520440"/>
            <a:ext cx="868680" cy="1051560"/>
          </a:xfrm>
          <a:prstGeom prst="roundRect">
            <a:avLst>
              <a:gd name="adj" fmla="val 5263"/>
            </a:avLst>
          </a:prstGeom>
          <a:solidFill>
            <a:srgbClr val="2E8B57"/>
          </a:solidFill>
          <a:ln/>
          <a:effectLst>
            <a:outerShdw sx="100000" sy="100000" kx="0" ky="0" algn="bl" rotWithShape="0" blurRad="10241915000000" dist="4096766000000" dir="19440000000000000">
              <a:srgbClr val="9E9E9E">
                <a:alpha val="300000000000000"/>
              </a:srgbClr>
            </a:outerShdw>
          </a:effectLst>
        </p:spPr>
      </p:sp>
      <p:sp>
        <p:nvSpPr>
          <p:cNvPr id="61" name="Text 53"/>
          <p:cNvSpPr/>
          <p:nvPr/>
        </p:nvSpPr>
        <p:spPr>
          <a:xfrm>
            <a:off x="4480560" y="3602736"/>
            <a:ext cx="86868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2x</a:t>
            </a:r>
            <a:endParaRPr lang="en-US" sz="1400" dirty="0"/>
          </a:p>
        </p:txBody>
      </p:sp>
      <p:sp>
        <p:nvSpPr>
          <p:cNvPr id="62" name="Shape 54"/>
          <p:cNvSpPr/>
          <p:nvPr/>
        </p:nvSpPr>
        <p:spPr>
          <a:xfrm>
            <a:off x="4736592" y="3950208"/>
            <a:ext cx="356616" cy="12802"/>
          </a:xfrm>
          <a:prstGeom prst="rect">
            <a:avLst/>
          </a:prstGeom>
          <a:solidFill>
            <a:srgbClr val="FFFFFF"/>
          </a:solidFill>
          <a:ln/>
        </p:spPr>
      </p:sp>
      <p:sp>
        <p:nvSpPr>
          <p:cNvPr id="63" name="Text 55"/>
          <p:cNvSpPr/>
          <p:nvPr/>
        </p:nvSpPr>
        <p:spPr>
          <a:xfrm>
            <a:off x="4526280" y="4005072"/>
            <a:ext cx="777240" cy="530352"/>
          </a:xfrm>
          <a:prstGeom prst="rect">
            <a:avLst/>
          </a:prstGeom>
          <a:noFill/>
          <a:ln/>
        </p:spPr>
        <p:txBody>
          <a:bodyPr wrap="square"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review</a:t>
            </a:r>
            <a:endParaRPr lang="en-US" sz="600" dirty="0"/>
          </a:p>
          <a:p>
            <a:pPr algn="ctr" indent="0" marL="0">
              <a:buNone/>
            </a:pPr>
            <a:r>
              <a:rPr lang="en-US" sz="600" dirty="0">
                <a:solidFill>
                  <a:srgbClr val="FFFFFF"/>
                </a:solidFill>
                <a:latin typeface="Calibri" pitchFamily="34" charset="0"/>
                <a:ea typeface="Calibri" pitchFamily="34" charset="-122"/>
                <a:cs typeface="Calibri" pitchFamily="34" charset="-120"/>
              </a:rPr>
              <a:t>capacity</a:t>
            </a:r>
            <a:endParaRPr lang="en-US" sz="600" dirty="0"/>
          </a:p>
        </p:txBody>
      </p:sp>
      <p:sp>
        <p:nvSpPr>
          <p:cNvPr id="64" name="Shape 56"/>
          <p:cNvSpPr/>
          <p:nvPr/>
        </p:nvSpPr>
        <p:spPr>
          <a:xfrm>
            <a:off x="5394960" y="3520440"/>
            <a:ext cx="868680" cy="1051560"/>
          </a:xfrm>
          <a:prstGeom prst="roundRect">
            <a:avLst>
              <a:gd name="adj" fmla="val 5263"/>
            </a:avLst>
          </a:prstGeom>
          <a:solidFill>
            <a:srgbClr val="2E8B57"/>
          </a:solidFill>
          <a:ln/>
          <a:effectLst>
            <a:outerShdw sx="100000" sy="100000" kx="0" ky="0" algn="bl" rotWithShape="0" blurRad="130072320500000000" dist="52028928200000000" dir="1.1664e+21">
              <a:srgbClr val="9E9E9E">
                <a:alpha val="30000000000000000000"/>
              </a:srgbClr>
            </a:outerShdw>
          </a:effectLst>
        </p:spPr>
      </p:sp>
      <p:sp>
        <p:nvSpPr>
          <p:cNvPr id="65" name="Text 57"/>
          <p:cNvSpPr/>
          <p:nvPr/>
        </p:nvSpPr>
        <p:spPr>
          <a:xfrm>
            <a:off x="5394960" y="3602736"/>
            <a:ext cx="86868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10wks</a:t>
            </a:r>
            <a:endParaRPr lang="en-US" sz="1400" dirty="0"/>
          </a:p>
        </p:txBody>
      </p:sp>
      <p:sp>
        <p:nvSpPr>
          <p:cNvPr id="66" name="Shape 58"/>
          <p:cNvSpPr/>
          <p:nvPr/>
        </p:nvSpPr>
        <p:spPr>
          <a:xfrm>
            <a:off x="5650992" y="3950208"/>
            <a:ext cx="356616" cy="12802"/>
          </a:xfrm>
          <a:prstGeom prst="rect">
            <a:avLst/>
          </a:prstGeom>
          <a:solidFill>
            <a:srgbClr val="FFFFFF"/>
          </a:solidFill>
          <a:ln/>
        </p:spPr>
      </p:sp>
      <p:sp>
        <p:nvSpPr>
          <p:cNvPr id="67" name="Text 59"/>
          <p:cNvSpPr/>
          <p:nvPr/>
        </p:nvSpPr>
        <p:spPr>
          <a:xfrm>
            <a:off x="5440680" y="4005072"/>
            <a:ext cx="777240" cy="530352"/>
          </a:xfrm>
          <a:prstGeom prst="rect">
            <a:avLst/>
          </a:prstGeom>
          <a:noFill/>
          <a:ln/>
        </p:spPr>
        <p:txBody>
          <a:bodyPr wrap="square"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concept to</a:t>
            </a:r>
            <a:endParaRPr lang="en-US" sz="600" dirty="0"/>
          </a:p>
          <a:p>
            <a:pPr algn="ctr" indent="0" marL="0">
              <a:buNone/>
            </a:pPr>
            <a:r>
              <a:rPr lang="en-US" sz="600" dirty="0">
                <a:solidFill>
                  <a:srgbClr val="FFFFFF"/>
                </a:solidFill>
                <a:latin typeface="Calibri" pitchFamily="34" charset="0"/>
                <a:ea typeface="Calibri" pitchFamily="34" charset="-122"/>
                <a:cs typeface="Calibri" pitchFamily="34" charset="-120"/>
              </a:rPr>
              <a:t>validation</a:t>
            </a:r>
            <a:endParaRPr lang="en-US" sz="600" dirty="0"/>
          </a:p>
        </p:txBody>
      </p:sp>
      <p:sp>
        <p:nvSpPr>
          <p:cNvPr id="68" name="Shape 60"/>
          <p:cNvSpPr/>
          <p:nvPr/>
        </p:nvSpPr>
        <p:spPr>
          <a:xfrm>
            <a:off x="274320" y="4846320"/>
            <a:ext cx="8595360" cy="7315"/>
          </a:xfrm>
          <a:prstGeom prst="rect">
            <a:avLst/>
          </a:prstGeom>
          <a:solidFill>
            <a:srgbClr val="D9D9D9"/>
          </a:solidFill>
          <a:ln/>
        </p:spPr>
      </p:sp>
      <p:sp>
        <p:nvSpPr>
          <p:cNvPr id="69" name="Shape 61"/>
          <p:cNvSpPr/>
          <p:nvPr/>
        </p:nvSpPr>
        <p:spPr>
          <a:xfrm>
            <a:off x="274320" y="4919472"/>
            <a:ext cx="82296" cy="82296"/>
          </a:xfrm>
          <a:prstGeom prst="rect">
            <a:avLst/>
          </a:prstGeom>
          <a:solidFill>
            <a:srgbClr val="D04A02"/>
          </a:solidFill>
          <a:ln/>
        </p:spPr>
      </p:sp>
      <p:sp>
        <p:nvSpPr>
          <p:cNvPr id="70" name="Text 62"/>
          <p:cNvSpPr/>
          <p:nvPr/>
        </p:nvSpPr>
        <p:spPr>
          <a:xfrm>
            <a:off x="411480" y="4873752"/>
            <a:ext cx="3657600" cy="182880"/>
          </a:xfrm>
          <a:prstGeom prst="rect">
            <a:avLst/>
          </a:prstGeom>
          <a:noFill/>
          <a:ln/>
        </p:spPr>
        <p:txBody>
          <a:bodyPr wrap="square" lIns="0" tIns="0" rIns="0" bIns="0" rtlCol="0" anchor="ctr"/>
          <a:lstStyle/>
          <a:p>
            <a:pPr indent="0" marL="0">
              <a:buNone/>
            </a:pPr>
            <a:r>
              <a:rPr lang="en-US" sz="650" dirty="0">
                <a:solidFill>
                  <a:srgbClr val="5C5C5C"/>
                </a:solidFill>
                <a:latin typeface="Arial" pitchFamily="34" charset="0"/>
                <a:ea typeface="Arial" pitchFamily="34" charset="-122"/>
                <a:cs typeface="Arial" pitchFamily="34" charset="-120"/>
              </a:rPr>
              <a:t>PwC | Surge 1 Qual — GenAI Portfolio</a:t>
            </a:r>
            <a:endParaRPr lang="en-US" sz="650" dirty="0"/>
          </a:p>
        </p:txBody>
      </p:sp>
      <p:sp>
        <p:nvSpPr>
          <p:cNvPr id="71" name="Text 63"/>
          <p:cNvSpPr/>
          <p:nvPr/>
        </p:nvSpPr>
        <p:spPr>
          <a:xfrm>
            <a:off x="8412480" y="4873752"/>
            <a:ext cx="457200" cy="182880"/>
          </a:xfrm>
          <a:prstGeom prst="rect">
            <a:avLst/>
          </a:prstGeom>
          <a:noFill/>
          <a:ln/>
        </p:spPr>
        <p:txBody>
          <a:bodyPr wrap="square" lIns="0" tIns="0" rIns="0" bIns="0" rtlCol="0" anchor="ctr"/>
          <a:lstStyle/>
          <a:p>
            <a:pPr algn="r" indent="0" marL="0">
              <a:buNone/>
            </a:pPr>
            <a:r>
              <a:rPr lang="en-US" sz="650" dirty="0">
                <a:solidFill>
                  <a:srgbClr val="5C5C5C"/>
                </a:solidFill>
                <a:latin typeface="Arial" pitchFamily="34" charset="0"/>
                <a:ea typeface="Arial" pitchFamily="34" charset="-122"/>
                <a:cs typeface="Arial" pitchFamily="34" charset="-120"/>
              </a:rPr>
              <a:t>2</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228600"/>
            <a:ext cx="1463040" cy="201168"/>
          </a:xfrm>
          <a:prstGeom prst="parallelogram">
            <a:avLst/>
          </a:prstGeom>
          <a:solidFill>
            <a:srgbClr val="F5DCCB"/>
          </a:solidFill>
          <a:ln/>
        </p:spPr>
      </p:sp>
      <p:sp>
        <p:nvSpPr>
          <p:cNvPr id="3" name="Shape 1"/>
          <p:cNvSpPr/>
          <p:nvPr/>
        </p:nvSpPr>
        <p:spPr>
          <a:xfrm>
            <a:off x="457200" y="365760"/>
            <a:ext cx="731520" cy="320040"/>
          </a:xfrm>
          <a:prstGeom prst="rect">
            <a:avLst/>
          </a:prstGeom>
          <a:solidFill>
            <a:srgbClr val="D04A02"/>
          </a:solidFill>
          <a:ln/>
          <a:effectLst>
            <a:outerShdw sx="100000" sy="100000" kx="0" ky="0" algn="bl" rotWithShape="0" blurRad="5.281604854866228e+49" dist="1.7605349516220764e+49" dir="1.9591041024000004e+59">
              <a:srgbClr val="AAAAAA">
                <a:alpha val="2.5e+59"/>
              </a:srgbClr>
            </a:outerShdw>
          </a:effectLst>
        </p:spPr>
      </p:sp>
      <p:sp>
        <p:nvSpPr>
          <p:cNvPr id="4" name="Text 2"/>
          <p:cNvSpPr/>
          <p:nvPr/>
        </p:nvSpPr>
        <p:spPr>
          <a:xfrm>
            <a:off x="457200" y="365760"/>
            <a:ext cx="73152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pwc</a:t>
            </a:r>
            <a:endParaRPr lang="en-US" sz="1400" dirty="0"/>
          </a:p>
        </p:txBody>
      </p:sp>
      <p:sp>
        <p:nvSpPr>
          <p:cNvPr id="5" name="Text 3"/>
          <p:cNvSpPr/>
          <p:nvPr/>
        </p:nvSpPr>
        <p:spPr>
          <a:xfrm>
            <a:off x="1371600" y="365760"/>
            <a:ext cx="2286000" cy="320040"/>
          </a:xfrm>
          <a:prstGeom prst="rect">
            <a:avLst/>
          </a:prstGeom>
          <a:noFill/>
          <a:ln/>
        </p:spPr>
        <p:txBody>
          <a:bodyPr wrap="square" rtlCol="0" anchor="ctr"/>
          <a:lstStyle/>
          <a:p>
            <a:pPr indent="0" marL="0">
              <a:buNone/>
            </a:pPr>
            <a:r>
              <a:rPr lang="en-US" sz="2000" b="1" dirty="0">
                <a:solidFill>
                  <a:srgbClr val="2D2D2D"/>
                </a:solidFill>
                <a:latin typeface="Georgia" pitchFamily="34" charset="0"/>
                <a:ea typeface="Georgia" pitchFamily="34" charset="-122"/>
                <a:cs typeface="Georgia" pitchFamily="34" charset="-120"/>
              </a:rPr>
              <a:t>Surge 1 Qual</a:t>
            </a:r>
            <a:endParaRPr lang="en-US" sz="2000" dirty="0"/>
          </a:p>
        </p:txBody>
      </p:sp>
      <p:sp>
        <p:nvSpPr>
          <p:cNvPr id="6" name="Text 4"/>
          <p:cNvSpPr/>
          <p:nvPr/>
        </p:nvSpPr>
        <p:spPr>
          <a:xfrm>
            <a:off x="457200" y="1371600"/>
            <a:ext cx="8229600" cy="640080"/>
          </a:xfrm>
          <a:prstGeom prst="rect">
            <a:avLst/>
          </a:prstGeom>
          <a:noFill/>
          <a:ln/>
        </p:spPr>
        <p:txBody>
          <a:bodyPr wrap="square" rtlCol="0" anchor="ctr"/>
          <a:lstStyle/>
          <a:p>
            <a:pPr indent="0" marL="0">
              <a:buNone/>
            </a:pPr>
            <a:r>
              <a:rPr lang="en-US" sz="3000" b="1" dirty="0">
                <a:solidFill>
                  <a:srgbClr val="2D2D2D"/>
                </a:solidFill>
                <a:latin typeface="Georgia" pitchFamily="34" charset="0"/>
                <a:ea typeface="Georgia" pitchFamily="34" charset="-122"/>
                <a:cs typeface="Georgia" pitchFamily="34" charset="-120"/>
              </a:rPr>
              <a:t>Medical Document Intelligence:</a:t>
            </a:r>
            <a:endParaRPr lang="en-US" sz="3000" dirty="0"/>
          </a:p>
        </p:txBody>
      </p:sp>
      <p:sp>
        <p:nvSpPr>
          <p:cNvPr id="7" name="Text 5"/>
          <p:cNvSpPr/>
          <p:nvPr/>
        </p:nvSpPr>
        <p:spPr>
          <a:xfrm>
            <a:off x="457200" y="2011680"/>
            <a:ext cx="8229600" cy="1097280"/>
          </a:xfrm>
          <a:prstGeom prst="rect">
            <a:avLst/>
          </a:prstGeom>
          <a:noFill/>
          <a:ln/>
        </p:spPr>
        <p:txBody>
          <a:bodyPr wrap="square" rtlCol="0" anchor="ctr"/>
          <a:lstStyle/>
          <a:p>
            <a:pPr indent="0" marL="0">
              <a:buNone/>
            </a:pPr>
            <a:r>
              <a:rPr lang="en-US" sz="2800" dirty="0">
                <a:solidFill>
                  <a:srgbClr val="D04A02"/>
                </a:solidFill>
                <a:latin typeface="Georgia" pitchFamily="34" charset="0"/>
                <a:ea typeface="Georgia" pitchFamily="34" charset="-122"/>
                <a:cs typeface="Georgia" pitchFamily="34" charset="-120"/>
              </a:rPr>
              <a:t>AI-Powered Medical Record Analysis</a:t>
            </a:r>
            <a:endParaRPr lang="en-US" sz="2800" dirty="0"/>
          </a:p>
          <a:p>
            <a:pPr indent="0" marL="0">
              <a:buNone/>
            </a:pPr>
            <a:r>
              <a:rPr lang="en-US" sz="2800" dirty="0">
                <a:solidFill>
                  <a:srgbClr val="D04A02"/>
                </a:solidFill>
                <a:latin typeface="Georgia" pitchFamily="34" charset="0"/>
                <a:ea typeface="Georgia" pitchFamily="34" charset="-122"/>
                <a:cs typeface="Georgia" pitchFamily="34" charset="-120"/>
              </a:rPr>
              <a:t>for Life Insurance Underwriting</a:t>
            </a:r>
            <a:endParaRPr lang="en-US" sz="2800" dirty="0"/>
          </a:p>
        </p:txBody>
      </p:sp>
      <p:sp>
        <p:nvSpPr>
          <p:cNvPr id="8" name="Text 6"/>
          <p:cNvSpPr/>
          <p:nvPr/>
        </p:nvSpPr>
        <p:spPr>
          <a:xfrm>
            <a:off x="457200" y="3200400"/>
            <a:ext cx="8046720" cy="365760"/>
          </a:xfrm>
          <a:prstGeom prst="rect">
            <a:avLst/>
          </a:prstGeom>
          <a:noFill/>
          <a:ln/>
        </p:spPr>
        <p:txBody>
          <a:bodyPr wrap="square" rtlCol="0" anchor="ctr"/>
          <a:lstStyle/>
          <a:p>
            <a:pPr indent="0" marL="0">
              <a:buNone/>
            </a:pPr>
            <a:r>
              <a:rPr lang="en-US" sz="1400" i="1" dirty="0">
                <a:solidFill>
                  <a:srgbClr val="5C5C5C"/>
                </a:solidFill>
                <a:latin typeface="Calibri" pitchFamily="34" charset="0"/>
                <a:ea typeface="Calibri" pitchFamily="34" charset="-122"/>
                <a:cs typeface="Calibri" pitchFamily="34" charset="-120"/>
              </a:rPr>
              <a:t>720× faster processing with $872K annual savings through Azure AI automation</a:t>
            </a:r>
            <a:endParaRPr lang="en-US" sz="1400" dirty="0"/>
          </a:p>
        </p:txBody>
      </p:sp>
      <p:sp>
        <p:nvSpPr>
          <p:cNvPr id="9" name="Shape 7"/>
          <p:cNvSpPr/>
          <p:nvPr/>
        </p:nvSpPr>
        <p:spPr>
          <a:xfrm>
            <a:off x="1828800" y="3840480"/>
            <a:ext cx="3200400" cy="365760"/>
          </a:xfrm>
          <a:prstGeom prst="parallelogram">
            <a:avLst/>
          </a:prstGeom>
          <a:solidFill>
            <a:srgbClr val="D04A02"/>
          </a:solidFill>
          <a:ln/>
          <a:effectLst>
            <a:outerShdw sx="100000" sy="100000" kx="0" ky="0" algn="bl" rotWithShape="0" blurRad="6.70763816568011e+53" dist="2.235879388560037e+53" dir="1.1754624614400003e+64">
              <a:srgbClr val="AAAAAA">
                <a:alpha val="2.5e+64"/>
              </a:srgbClr>
            </a:outerShdw>
          </a:effectLst>
        </p:spPr>
      </p:sp>
      <p:sp>
        <p:nvSpPr>
          <p:cNvPr id="10" name="Shape 8"/>
          <p:cNvSpPr/>
          <p:nvPr/>
        </p:nvSpPr>
        <p:spPr>
          <a:xfrm>
            <a:off x="4114800" y="4206240"/>
            <a:ext cx="3200400" cy="365760"/>
          </a:xfrm>
          <a:prstGeom prst="parallelogram">
            <a:avLst/>
          </a:prstGeom>
          <a:solidFill>
            <a:srgbClr val="E8713A"/>
          </a:solidFill>
          <a:ln/>
          <a:effectLst>
            <a:outerShdw sx="100000" sy="100000" kx="0" ky="0" algn="bl" rotWithShape="0" blurRad="8.518700470413739e+57" dist="2.839566823471247e+57" dir="7.052774768640002e+68">
              <a:srgbClr val="AAAAAA">
                <a:alpha val="2.4999999999999998e+69"/>
              </a:srgbClr>
            </a:outerShdw>
          </a:effectLst>
        </p:spPr>
      </p:sp>
      <p:sp>
        <p:nvSpPr>
          <p:cNvPr id="11" name="Shape 9"/>
          <p:cNvSpPr/>
          <p:nvPr/>
        </p:nvSpPr>
        <p:spPr>
          <a:xfrm>
            <a:off x="274320" y="4846320"/>
            <a:ext cx="8595360" cy="7315"/>
          </a:xfrm>
          <a:prstGeom prst="rect">
            <a:avLst/>
          </a:prstGeom>
          <a:solidFill>
            <a:srgbClr val="D9D9D9"/>
          </a:solidFill>
          <a:ln/>
        </p:spPr>
      </p:sp>
      <p:sp>
        <p:nvSpPr>
          <p:cNvPr id="12" name="Shape 10"/>
          <p:cNvSpPr/>
          <p:nvPr/>
        </p:nvSpPr>
        <p:spPr>
          <a:xfrm>
            <a:off x="274320" y="4919472"/>
            <a:ext cx="82296" cy="82296"/>
          </a:xfrm>
          <a:prstGeom prst="rect">
            <a:avLst/>
          </a:prstGeom>
          <a:solidFill>
            <a:srgbClr val="D04A02"/>
          </a:solidFill>
          <a:ln/>
        </p:spPr>
      </p:sp>
      <p:sp>
        <p:nvSpPr>
          <p:cNvPr id="13" name="Text 11"/>
          <p:cNvSpPr/>
          <p:nvPr/>
        </p:nvSpPr>
        <p:spPr>
          <a:xfrm>
            <a:off x="411480" y="4873752"/>
            <a:ext cx="3657600" cy="182880"/>
          </a:xfrm>
          <a:prstGeom prst="rect">
            <a:avLst/>
          </a:prstGeom>
          <a:noFill/>
          <a:ln/>
        </p:spPr>
        <p:txBody>
          <a:bodyPr wrap="square" lIns="0" tIns="0" rIns="0" bIns="0" rtlCol="0" anchor="ctr"/>
          <a:lstStyle/>
          <a:p>
            <a:pPr indent="0" marL="0">
              <a:buNone/>
            </a:pPr>
            <a:r>
              <a:rPr lang="en-US" sz="650" dirty="0">
                <a:solidFill>
                  <a:srgbClr val="5C5C5C"/>
                </a:solidFill>
                <a:latin typeface="Arial" pitchFamily="34" charset="0"/>
                <a:ea typeface="Arial" pitchFamily="34" charset="-122"/>
                <a:cs typeface="Arial" pitchFamily="34" charset="-120"/>
              </a:rPr>
              <a:t>PwC | Surge 1 Qual — GenAI Portfolio</a:t>
            </a:r>
            <a:endParaRPr lang="en-US" sz="650" dirty="0"/>
          </a:p>
        </p:txBody>
      </p:sp>
      <p:sp>
        <p:nvSpPr>
          <p:cNvPr id="14" name="Text 12"/>
          <p:cNvSpPr/>
          <p:nvPr/>
        </p:nvSpPr>
        <p:spPr>
          <a:xfrm>
            <a:off x="8412480" y="4873752"/>
            <a:ext cx="457200" cy="182880"/>
          </a:xfrm>
          <a:prstGeom prst="rect">
            <a:avLst/>
          </a:prstGeom>
          <a:noFill/>
          <a:ln/>
        </p:spPr>
        <p:txBody>
          <a:bodyPr wrap="square" lIns="0" tIns="0" rIns="0" bIns="0" rtlCol="0" anchor="ctr"/>
          <a:lstStyle/>
          <a:p>
            <a:pPr algn="r" indent="0" marL="0">
              <a:buNone/>
            </a:pPr>
            <a:r>
              <a:rPr lang="en-US" sz="650" dirty="0">
                <a:solidFill>
                  <a:srgbClr val="5C5C5C"/>
                </a:solidFill>
                <a:latin typeface="Arial" pitchFamily="34" charset="0"/>
                <a:ea typeface="Arial" pitchFamily="34" charset="-122"/>
                <a:cs typeface="Arial" pitchFamily="34" charset="-120"/>
              </a:rPr>
              <a:t>3</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91440"/>
            <a:ext cx="8595360" cy="329184"/>
          </a:xfrm>
          <a:prstGeom prst="rect">
            <a:avLst/>
          </a:prstGeom>
          <a:noFill/>
          <a:ln/>
        </p:spPr>
        <p:txBody>
          <a:bodyPr wrap="square" lIns="0" tIns="0" rIns="0" bIns="0" rtlCol="0" anchor="ctr"/>
          <a:lstStyle/>
          <a:p>
            <a:pPr indent="0" marL="0">
              <a:buNone/>
            </a:pPr>
            <a:r>
              <a:rPr lang="en-US" sz="1500" b="1" dirty="0">
                <a:solidFill>
                  <a:srgbClr val="2D2D2D"/>
                </a:solidFill>
                <a:latin typeface="Georgia" pitchFamily="34" charset="0"/>
                <a:ea typeface="Georgia" pitchFamily="34" charset="-122"/>
                <a:cs typeface="Georgia" pitchFamily="34" charset="-120"/>
              </a:rPr>
              <a:t>GenAI-Enabled – </a:t>
            </a:r>
            <a:pPr indent="0" marL="0">
              <a:buNone/>
            </a:pPr>
            <a:r>
              <a:rPr lang="en-US" sz="1500" b="1" dirty="0">
                <a:solidFill>
                  <a:srgbClr val="D04A02"/>
                </a:solidFill>
                <a:latin typeface="Georgia" pitchFamily="34" charset="0"/>
                <a:ea typeface="Georgia" pitchFamily="34" charset="-122"/>
                <a:cs typeface="Georgia" pitchFamily="34" charset="-120"/>
              </a:rPr>
              <a:t>Medical Document Intelligence System</a:t>
            </a:r>
            <a:endParaRPr lang="en-US" sz="1500" dirty="0"/>
          </a:p>
        </p:txBody>
      </p:sp>
      <p:sp>
        <p:nvSpPr>
          <p:cNvPr id="3" name="Text 1"/>
          <p:cNvSpPr/>
          <p:nvPr/>
        </p:nvSpPr>
        <p:spPr>
          <a:xfrm>
            <a:off x="274320" y="420624"/>
            <a:ext cx="7772400" cy="219456"/>
          </a:xfrm>
          <a:prstGeom prst="rect">
            <a:avLst/>
          </a:prstGeom>
          <a:noFill/>
          <a:ln/>
        </p:spPr>
        <p:txBody>
          <a:bodyPr wrap="square" lIns="0" tIns="0" rIns="0" bIns="0" rtlCol="0" anchor="ctr"/>
          <a:lstStyle/>
          <a:p>
            <a:pPr indent="0" marL="0">
              <a:buNone/>
            </a:pPr>
            <a:r>
              <a:rPr lang="en-US" sz="1200" dirty="0">
                <a:solidFill>
                  <a:srgbClr val="2D2D2D"/>
                </a:solidFill>
                <a:latin typeface="Georgia" pitchFamily="34" charset="0"/>
                <a:ea typeface="Georgia" pitchFamily="34" charset="-122"/>
                <a:cs typeface="Georgia" pitchFamily="34" charset="-120"/>
              </a:rPr>
              <a:t>for Life Insurance Medical Record Analysis &amp; Underwriting</a:t>
            </a:r>
            <a:endParaRPr lang="en-US" sz="1200" dirty="0"/>
          </a:p>
        </p:txBody>
      </p:sp>
      <p:sp>
        <p:nvSpPr>
          <p:cNvPr id="4" name="Shape 2"/>
          <p:cNvSpPr/>
          <p:nvPr/>
        </p:nvSpPr>
        <p:spPr>
          <a:xfrm>
            <a:off x="274320" y="658368"/>
            <a:ext cx="8595360" cy="18288"/>
          </a:xfrm>
          <a:prstGeom prst="rect">
            <a:avLst/>
          </a:prstGeom>
          <a:solidFill>
            <a:srgbClr val="E8713A"/>
          </a:solidFill>
          <a:ln/>
        </p:spPr>
      </p:sp>
      <p:sp>
        <p:nvSpPr>
          <p:cNvPr id="5" name="Shape 3"/>
          <p:cNvSpPr/>
          <p:nvPr/>
        </p:nvSpPr>
        <p:spPr>
          <a:xfrm>
            <a:off x="274320" y="713232"/>
            <a:ext cx="8595360" cy="640080"/>
          </a:xfrm>
          <a:prstGeom prst="roundRect">
            <a:avLst>
              <a:gd name="adj" fmla="val 7143"/>
            </a:avLst>
          </a:prstGeom>
          <a:solidFill>
            <a:srgbClr val="FBF3EE"/>
          </a:solidFill>
          <a:ln w="9525">
            <a:solidFill>
              <a:srgbClr val="F0D8CB"/>
            </a:solidFill>
            <a:prstDash val="solid"/>
          </a:ln>
          <a:effectLst>
            <a:outerShdw sx="100000" sy="100000" kx="0" ky="0" algn="bl" rotWithShape="0" blurRad="1.081874959742545e+62" dist="3.606249865808484e+61" dir="4.2316648611840007e+73">
              <a:srgbClr val="AAAAAA">
                <a:alpha val="2.5e+74"/>
              </a:srgbClr>
            </a:outerShdw>
          </a:effectLst>
        </p:spPr>
      </p:sp>
      <p:sp>
        <p:nvSpPr>
          <p:cNvPr id="6" name="Shape 4"/>
          <p:cNvSpPr/>
          <p:nvPr/>
        </p:nvSpPr>
        <p:spPr>
          <a:xfrm>
            <a:off x="274320" y="749808"/>
            <a:ext cx="54864" cy="566928"/>
          </a:xfrm>
          <a:prstGeom prst="rect">
            <a:avLst/>
          </a:prstGeom>
          <a:solidFill>
            <a:srgbClr val="C41E3A"/>
          </a:solidFill>
          <a:ln/>
        </p:spPr>
      </p:sp>
      <p:pic>
        <p:nvPicPr>
          <p:cNvPr id="7" name="Image 0" descr="preencoded.png">    </p:cNvPr>
          <p:cNvPicPr>
            <a:picLocks noChangeAspect="1"/>
          </p:cNvPicPr>
          <p:nvPr/>
        </p:nvPicPr>
        <p:blipFill>
          <a:blip r:embed="rId1"/>
          <a:stretch>
            <a:fillRect/>
          </a:stretch>
        </p:blipFill>
        <p:spPr>
          <a:xfrm>
            <a:off x="429768" y="777240"/>
            <a:ext cx="173736" cy="173736"/>
          </a:xfrm>
          <a:prstGeom prst="rect">
            <a:avLst/>
          </a:prstGeom>
        </p:spPr>
      </p:pic>
      <p:sp>
        <p:nvSpPr>
          <p:cNvPr id="8" name="Text 5"/>
          <p:cNvSpPr/>
          <p:nvPr/>
        </p:nvSpPr>
        <p:spPr>
          <a:xfrm>
            <a:off x="658368" y="768096"/>
            <a:ext cx="2743200" cy="201168"/>
          </a:xfrm>
          <a:prstGeom prst="rect">
            <a:avLst/>
          </a:prstGeom>
          <a:noFill/>
          <a:ln/>
        </p:spPr>
        <p:txBody>
          <a:bodyPr wrap="square" lIns="0" tIns="0" rIns="0" bIns="0" rtlCol="0" anchor="ctr"/>
          <a:lstStyle/>
          <a:p>
            <a:pPr indent="0" marL="0">
              <a:buNone/>
            </a:pPr>
            <a:r>
              <a:rPr lang="en-US" sz="900" b="1" dirty="0">
                <a:solidFill>
                  <a:srgbClr val="C41E3A"/>
                </a:solidFill>
                <a:latin typeface="Arial" pitchFamily="34" charset="0"/>
                <a:ea typeface="Arial" pitchFamily="34" charset="-122"/>
                <a:cs typeface="Arial" pitchFamily="34" charset="-120"/>
              </a:rPr>
              <a:t>The Challenge We Addressed</a:t>
            </a:r>
            <a:endParaRPr lang="en-US" sz="900" dirty="0"/>
          </a:p>
        </p:txBody>
      </p:sp>
      <p:sp>
        <p:nvSpPr>
          <p:cNvPr id="9" name="Text 6"/>
          <p:cNvSpPr/>
          <p:nvPr/>
        </p:nvSpPr>
        <p:spPr>
          <a:xfrm>
            <a:off x="429768" y="987552"/>
            <a:ext cx="8275320" cy="347472"/>
          </a:xfrm>
          <a:prstGeom prst="rect">
            <a:avLst/>
          </a:prstGeom>
          <a:noFill/>
          <a:ln/>
        </p:spPr>
        <p:txBody>
          <a:bodyPr wrap="square" lIns="0" tIns="0" rIns="0" bIns="0" rtlCol="0" anchor="t"/>
          <a:lstStyle/>
          <a:p>
            <a:pPr indent="0" marL="0">
              <a:buNone/>
            </a:pPr>
            <a:r>
              <a:rPr lang="en-US" sz="750" dirty="0">
                <a:solidFill>
                  <a:srgbClr val="5C5C5C"/>
                </a:solidFill>
                <a:latin typeface="Calibri" pitchFamily="34" charset="0"/>
                <a:ea typeface="Calibri" pitchFamily="34" charset="-122"/>
                <a:cs typeface="Calibri" pitchFamily="34" charset="-120"/>
              </a:rPr>
              <a:t>Life insurance underwriting requires reviewing extensive medical records to assess mortality risk. Manual process: reading 1,000 pages takes 25-40 hrs; synthesizing notes 40-60 hrs; discrepancy detection 20-40 hrs (Total: 108-180 hrs/case). This resulted in $1.12M annual cost for 10 analysts processing only ~10 cases/month, inconsistent results between reviewers, and 2-3 week turnaround times causing customer dissatisfaction.</a:t>
            </a:r>
            <a:endParaRPr lang="en-US" sz="750" dirty="0"/>
          </a:p>
        </p:txBody>
      </p:sp>
      <p:sp>
        <p:nvSpPr>
          <p:cNvPr id="10" name="Shape 7"/>
          <p:cNvSpPr/>
          <p:nvPr/>
        </p:nvSpPr>
        <p:spPr>
          <a:xfrm>
            <a:off x="228600" y="1389888"/>
            <a:ext cx="2377440" cy="1783080"/>
          </a:xfrm>
          <a:prstGeom prst="roundRect">
            <a:avLst>
              <a:gd name="adj" fmla="val 2564"/>
            </a:avLst>
          </a:prstGeom>
          <a:solidFill>
            <a:srgbClr val="F7F6F4"/>
          </a:solidFill>
          <a:ln w="6350">
            <a:solidFill>
              <a:srgbClr val="ECEAE6"/>
            </a:solidFill>
            <a:prstDash val="solid"/>
          </a:ln>
        </p:spPr>
      </p:sp>
      <p:sp>
        <p:nvSpPr>
          <p:cNvPr id="11" name="Shape 8"/>
          <p:cNvSpPr/>
          <p:nvPr/>
        </p:nvSpPr>
        <p:spPr>
          <a:xfrm>
            <a:off x="2670048" y="1389888"/>
            <a:ext cx="1700784" cy="1783080"/>
          </a:xfrm>
          <a:prstGeom prst="roundRect">
            <a:avLst>
              <a:gd name="adj" fmla="val 2688"/>
            </a:avLst>
          </a:prstGeom>
          <a:solidFill>
            <a:srgbClr val="F7F6F4"/>
          </a:solidFill>
          <a:ln w="6350">
            <a:solidFill>
              <a:srgbClr val="ECEAE6"/>
            </a:solidFill>
            <a:prstDash val="solid"/>
          </a:ln>
        </p:spPr>
      </p:sp>
      <p:sp>
        <p:nvSpPr>
          <p:cNvPr id="12" name="Shape 9"/>
          <p:cNvSpPr/>
          <p:nvPr/>
        </p:nvSpPr>
        <p:spPr>
          <a:xfrm>
            <a:off x="4434840" y="1389888"/>
            <a:ext cx="1737360" cy="1783080"/>
          </a:xfrm>
          <a:prstGeom prst="roundRect">
            <a:avLst>
              <a:gd name="adj" fmla="val 2632"/>
            </a:avLst>
          </a:prstGeom>
          <a:solidFill>
            <a:srgbClr val="F7F6F4"/>
          </a:solidFill>
          <a:ln w="6350">
            <a:solidFill>
              <a:srgbClr val="ECEAE6"/>
            </a:solidFill>
            <a:prstDash val="solid"/>
          </a:ln>
        </p:spPr>
      </p:sp>
      <p:pic>
        <p:nvPicPr>
          <p:cNvPr id="13" name="Image 1" descr="preencoded.png">    </p:cNvPr>
          <p:cNvPicPr>
            <a:picLocks noChangeAspect="1"/>
          </p:cNvPicPr>
          <p:nvPr/>
        </p:nvPicPr>
        <p:blipFill>
          <a:blip r:embed="rId2"/>
          <a:stretch>
            <a:fillRect/>
          </a:stretch>
        </p:blipFill>
        <p:spPr>
          <a:xfrm>
            <a:off x="320040" y="1444752"/>
            <a:ext cx="164592" cy="164592"/>
          </a:xfrm>
          <a:prstGeom prst="rect">
            <a:avLst/>
          </a:prstGeom>
        </p:spPr>
      </p:pic>
      <p:sp>
        <p:nvSpPr>
          <p:cNvPr id="14" name="Text 10"/>
          <p:cNvSpPr/>
          <p:nvPr/>
        </p:nvSpPr>
        <p:spPr>
          <a:xfrm>
            <a:off x="539496" y="1417320"/>
            <a:ext cx="1993392" cy="219456"/>
          </a:xfrm>
          <a:prstGeom prst="rect">
            <a:avLst/>
          </a:prstGeom>
          <a:noFill/>
          <a:ln/>
        </p:spPr>
        <p:txBody>
          <a:bodyPr wrap="square" lIns="0" tIns="0" rIns="0" bIns="0" rtlCol="0" anchor="ctr"/>
          <a:lstStyle/>
          <a:p>
            <a:pPr indent="0" marL="0">
              <a:buNone/>
            </a:pPr>
            <a:r>
              <a:rPr lang="en-US" sz="900" b="1" dirty="0">
                <a:solidFill>
                  <a:srgbClr val="2D2D2D"/>
                </a:solidFill>
                <a:latin typeface="Arial" pitchFamily="34" charset="0"/>
                <a:ea typeface="Arial" pitchFamily="34" charset="-122"/>
                <a:cs typeface="Arial" pitchFamily="34" charset="-120"/>
              </a:rPr>
              <a:t>What We Accomplished</a:t>
            </a:r>
            <a:endParaRPr lang="en-US" sz="900" dirty="0"/>
          </a:p>
        </p:txBody>
      </p:sp>
      <p:sp>
        <p:nvSpPr>
          <p:cNvPr id="15" name="Text 11"/>
          <p:cNvSpPr/>
          <p:nvPr/>
        </p:nvSpPr>
        <p:spPr>
          <a:xfrm>
            <a:off x="320040" y="1664208"/>
            <a:ext cx="2212848" cy="868680"/>
          </a:xfrm>
          <a:prstGeom prst="rect">
            <a:avLst/>
          </a:prstGeom>
          <a:noFill/>
          <a:ln/>
        </p:spPr>
        <p:txBody>
          <a:bodyPr wrap="square" rtlCol="0" anchor="t"/>
          <a:lstStyle/>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Automated extraction &amp; analysis of 1000+ page medical records</a:t>
            </a:r>
            <a:endParaRPr lang="en-US" sz="65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Intelligent Q&amp;A with precise citations (PDF, page, line)</a:t>
            </a:r>
            <a:endParaRPr lang="en-US" sz="65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Auto-detect application vs medical record discrepancies</a:t>
            </a:r>
            <a:endParaRPr lang="en-US" sz="65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HIPAA-compliant audit trails for regulatory compliance</a:t>
            </a:r>
            <a:endParaRPr lang="en-US" sz="650" dirty="0"/>
          </a:p>
        </p:txBody>
      </p:sp>
      <p:sp>
        <p:nvSpPr>
          <p:cNvPr id="16" name="Shape 12"/>
          <p:cNvSpPr/>
          <p:nvPr/>
        </p:nvSpPr>
        <p:spPr>
          <a:xfrm>
            <a:off x="320040" y="2532888"/>
            <a:ext cx="2075688" cy="0"/>
          </a:xfrm>
          <a:prstGeom prst="line">
            <a:avLst/>
          </a:prstGeom>
          <a:noFill/>
          <a:ln w="6350">
            <a:solidFill>
              <a:srgbClr val="CCCCCC"/>
            </a:solidFill>
            <a:prstDash val="solid"/>
          </a:ln>
        </p:spPr>
      </p:sp>
      <p:sp>
        <p:nvSpPr>
          <p:cNvPr id="17" name="Text 13"/>
          <p:cNvSpPr/>
          <p:nvPr/>
        </p:nvSpPr>
        <p:spPr>
          <a:xfrm>
            <a:off x="320040" y="2578608"/>
            <a:ext cx="2212848" cy="548640"/>
          </a:xfrm>
          <a:prstGeom prst="rect">
            <a:avLst/>
          </a:prstGeom>
          <a:noFill/>
          <a:ln/>
        </p:spPr>
        <p:txBody>
          <a:bodyPr wrap="square" rtlCol="0" anchor="t"/>
          <a:lstStyle/>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2 analysts now process 500+ cases/month vs 10 analysts for ~10 cases previously</a:t>
            </a:r>
            <a:endParaRPr lang="en-US" sz="65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Reduced turnaround: 2-3 weeks → same day</a:t>
            </a:r>
            <a:endParaRPr lang="en-US" sz="650" dirty="0"/>
          </a:p>
        </p:txBody>
      </p:sp>
      <p:sp>
        <p:nvSpPr>
          <p:cNvPr id="18" name="Text 14"/>
          <p:cNvSpPr/>
          <p:nvPr/>
        </p:nvSpPr>
        <p:spPr>
          <a:xfrm>
            <a:off x="2743200" y="1417320"/>
            <a:ext cx="1572768" cy="310896"/>
          </a:xfrm>
          <a:prstGeom prst="rect">
            <a:avLst/>
          </a:prstGeom>
          <a:noFill/>
          <a:ln/>
        </p:spPr>
        <p:txBody>
          <a:bodyPr wrap="square" lIns="0" tIns="0" rIns="0" bIns="0" rtlCol="0" anchor="ctr"/>
          <a:lstStyle/>
          <a:p>
            <a:pPr indent="0" marL="0">
              <a:buNone/>
            </a:pPr>
            <a:r>
              <a:rPr lang="en-US" sz="900" b="1" dirty="0">
                <a:solidFill>
                  <a:srgbClr val="2D2D2D"/>
                </a:solidFill>
                <a:latin typeface="Arial" pitchFamily="34" charset="0"/>
                <a:ea typeface="Arial" pitchFamily="34" charset="-122"/>
                <a:cs typeface="Arial" pitchFamily="34" charset="-120"/>
              </a:rPr>
              <a:t>Azure AI</a:t>
            </a:r>
            <a:endParaRPr lang="en-US" sz="900" dirty="0"/>
          </a:p>
          <a:p>
            <a:pPr indent="0" marL="0">
              <a:buNone/>
            </a:pPr>
            <a:r>
              <a:rPr lang="en-US" sz="900" b="1" dirty="0">
                <a:solidFill>
                  <a:srgbClr val="2D2D2D"/>
                </a:solidFill>
                <a:latin typeface="Arial" pitchFamily="34" charset="0"/>
                <a:ea typeface="Arial" pitchFamily="34" charset="-122"/>
                <a:cs typeface="Arial" pitchFamily="34" charset="-120"/>
              </a:rPr>
              <a:t>Technology Stack</a:t>
            </a:r>
            <a:endParaRPr lang="en-US" sz="900" dirty="0"/>
          </a:p>
        </p:txBody>
      </p:sp>
      <p:sp>
        <p:nvSpPr>
          <p:cNvPr id="19" name="Text 15"/>
          <p:cNvSpPr/>
          <p:nvPr/>
        </p:nvSpPr>
        <p:spPr>
          <a:xfrm>
            <a:off x="2743200" y="1764792"/>
            <a:ext cx="1572768" cy="1371600"/>
          </a:xfrm>
          <a:prstGeom prst="rect">
            <a:avLst/>
          </a:prstGeom>
          <a:noFill/>
          <a:ln/>
        </p:spPr>
        <p:txBody>
          <a:bodyPr wrap="square" rtlCol="0" anchor="t"/>
          <a:lstStyle/>
          <a:p>
            <a:pPr indent="0" marL="0">
              <a:buNone/>
            </a:pPr>
            <a:r>
              <a:rPr lang="en-US" sz="650" b="1" dirty="0">
                <a:solidFill>
                  <a:srgbClr val="5C5C5C"/>
                </a:solidFill>
                <a:latin typeface="Calibri" pitchFamily="34" charset="0"/>
                <a:ea typeface="Calibri" pitchFamily="34" charset="-122"/>
                <a:cs typeface="Calibri" pitchFamily="34" charset="-120"/>
              </a:rPr>
              <a:t>Azure Doc Intelligence: </a:t>
            </a:r>
            <a:pPr indent="0" marL="0">
              <a:buNone/>
            </a:pPr>
            <a:r>
              <a:rPr lang="en-US" sz="650" dirty="0">
                <a:solidFill>
                  <a:srgbClr val="5C5C5C"/>
                </a:solidFill>
                <a:latin typeface="Calibri" pitchFamily="34" charset="0"/>
                <a:ea typeface="Calibri" pitchFamily="34" charset="-122"/>
                <a:cs typeface="Calibri" pitchFamily="34" charset="-120"/>
              </a:rPr>
              <a:t>OCR (1000 pages)</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Azure OpenAI GPT-5: </a:t>
            </a:r>
            <a:pPr indent="0" marL="0">
              <a:buNone/>
            </a:pPr>
            <a:r>
              <a:rPr lang="en-US" sz="650" dirty="0">
                <a:solidFill>
                  <a:srgbClr val="5C5C5C"/>
                </a:solidFill>
                <a:latin typeface="Calibri" pitchFamily="34" charset="0"/>
                <a:ea typeface="Calibri" pitchFamily="34" charset="-122"/>
                <a:cs typeface="Calibri" pitchFamily="34" charset="-120"/>
              </a:rPr>
              <a:t>Summarization, Q&amp;A</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FAISS HNSW: </a:t>
            </a:r>
            <a:pPr indent="0" marL="0">
              <a:buNone/>
            </a:pPr>
            <a:r>
              <a:rPr lang="en-US" sz="650" dirty="0">
                <a:solidFill>
                  <a:srgbClr val="5C5C5C"/>
                </a:solidFill>
                <a:latin typeface="Calibri" pitchFamily="34" charset="0"/>
                <a:ea typeface="Calibri" pitchFamily="34" charset="-122"/>
                <a:cs typeface="Calibri" pitchFamily="34" charset="-120"/>
              </a:rPr>
              <a:t>O(log n) vector search</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text-embedding-3-large: </a:t>
            </a:r>
            <a:pPr indent="0" marL="0">
              <a:buNone/>
            </a:pPr>
            <a:r>
              <a:rPr lang="en-US" sz="650" dirty="0">
                <a:solidFill>
                  <a:srgbClr val="5C5C5C"/>
                </a:solidFill>
                <a:latin typeface="Calibri" pitchFamily="34" charset="0"/>
                <a:ea typeface="Calibri" pitchFamily="34" charset="-122"/>
                <a:cs typeface="Calibri" pitchFamily="34" charset="-120"/>
              </a:rPr>
              <a:t>3072-dim vectors</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Streamlit: </a:t>
            </a:r>
            <a:pPr indent="0" marL="0">
              <a:buNone/>
            </a:pPr>
            <a:r>
              <a:rPr lang="en-US" sz="650" dirty="0">
                <a:solidFill>
                  <a:srgbClr val="5C5C5C"/>
                </a:solidFill>
                <a:latin typeface="Calibri" pitchFamily="34" charset="0"/>
                <a:ea typeface="Calibri" pitchFamily="34" charset="-122"/>
                <a:cs typeface="Calibri" pitchFamily="34" charset="-120"/>
              </a:rPr>
              <a:t>Interactive dashboard</a:t>
            </a:r>
            <a:endParaRPr lang="en-US" sz="650" dirty="0"/>
          </a:p>
        </p:txBody>
      </p:sp>
      <p:sp>
        <p:nvSpPr>
          <p:cNvPr id="20" name="Text 16"/>
          <p:cNvSpPr/>
          <p:nvPr/>
        </p:nvSpPr>
        <p:spPr>
          <a:xfrm>
            <a:off x="4507992" y="1417320"/>
            <a:ext cx="1600200" cy="310896"/>
          </a:xfrm>
          <a:prstGeom prst="rect">
            <a:avLst/>
          </a:prstGeom>
          <a:noFill/>
          <a:ln/>
        </p:spPr>
        <p:txBody>
          <a:bodyPr wrap="square" lIns="0" tIns="0" rIns="0" bIns="0" rtlCol="0" anchor="ctr"/>
          <a:lstStyle/>
          <a:p>
            <a:pPr indent="0" marL="0">
              <a:buNone/>
            </a:pPr>
            <a:r>
              <a:rPr lang="en-US" sz="900" b="1" dirty="0">
                <a:solidFill>
                  <a:srgbClr val="2D2D2D"/>
                </a:solidFill>
                <a:latin typeface="Arial" pitchFamily="34" charset="0"/>
                <a:ea typeface="Arial" pitchFamily="34" charset="-122"/>
                <a:cs typeface="Arial" pitchFamily="34" charset="-120"/>
              </a:rPr>
              <a:t>12-Minute Processing</a:t>
            </a:r>
            <a:endParaRPr lang="en-US" sz="900" dirty="0"/>
          </a:p>
          <a:p>
            <a:pPr indent="0" marL="0">
              <a:buNone/>
            </a:pPr>
            <a:r>
              <a:rPr lang="en-US" sz="900" b="1" dirty="0">
                <a:solidFill>
                  <a:srgbClr val="2D2D2D"/>
                </a:solidFill>
                <a:latin typeface="Arial" pitchFamily="34" charset="0"/>
                <a:ea typeface="Arial" pitchFamily="34" charset="-122"/>
                <a:cs typeface="Arial" pitchFamily="34" charset="-120"/>
              </a:rPr>
              <a:t>Pipeline</a:t>
            </a:r>
            <a:endParaRPr lang="en-US" sz="900" dirty="0"/>
          </a:p>
        </p:txBody>
      </p:sp>
      <p:sp>
        <p:nvSpPr>
          <p:cNvPr id="21" name="Text 17"/>
          <p:cNvSpPr/>
          <p:nvPr/>
        </p:nvSpPr>
        <p:spPr>
          <a:xfrm>
            <a:off x="4507992" y="1764792"/>
            <a:ext cx="1600200" cy="1371600"/>
          </a:xfrm>
          <a:prstGeom prst="rect">
            <a:avLst/>
          </a:prstGeom>
          <a:noFill/>
          <a:ln/>
        </p:spPr>
        <p:txBody>
          <a:bodyPr wrap="square" rtlCol="0" anchor="t"/>
          <a:lstStyle/>
          <a:p>
            <a:pPr indent="0" marL="0">
              <a:buNone/>
            </a:pPr>
            <a:r>
              <a:rPr lang="en-US" sz="650" b="1" dirty="0">
                <a:solidFill>
                  <a:srgbClr val="5C5C5C"/>
                </a:solidFill>
                <a:latin typeface="Calibri" pitchFamily="34" charset="0"/>
                <a:ea typeface="Calibri" pitchFamily="34" charset="-122"/>
                <a:cs typeface="Calibri" pitchFamily="34" charset="-120"/>
              </a:rPr>
              <a:t>Ingestion &amp; OCR: </a:t>
            </a:r>
            <a:pPr indent="0" marL="0">
              <a:buNone/>
            </a:pPr>
            <a:r>
              <a:rPr lang="en-US" sz="650" dirty="0">
                <a:solidFill>
                  <a:srgbClr val="5C5C5C"/>
                </a:solidFill>
                <a:latin typeface="Calibri" pitchFamily="34" charset="0"/>
                <a:ea typeface="Calibri" pitchFamily="34" charset="-122"/>
                <a:cs typeface="Calibri" pitchFamily="34" charset="-120"/>
              </a:rPr>
              <a:t>3.5 min (4 workers)</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Intelligent Chunking: </a:t>
            </a:r>
            <a:pPr indent="0" marL="0">
              <a:buNone/>
            </a:pPr>
            <a:r>
              <a:rPr lang="en-US" sz="650" dirty="0">
                <a:solidFill>
                  <a:srgbClr val="5C5C5C"/>
                </a:solidFill>
                <a:latin typeface="Calibri" pitchFamily="34" charset="0"/>
                <a:ea typeface="Calibri" pitchFamily="34" charset="-122"/>
                <a:cs typeface="Calibri" pitchFamily="34" charset="-120"/>
              </a:rPr>
              <a:t>0.5 min</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LLM Summarization: </a:t>
            </a:r>
            <a:pPr indent="0" marL="0">
              <a:buNone/>
            </a:pPr>
            <a:r>
              <a:rPr lang="en-US" sz="650" dirty="0">
                <a:solidFill>
                  <a:srgbClr val="5C5C5C"/>
                </a:solidFill>
                <a:latin typeface="Calibri" pitchFamily="34" charset="0"/>
                <a:ea typeface="Calibri" pitchFamily="34" charset="-122"/>
                <a:cs typeface="Calibri" pitchFamily="34" charset="-120"/>
              </a:rPr>
              <a:t>4 min (prompt caching)</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RAG Index Building: </a:t>
            </a:r>
            <a:pPr indent="0" marL="0">
              <a:buNone/>
            </a:pPr>
            <a:r>
              <a:rPr lang="en-US" sz="650" dirty="0">
                <a:solidFill>
                  <a:srgbClr val="5C5C5C"/>
                </a:solidFill>
                <a:latin typeface="Calibri" pitchFamily="34" charset="0"/>
                <a:ea typeface="Calibri" pitchFamily="34" charset="-122"/>
                <a:cs typeface="Calibri" pitchFamily="34" charset="-120"/>
              </a:rPr>
              <a:t>1.5 min (FAISS HNSW)</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Application Analysis: </a:t>
            </a:r>
            <a:pPr indent="0" marL="0">
              <a:buNone/>
            </a:pPr>
            <a:r>
              <a:rPr lang="en-US" sz="650" dirty="0">
                <a:solidFill>
                  <a:srgbClr val="5C5C5C"/>
                </a:solidFill>
                <a:latin typeface="Calibri" pitchFamily="34" charset="0"/>
                <a:ea typeface="Calibri" pitchFamily="34" charset="-122"/>
                <a:cs typeface="Calibri" pitchFamily="34" charset="-120"/>
              </a:rPr>
              <a:t>1.5 min (batch RAG)</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Overhead: </a:t>
            </a:r>
            <a:pPr indent="0" marL="0">
              <a:buNone/>
            </a:pPr>
            <a:r>
              <a:rPr lang="en-US" sz="650" dirty="0">
                <a:solidFill>
                  <a:srgbClr val="5C5C5C"/>
                </a:solidFill>
                <a:latin typeface="Calibri" pitchFamily="34" charset="0"/>
                <a:ea typeface="Calibri" pitchFamily="34" charset="-122"/>
                <a:cs typeface="Calibri" pitchFamily="34" charset="-120"/>
              </a:rPr>
              <a:t>1 min</a:t>
            </a:r>
            <a:endParaRPr lang="en-US" sz="650" dirty="0"/>
          </a:p>
        </p:txBody>
      </p:sp>
      <p:sp>
        <p:nvSpPr>
          <p:cNvPr id="22" name="Text 18"/>
          <p:cNvSpPr/>
          <p:nvPr/>
        </p:nvSpPr>
        <p:spPr>
          <a:xfrm>
            <a:off x="6263640" y="1417320"/>
            <a:ext cx="2743200" cy="182880"/>
          </a:xfrm>
          <a:prstGeom prst="rect">
            <a:avLst/>
          </a:prstGeom>
          <a:noFill/>
          <a:ln/>
        </p:spPr>
        <p:txBody>
          <a:bodyPr wrap="square" lIns="0" tIns="0" rIns="0" bIns="0" rtlCol="0" anchor="ctr"/>
          <a:lstStyle/>
          <a:p>
            <a:pPr indent="0" marL="0">
              <a:buNone/>
            </a:pPr>
            <a:r>
              <a:rPr lang="en-US" sz="900" b="1" dirty="0">
                <a:solidFill>
                  <a:srgbClr val="2D2D2D"/>
                </a:solidFill>
                <a:latin typeface="Arial" pitchFamily="34" charset="0"/>
                <a:ea typeface="Arial" pitchFamily="34" charset="-122"/>
                <a:cs typeface="Arial" pitchFamily="34" charset="-120"/>
              </a:rPr>
              <a:t>Key Features and Workflow</a:t>
            </a:r>
            <a:endParaRPr lang="en-US" sz="900" dirty="0"/>
          </a:p>
        </p:txBody>
      </p:sp>
      <p:sp>
        <p:nvSpPr>
          <p:cNvPr id="23" name="Shape 19"/>
          <p:cNvSpPr/>
          <p:nvPr/>
        </p:nvSpPr>
        <p:spPr>
          <a:xfrm>
            <a:off x="6263640" y="1618488"/>
            <a:ext cx="804672" cy="256032"/>
          </a:xfrm>
          <a:prstGeom prst="roundRect">
            <a:avLst>
              <a:gd name="adj" fmla="val 12500"/>
            </a:avLst>
          </a:prstGeom>
          <a:solidFill>
            <a:srgbClr val="D04A02"/>
          </a:solidFill>
          <a:ln/>
          <a:effectLst>
            <a:outerShdw sx="100000" sy="100000" kx="0" ky="0" algn="bl" rotWithShape="0" blurRad="1.373981198873032e+66" dist="4.579937329576775e+65" dir="2.5389989167104004e+78">
              <a:srgbClr val="AAAAAA">
                <a:alpha val="2.4999999999999997e+79"/>
              </a:srgbClr>
            </a:outerShdw>
          </a:effectLst>
        </p:spPr>
      </p:sp>
      <p:sp>
        <p:nvSpPr>
          <p:cNvPr id="24" name="Text 20"/>
          <p:cNvSpPr/>
          <p:nvPr/>
        </p:nvSpPr>
        <p:spPr>
          <a:xfrm>
            <a:off x="6263640" y="1618488"/>
            <a:ext cx="804672" cy="256032"/>
          </a:xfrm>
          <a:prstGeom prst="rect">
            <a:avLst/>
          </a:prstGeom>
          <a:noFill/>
          <a:ln/>
        </p:spPr>
        <p:txBody>
          <a:bodyPr wrap="square"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Medical Record Upload</a:t>
            </a:r>
            <a:endParaRPr lang="en-US" sz="550" dirty="0"/>
          </a:p>
        </p:txBody>
      </p:sp>
      <p:sp>
        <p:nvSpPr>
          <p:cNvPr id="25" name="Text 21"/>
          <p:cNvSpPr/>
          <p:nvPr/>
        </p:nvSpPr>
        <p:spPr>
          <a:xfrm>
            <a:off x="7114032" y="1618488"/>
            <a:ext cx="1920240" cy="256032"/>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1000+ page PDFs ingested</a:t>
            </a:r>
            <a:endParaRPr lang="en-US" sz="600" dirty="0"/>
          </a:p>
        </p:txBody>
      </p:sp>
      <p:sp>
        <p:nvSpPr>
          <p:cNvPr id="26" name="Shape 22"/>
          <p:cNvSpPr/>
          <p:nvPr/>
        </p:nvSpPr>
        <p:spPr>
          <a:xfrm>
            <a:off x="6263640" y="1911096"/>
            <a:ext cx="804672" cy="256032"/>
          </a:xfrm>
          <a:prstGeom prst="roundRect">
            <a:avLst>
              <a:gd name="adj" fmla="val 12500"/>
            </a:avLst>
          </a:prstGeom>
          <a:solidFill>
            <a:srgbClr val="D04A02"/>
          </a:solidFill>
          <a:ln/>
          <a:effectLst>
            <a:outerShdw sx="100000" sy="100000" kx="0" ky="0" algn="bl" rotWithShape="0" blurRad="1.7449561225687507e+70" dist="5.816520408562504e+69" dir="1.5233993500262402e+83">
              <a:srgbClr val="AAAAAA">
                <a:alpha val="2.4999999999999996e+84"/>
              </a:srgbClr>
            </a:outerShdw>
          </a:effectLst>
        </p:spPr>
      </p:sp>
      <p:sp>
        <p:nvSpPr>
          <p:cNvPr id="27" name="Text 23"/>
          <p:cNvSpPr/>
          <p:nvPr/>
        </p:nvSpPr>
        <p:spPr>
          <a:xfrm>
            <a:off x="6263640" y="1911096"/>
            <a:ext cx="804672" cy="256032"/>
          </a:xfrm>
          <a:prstGeom prst="rect">
            <a:avLst/>
          </a:prstGeom>
          <a:noFill/>
          <a:ln/>
        </p:spPr>
        <p:txBody>
          <a:bodyPr wrap="square"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OCR Extraction</a:t>
            </a:r>
            <a:endParaRPr lang="en-US" sz="550" dirty="0"/>
          </a:p>
        </p:txBody>
      </p:sp>
      <p:sp>
        <p:nvSpPr>
          <p:cNvPr id="28" name="Text 24"/>
          <p:cNvSpPr/>
          <p:nvPr/>
        </p:nvSpPr>
        <p:spPr>
          <a:xfrm>
            <a:off x="7114032" y="1911096"/>
            <a:ext cx="1920240" cy="256032"/>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Parallel processing (4 workers)</a:t>
            </a:r>
            <a:endParaRPr lang="en-US" sz="600" dirty="0"/>
          </a:p>
        </p:txBody>
      </p:sp>
      <p:sp>
        <p:nvSpPr>
          <p:cNvPr id="29" name="Shape 25"/>
          <p:cNvSpPr/>
          <p:nvPr/>
        </p:nvSpPr>
        <p:spPr>
          <a:xfrm>
            <a:off x="6263640" y="2203704"/>
            <a:ext cx="804672" cy="256032"/>
          </a:xfrm>
          <a:prstGeom prst="roundRect">
            <a:avLst>
              <a:gd name="adj" fmla="val 12500"/>
            </a:avLst>
          </a:prstGeom>
          <a:solidFill>
            <a:srgbClr val="D04A02"/>
          </a:solidFill>
          <a:ln/>
          <a:effectLst>
            <a:outerShdw sx="100000" sy="100000" kx="0" ky="0" algn="bl" rotWithShape="0" blurRad="2.2160942756623134e+74" dist="7.38698091887438e+73" dir="9.14039610015744e+87">
              <a:srgbClr val="AAAAAA">
                <a:alpha val="2.4999999999999996e+89"/>
              </a:srgbClr>
            </a:outerShdw>
          </a:effectLst>
        </p:spPr>
      </p:sp>
      <p:sp>
        <p:nvSpPr>
          <p:cNvPr id="30" name="Text 26"/>
          <p:cNvSpPr/>
          <p:nvPr/>
        </p:nvSpPr>
        <p:spPr>
          <a:xfrm>
            <a:off x="6263640" y="2203704"/>
            <a:ext cx="804672" cy="256032"/>
          </a:xfrm>
          <a:prstGeom prst="rect">
            <a:avLst/>
          </a:prstGeom>
          <a:noFill/>
          <a:ln/>
        </p:spPr>
        <p:txBody>
          <a:bodyPr wrap="square"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AI Summarization</a:t>
            </a:r>
            <a:endParaRPr lang="en-US" sz="550" dirty="0"/>
          </a:p>
        </p:txBody>
      </p:sp>
      <p:sp>
        <p:nvSpPr>
          <p:cNvPr id="31" name="Text 27"/>
          <p:cNvSpPr/>
          <p:nvPr/>
        </p:nvSpPr>
        <p:spPr>
          <a:xfrm>
            <a:off x="7114032" y="2203704"/>
            <a:ext cx="1920240" cy="256032"/>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GPT-5 medical summaries</a:t>
            </a:r>
            <a:endParaRPr lang="en-US" sz="600" dirty="0"/>
          </a:p>
        </p:txBody>
      </p:sp>
      <p:sp>
        <p:nvSpPr>
          <p:cNvPr id="32" name="Shape 28"/>
          <p:cNvSpPr/>
          <p:nvPr/>
        </p:nvSpPr>
        <p:spPr>
          <a:xfrm>
            <a:off x="6263640" y="2496312"/>
            <a:ext cx="804672" cy="256032"/>
          </a:xfrm>
          <a:prstGeom prst="roundRect">
            <a:avLst>
              <a:gd name="adj" fmla="val 12500"/>
            </a:avLst>
          </a:prstGeom>
          <a:solidFill>
            <a:srgbClr val="D04A02"/>
          </a:solidFill>
          <a:ln/>
          <a:effectLst>
            <a:outerShdw sx="100000" sy="100000" kx="0" ky="0" algn="bl" rotWithShape="0" blurRad="2.814439730091138e+78" dist="9.381465766970462e+77" dir="5.484237660094465e+92">
              <a:srgbClr val="AAAAAA">
                <a:alpha val="2.4999999999999997e+94"/>
              </a:srgbClr>
            </a:outerShdw>
          </a:effectLst>
        </p:spPr>
      </p:sp>
      <p:sp>
        <p:nvSpPr>
          <p:cNvPr id="33" name="Text 29"/>
          <p:cNvSpPr/>
          <p:nvPr/>
        </p:nvSpPr>
        <p:spPr>
          <a:xfrm>
            <a:off x="6263640" y="2496312"/>
            <a:ext cx="804672" cy="256032"/>
          </a:xfrm>
          <a:prstGeom prst="rect">
            <a:avLst/>
          </a:prstGeom>
          <a:noFill/>
          <a:ln/>
        </p:spPr>
        <p:txBody>
          <a:bodyPr wrap="square"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Discrepancy Detection</a:t>
            </a:r>
            <a:endParaRPr lang="en-US" sz="550" dirty="0"/>
          </a:p>
        </p:txBody>
      </p:sp>
      <p:sp>
        <p:nvSpPr>
          <p:cNvPr id="34" name="Text 30"/>
          <p:cNvSpPr/>
          <p:nvPr/>
        </p:nvSpPr>
        <p:spPr>
          <a:xfrm>
            <a:off x="7114032" y="2496312"/>
            <a:ext cx="1920240" cy="256032"/>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App vs records comparison</a:t>
            </a:r>
            <a:endParaRPr lang="en-US" sz="600" dirty="0"/>
          </a:p>
        </p:txBody>
      </p:sp>
      <p:sp>
        <p:nvSpPr>
          <p:cNvPr id="35" name="Shape 31"/>
          <p:cNvSpPr/>
          <p:nvPr/>
        </p:nvSpPr>
        <p:spPr>
          <a:xfrm>
            <a:off x="6263640" y="2788920"/>
            <a:ext cx="804672" cy="256032"/>
          </a:xfrm>
          <a:prstGeom prst="roundRect">
            <a:avLst>
              <a:gd name="adj" fmla="val 12500"/>
            </a:avLst>
          </a:prstGeom>
          <a:solidFill>
            <a:srgbClr val="D04A02"/>
          </a:solidFill>
          <a:ln/>
          <a:effectLst>
            <a:outerShdw sx="100000" sy="100000" kx="0" ky="0" algn="bl" rotWithShape="0" blurRad="3.574338457215745e+82" dist="1.1914461524052487e+82" dir="3.2905425960566786e+97">
              <a:srgbClr val="AAAAAA">
                <a:alpha val="2.4999999999999996e+99"/>
              </a:srgbClr>
            </a:outerShdw>
          </a:effectLst>
        </p:spPr>
      </p:sp>
      <p:sp>
        <p:nvSpPr>
          <p:cNvPr id="36" name="Text 32"/>
          <p:cNvSpPr/>
          <p:nvPr/>
        </p:nvSpPr>
        <p:spPr>
          <a:xfrm>
            <a:off x="6263640" y="2788920"/>
            <a:ext cx="804672" cy="256032"/>
          </a:xfrm>
          <a:prstGeom prst="rect">
            <a:avLst/>
          </a:prstGeom>
          <a:noFill/>
          <a:ln/>
        </p:spPr>
        <p:txBody>
          <a:bodyPr wrap="square"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Q&amp;A with Citations</a:t>
            </a:r>
            <a:endParaRPr lang="en-US" sz="550" dirty="0"/>
          </a:p>
        </p:txBody>
      </p:sp>
      <p:sp>
        <p:nvSpPr>
          <p:cNvPr id="37" name="Text 33"/>
          <p:cNvSpPr/>
          <p:nvPr/>
        </p:nvSpPr>
        <p:spPr>
          <a:xfrm>
            <a:off x="7114032" y="2788920"/>
            <a:ext cx="1920240" cy="256032"/>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Natural language + page refs</a:t>
            </a:r>
            <a:endParaRPr lang="en-US" sz="600" dirty="0"/>
          </a:p>
        </p:txBody>
      </p:sp>
      <p:sp>
        <p:nvSpPr>
          <p:cNvPr id="38" name="Text 34"/>
          <p:cNvSpPr/>
          <p:nvPr/>
        </p:nvSpPr>
        <p:spPr>
          <a:xfrm>
            <a:off x="6263640" y="3154680"/>
            <a:ext cx="2286000" cy="146304"/>
          </a:xfrm>
          <a:prstGeom prst="rect">
            <a:avLst/>
          </a:prstGeom>
          <a:noFill/>
          <a:ln/>
        </p:spPr>
        <p:txBody>
          <a:bodyPr wrap="square" lIns="0" tIns="0" rIns="0" bIns="0" rtlCol="0" anchor="ctr"/>
          <a:lstStyle/>
          <a:p>
            <a:pPr indent="0" marL="0">
              <a:buNone/>
            </a:pPr>
            <a:r>
              <a:rPr lang="en-US" sz="700" b="1" dirty="0">
                <a:solidFill>
                  <a:srgbClr val="D04A02"/>
                </a:solidFill>
                <a:latin typeface="Arial" pitchFamily="34" charset="0"/>
                <a:ea typeface="Arial" pitchFamily="34" charset="-122"/>
                <a:cs typeface="Arial" pitchFamily="34" charset="-120"/>
              </a:rPr>
              <a:t>Azure Cost per Case</a:t>
            </a:r>
            <a:endParaRPr lang="en-US" sz="700" dirty="0"/>
          </a:p>
        </p:txBody>
      </p:sp>
      <p:pic>
        <p:nvPicPr>
          <p:cNvPr id="39" name="Image 2" descr="preencoded.png">    </p:cNvPr>
          <p:cNvPicPr>
            <a:picLocks noChangeAspect="1"/>
          </p:cNvPicPr>
          <p:nvPr/>
        </p:nvPicPr>
        <p:blipFill>
          <a:blip r:embed="rId3"/>
          <a:stretch>
            <a:fillRect/>
          </a:stretch>
        </p:blipFill>
        <p:spPr>
          <a:xfrm>
            <a:off x="6263640" y="3328416"/>
            <a:ext cx="91440" cy="91440"/>
          </a:xfrm>
          <a:prstGeom prst="rect">
            <a:avLst/>
          </a:prstGeom>
        </p:spPr>
      </p:pic>
      <p:sp>
        <p:nvSpPr>
          <p:cNvPr id="40" name="Text 35"/>
          <p:cNvSpPr/>
          <p:nvPr/>
        </p:nvSpPr>
        <p:spPr>
          <a:xfrm>
            <a:off x="6391656" y="3314700"/>
            <a:ext cx="2011680" cy="128016"/>
          </a:xfrm>
          <a:prstGeom prst="rect">
            <a:avLst/>
          </a:prstGeom>
          <a:noFill/>
          <a:ln/>
        </p:spPr>
        <p:txBody>
          <a:bodyPr wrap="square" lIns="0" tIns="0" rIns="0" bIns="0" rtlCol="0" anchor="ctr"/>
          <a:lstStyle/>
          <a:p>
            <a:pPr indent="0" marL="0">
              <a:buNone/>
            </a:pPr>
            <a:r>
              <a:rPr lang="en-US" sz="600" dirty="0">
                <a:solidFill>
                  <a:srgbClr val="5C5C5C"/>
                </a:solidFill>
                <a:latin typeface="Calibri" pitchFamily="34" charset="0"/>
                <a:ea typeface="Calibri" pitchFamily="34" charset="-122"/>
                <a:cs typeface="Calibri" pitchFamily="34" charset="-120"/>
              </a:rPr>
              <a:t>Doc Intelligence: $1.50</a:t>
            </a:r>
            <a:endParaRPr lang="en-US" sz="600" dirty="0"/>
          </a:p>
        </p:txBody>
      </p:sp>
      <p:pic>
        <p:nvPicPr>
          <p:cNvPr id="41" name="Image 3" descr="preencoded.png">    </p:cNvPr>
          <p:cNvPicPr>
            <a:picLocks noChangeAspect="1"/>
          </p:cNvPicPr>
          <p:nvPr/>
        </p:nvPicPr>
        <p:blipFill>
          <a:blip r:embed="rId4"/>
          <a:stretch>
            <a:fillRect/>
          </a:stretch>
        </p:blipFill>
        <p:spPr>
          <a:xfrm>
            <a:off x="6263640" y="3470148"/>
            <a:ext cx="91440" cy="91440"/>
          </a:xfrm>
          <a:prstGeom prst="rect">
            <a:avLst/>
          </a:prstGeom>
        </p:spPr>
      </p:pic>
      <p:sp>
        <p:nvSpPr>
          <p:cNvPr id="42" name="Text 36"/>
          <p:cNvSpPr/>
          <p:nvPr/>
        </p:nvSpPr>
        <p:spPr>
          <a:xfrm>
            <a:off x="6391656" y="3456432"/>
            <a:ext cx="2011680" cy="128016"/>
          </a:xfrm>
          <a:prstGeom prst="rect">
            <a:avLst/>
          </a:prstGeom>
          <a:noFill/>
          <a:ln/>
        </p:spPr>
        <p:txBody>
          <a:bodyPr wrap="square" lIns="0" tIns="0" rIns="0" bIns="0" rtlCol="0" anchor="ctr"/>
          <a:lstStyle/>
          <a:p>
            <a:pPr indent="0" marL="0">
              <a:buNone/>
            </a:pPr>
            <a:r>
              <a:rPr lang="en-US" sz="600" dirty="0">
                <a:solidFill>
                  <a:srgbClr val="5C5C5C"/>
                </a:solidFill>
                <a:latin typeface="Calibri" pitchFamily="34" charset="0"/>
                <a:ea typeface="Calibri" pitchFamily="34" charset="-122"/>
                <a:cs typeface="Calibri" pitchFamily="34" charset="-120"/>
              </a:rPr>
              <a:t>GPT-5: $1.13</a:t>
            </a:r>
            <a:endParaRPr lang="en-US" sz="600" dirty="0"/>
          </a:p>
        </p:txBody>
      </p:sp>
      <p:pic>
        <p:nvPicPr>
          <p:cNvPr id="43" name="Image 4" descr="preencoded.png">    </p:cNvPr>
          <p:cNvPicPr>
            <a:picLocks noChangeAspect="1"/>
          </p:cNvPicPr>
          <p:nvPr/>
        </p:nvPicPr>
        <p:blipFill>
          <a:blip r:embed="rId5"/>
          <a:stretch>
            <a:fillRect/>
          </a:stretch>
        </p:blipFill>
        <p:spPr>
          <a:xfrm>
            <a:off x="6263640" y="3611880"/>
            <a:ext cx="91440" cy="91440"/>
          </a:xfrm>
          <a:prstGeom prst="rect">
            <a:avLst/>
          </a:prstGeom>
        </p:spPr>
      </p:pic>
      <p:sp>
        <p:nvSpPr>
          <p:cNvPr id="44" name="Text 37"/>
          <p:cNvSpPr/>
          <p:nvPr/>
        </p:nvSpPr>
        <p:spPr>
          <a:xfrm>
            <a:off x="6391656" y="3598164"/>
            <a:ext cx="2011680" cy="128016"/>
          </a:xfrm>
          <a:prstGeom prst="rect">
            <a:avLst/>
          </a:prstGeom>
          <a:noFill/>
          <a:ln/>
        </p:spPr>
        <p:txBody>
          <a:bodyPr wrap="square" lIns="0" tIns="0" rIns="0" bIns="0" rtlCol="0" anchor="ctr"/>
          <a:lstStyle/>
          <a:p>
            <a:pPr indent="0" marL="0">
              <a:buNone/>
            </a:pPr>
            <a:r>
              <a:rPr lang="en-US" sz="600" dirty="0">
                <a:solidFill>
                  <a:srgbClr val="5C5C5C"/>
                </a:solidFill>
                <a:latin typeface="Calibri" pitchFamily="34" charset="0"/>
                <a:ea typeface="Calibri" pitchFamily="34" charset="-122"/>
                <a:cs typeface="Calibri" pitchFamily="34" charset="-120"/>
              </a:rPr>
              <a:t>Embeddings: $0.07</a:t>
            </a:r>
            <a:endParaRPr lang="en-US" sz="600" dirty="0"/>
          </a:p>
        </p:txBody>
      </p:sp>
      <p:pic>
        <p:nvPicPr>
          <p:cNvPr id="45" name="Image 5" descr="preencoded.png">    </p:cNvPr>
          <p:cNvPicPr>
            <a:picLocks noChangeAspect="1"/>
          </p:cNvPicPr>
          <p:nvPr/>
        </p:nvPicPr>
        <p:blipFill>
          <a:blip r:embed="rId6"/>
          <a:stretch>
            <a:fillRect/>
          </a:stretch>
        </p:blipFill>
        <p:spPr>
          <a:xfrm>
            <a:off x="6263640" y="3753612"/>
            <a:ext cx="91440" cy="91440"/>
          </a:xfrm>
          <a:prstGeom prst="rect">
            <a:avLst/>
          </a:prstGeom>
        </p:spPr>
      </p:pic>
      <p:sp>
        <p:nvSpPr>
          <p:cNvPr id="46" name="Text 38"/>
          <p:cNvSpPr/>
          <p:nvPr/>
        </p:nvSpPr>
        <p:spPr>
          <a:xfrm>
            <a:off x="6391656" y="3739896"/>
            <a:ext cx="2011680" cy="128016"/>
          </a:xfrm>
          <a:prstGeom prst="rect">
            <a:avLst/>
          </a:prstGeom>
          <a:noFill/>
          <a:ln/>
        </p:spPr>
        <p:txBody>
          <a:bodyPr wrap="square" lIns="0" tIns="0" rIns="0" bIns="0" rtlCol="0" anchor="ctr"/>
          <a:lstStyle/>
          <a:p>
            <a:pPr indent="0" marL="0">
              <a:buNone/>
            </a:pPr>
            <a:r>
              <a:rPr lang="en-US" sz="600" dirty="0">
                <a:solidFill>
                  <a:srgbClr val="5C5C5C"/>
                </a:solidFill>
                <a:latin typeface="Calibri" pitchFamily="34" charset="0"/>
                <a:ea typeface="Calibri" pitchFamily="34" charset="-122"/>
                <a:cs typeface="Calibri" pitchFamily="34" charset="-120"/>
              </a:rPr>
              <a:t>Compute: $1.22</a:t>
            </a:r>
            <a:endParaRPr lang="en-US" sz="600" dirty="0"/>
          </a:p>
        </p:txBody>
      </p:sp>
      <p:pic>
        <p:nvPicPr>
          <p:cNvPr id="47" name="Image 6" descr="preencoded.png">    </p:cNvPr>
          <p:cNvPicPr>
            <a:picLocks noChangeAspect="1"/>
          </p:cNvPicPr>
          <p:nvPr/>
        </p:nvPicPr>
        <p:blipFill>
          <a:blip r:embed="rId7"/>
          <a:stretch>
            <a:fillRect/>
          </a:stretch>
        </p:blipFill>
        <p:spPr>
          <a:xfrm>
            <a:off x="6263640" y="3895344"/>
            <a:ext cx="91440" cy="91440"/>
          </a:xfrm>
          <a:prstGeom prst="rect">
            <a:avLst/>
          </a:prstGeom>
        </p:spPr>
      </p:pic>
      <p:sp>
        <p:nvSpPr>
          <p:cNvPr id="48" name="Text 39"/>
          <p:cNvSpPr/>
          <p:nvPr/>
        </p:nvSpPr>
        <p:spPr>
          <a:xfrm>
            <a:off x="6391656" y="3881628"/>
            <a:ext cx="2011680" cy="128016"/>
          </a:xfrm>
          <a:prstGeom prst="rect">
            <a:avLst/>
          </a:prstGeom>
          <a:noFill/>
          <a:ln/>
        </p:spPr>
        <p:txBody>
          <a:bodyPr wrap="square" lIns="0" tIns="0" rIns="0" bIns="0" rtlCol="0" anchor="ctr"/>
          <a:lstStyle/>
          <a:p>
            <a:pPr indent="0" marL="0">
              <a:buNone/>
            </a:pPr>
            <a:r>
              <a:rPr lang="en-US" sz="600" b="1" dirty="0">
                <a:solidFill>
                  <a:srgbClr val="5C5C5C"/>
                </a:solidFill>
                <a:latin typeface="Calibri" pitchFamily="34" charset="0"/>
                <a:ea typeface="Calibri" pitchFamily="34" charset="-122"/>
                <a:cs typeface="Calibri" pitchFamily="34" charset="-120"/>
              </a:rPr>
              <a:t>Total: $3.91/case</a:t>
            </a:r>
            <a:endParaRPr lang="en-US" sz="600" dirty="0"/>
          </a:p>
        </p:txBody>
      </p:sp>
      <p:sp>
        <p:nvSpPr>
          <p:cNvPr id="49" name="Shape 40"/>
          <p:cNvSpPr/>
          <p:nvPr/>
        </p:nvSpPr>
        <p:spPr>
          <a:xfrm>
            <a:off x="274320" y="3246120"/>
            <a:ext cx="2286000" cy="201168"/>
          </a:xfrm>
          <a:prstGeom prst="roundRect">
            <a:avLst>
              <a:gd name="adj" fmla="val 13636"/>
            </a:avLst>
          </a:prstGeom>
          <a:solidFill>
            <a:srgbClr val="E8713A"/>
          </a:solidFill>
          <a:ln/>
          <a:effectLst>
            <a:outerShdw sx="100000" sy="100000" kx="0" ky="0" algn="bl" rotWithShape="0" blurRad="4.539409840663996e+86" dist="1.5131366135546659e+86" dir="1.9743255576340073e+102">
              <a:srgbClr val="AAAAAA">
                <a:alpha val="2.4999999999999995e+104"/>
              </a:srgbClr>
            </a:outerShdw>
          </a:effectLst>
        </p:spPr>
      </p:sp>
      <p:sp>
        <p:nvSpPr>
          <p:cNvPr id="50" name="Text 41"/>
          <p:cNvSpPr/>
          <p:nvPr/>
        </p:nvSpPr>
        <p:spPr>
          <a:xfrm>
            <a:off x="347472" y="3246120"/>
            <a:ext cx="2194560" cy="20116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Qualitative Impact</a:t>
            </a:r>
            <a:endParaRPr lang="en-US" sz="800" dirty="0"/>
          </a:p>
        </p:txBody>
      </p:sp>
      <p:sp>
        <p:nvSpPr>
          <p:cNvPr id="51" name="Text 42"/>
          <p:cNvSpPr/>
          <p:nvPr/>
        </p:nvSpPr>
        <p:spPr>
          <a:xfrm>
            <a:off x="274320" y="3474720"/>
            <a:ext cx="2286000" cy="1097280"/>
          </a:xfrm>
          <a:prstGeom prst="rect">
            <a:avLst/>
          </a:prstGeom>
          <a:noFill/>
          <a:ln/>
        </p:spPr>
        <p:txBody>
          <a:bodyPr wrap="square" rtlCol="0" anchor="t"/>
          <a:lstStyle/>
          <a:p>
            <a:pPr indent="0" marL="0">
              <a:buNone/>
            </a:pPr>
            <a:r>
              <a:rPr lang="en-US" sz="650" b="1" dirty="0">
                <a:solidFill>
                  <a:srgbClr val="5C5C5C"/>
                </a:solidFill>
                <a:latin typeface="Calibri" pitchFamily="34" charset="0"/>
                <a:ea typeface="Calibri" pitchFamily="34" charset="-122"/>
                <a:cs typeface="Calibri" pitchFamily="34" charset="-120"/>
              </a:rPr>
              <a:t>Consistency: </a:t>
            </a:r>
            <a:pPr indent="0" marL="0">
              <a:buNone/>
            </a:pPr>
            <a:r>
              <a:rPr lang="en-US" sz="650" dirty="0">
                <a:solidFill>
                  <a:srgbClr val="5C5C5C"/>
                </a:solidFill>
                <a:latin typeface="Calibri" pitchFamily="34" charset="0"/>
                <a:ea typeface="Calibri" pitchFamily="34" charset="-122"/>
                <a:cs typeface="Calibri" pitchFamily="34" charset="-120"/>
              </a:rPr>
              <a:t>Eliminates reviewer variability</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Compliance: </a:t>
            </a:r>
            <a:pPr indent="0" marL="0">
              <a:buNone/>
            </a:pPr>
            <a:r>
              <a:rPr lang="en-US" sz="650" dirty="0">
                <a:solidFill>
                  <a:srgbClr val="5C5C5C"/>
                </a:solidFill>
                <a:latin typeface="Calibri" pitchFamily="34" charset="0"/>
                <a:ea typeface="Calibri" pitchFamily="34" charset="-122"/>
                <a:cs typeface="Calibri" pitchFamily="34" charset="-120"/>
              </a:rPr>
              <a:t>Audit trails with citations for HIPAA</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Customer Experience: </a:t>
            </a:r>
            <a:pPr indent="0" marL="0">
              <a:buNone/>
            </a:pPr>
            <a:r>
              <a:rPr lang="en-US" sz="650" dirty="0">
                <a:solidFill>
                  <a:srgbClr val="5C5C5C"/>
                </a:solidFill>
                <a:latin typeface="Calibri" pitchFamily="34" charset="0"/>
                <a:ea typeface="Calibri" pitchFamily="34" charset="-122"/>
                <a:cs typeface="Calibri" pitchFamily="34" charset="-120"/>
              </a:rPr>
              <a:t>Same-day vs 2-3 weeks</a:t>
            </a:r>
            <a:endParaRPr lang="en-US" sz="650" dirty="0"/>
          </a:p>
        </p:txBody>
      </p:sp>
      <p:sp>
        <p:nvSpPr>
          <p:cNvPr id="52" name="Shape 43"/>
          <p:cNvSpPr/>
          <p:nvPr/>
        </p:nvSpPr>
        <p:spPr>
          <a:xfrm>
            <a:off x="2651760" y="3246120"/>
            <a:ext cx="1005840" cy="201168"/>
          </a:xfrm>
          <a:prstGeom prst="roundRect">
            <a:avLst>
              <a:gd name="adj" fmla="val 13636"/>
            </a:avLst>
          </a:prstGeom>
          <a:solidFill>
            <a:srgbClr val="E8713A"/>
          </a:solidFill>
          <a:ln/>
          <a:effectLst>
            <a:outerShdw sx="100000" sy="100000" kx="0" ky="0" algn="bl" rotWithShape="0" blurRad="5.765050497643275e+90" dist="1.9216834992144256e+90" dir="1.1845953345804043e+107">
              <a:srgbClr val="AAAAAA">
                <a:alpha val="2.4999999999999996e+109"/>
              </a:srgbClr>
            </a:outerShdw>
          </a:effectLst>
        </p:spPr>
      </p:sp>
      <p:sp>
        <p:nvSpPr>
          <p:cNvPr id="53" name="Text 44"/>
          <p:cNvSpPr/>
          <p:nvPr/>
        </p:nvSpPr>
        <p:spPr>
          <a:xfrm>
            <a:off x="2697480" y="3246120"/>
            <a:ext cx="960120" cy="20116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By the Numbers</a:t>
            </a:r>
            <a:endParaRPr lang="en-US" sz="800" dirty="0"/>
          </a:p>
        </p:txBody>
      </p:sp>
      <p:sp>
        <p:nvSpPr>
          <p:cNvPr id="54" name="Shape 45"/>
          <p:cNvSpPr/>
          <p:nvPr/>
        </p:nvSpPr>
        <p:spPr>
          <a:xfrm>
            <a:off x="2651760" y="3520440"/>
            <a:ext cx="868680" cy="1051560"/>
          </a:xfrm>
          <a:prstGeom prst="roundRect">
            <a:avLst>
              <a:gd name="adj" fmla="val 5263"/>
            </a:avLst>
          </a:prstGeom>
          <a:solidFill>
            <a:srgbClr val="2E8B57"/>
          </a:solidFill>
          <a:ln/>
          <a:effectLst>
            <a:outerShdw sx="100000" sy="100000" kx="0" ky="0" algn="bl" rotWithShape="0" blurRad="1.65191847035e+21" dist="660767388140000000000" dir="6.9984e+25">
              <a:srgbClr val="9E9E9E">
                <a:alpha val="3e+24"/>
              </a:srgbClr>
            </a:outerShdw>
          </a:effectLst>
        </p:spPr>
      </p:sp>
      <p:sp>
        <p:nvSpPr>
          <p:cNvPr id="55" name="Text 46"/>
          <p:cNvSpPr/>
          <p:nvPr/>
        </p:nvSpPr>
        <p:spPr>
          <a:xfrm>
            <a:off x="2651760" y="3602736"/>
            <a:ext cx="86868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720×</a:t>
            </a:r>
            <a:endParaRPr lang="en-US" sz="1400" dirty="0"/>
          </a:p>
        </p:txBody>
      </p:sp>
      <p:sp>
        <p:nvSpPr>
          <p:cNvPr id="56" name="Shape 47"/>
          <p:cNvSpPr/>
          <p:nvPr/>
        </p:nvSpPr>
        <p:spPr>
          <a:xfrm>
            <a:off x="2907792" y="3950208"/>
            <a:ext cx="356616" cy="12802"/>
          </a:xfrm>
          <a:prstGeom prst="rect">
            <a:avLst/>
          </a:prstGeom>
          <a:solidFill>
            <a:srgbClr val="FFFFFF"/>
          </a:solidFill>
          <a:ln/>
        </p:spPr>
      </p:sp>
      <p:sp>
        <p:nvSpPr>
          <p:cNvPr id="57" name="Text 48"/>
          <p:cNvSpPr/>
          <p:nvPr/>
        </p:nvSpPr>
        <p:spPr>
          <a:xfrm>
            <a:off x="2697480" y="4005072"/>
            <a:ext cx="777240" cy="530352"/>
          </a:xfrm>
          <a:prstGeom prst="rect">
            <a:avLst/>
          </a:prstGeom>
          <a:noFill/>
          <a:ln/>
        </p:spPr>
        <p:txBody>
          <a:bodyPr wrap="square"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faster</a:t>
            </a:r>
            <a:endParaRPr lang="en-US" sz="600" dirty="0"/>
          </a:p>
          <a:p>
            <a:pPr algn="ctr" indent="0" marL="0">
              <a:buNone/>
            </a:pPr>
            <a:r>
              <a:rPr lang="en-US" sz="600" dirty="0">
                <a:solidFill>
                  <a:srgbClr val="FFFFFF"/>
                </a:solidFill>
                <a:latin typeface="Calibri" pitchFamily="34" charset="0"/>
                <a:ea typeface="Calibri" pitchFamily="34" charset="-122"/>
                <a:cs typeface="Calibri" pitchFamily="34" charset="-120"/>
              </a:rPr>
              <a:t>(144h→12m)</a:t>
            </a:r>
            <a:endParaRPr lang="en-US" sz="600" dirty="0"/>
          </a:p>
        </p:txBody>
      </p:sp>
      <p:sp>
        <p:nvSpPr>
          <p:cNvPr id="58" name="Shape 49"/>
          <p:cNvSpPr/>
          <p:nvPr/>
        </p:nvSpPr>
        <p:spPr>
          <a:xfrm>
            <a:off x="3566160" y="3520440"/>
            <a:ext cx="868680" cy="1051560"/>
          </a:xfrm>
          <a:prstGeom prst="roundRect">
            <a:avLst>
              <a:gd name="adj" fmla="val 5263"/>
            </a:avLst>
          </a:prstGeom>
          <a:solidFill>
            <a:srgbClr val="2E8B57"/>
          </a:solidFill>
          <a:ln/>
          <a:effectLst>
            <a:outerShdw sx="100000" sy="100000" kx="0" ky="0" algn="bl" rotWithShape="0" blurRad="2.0979364573445003e+25" dist="8.391745829378e+24" dir="4.19904e+30">
              <a:srgbClr val="9E9E9E">
                <a:alpha val="3e+29"/>
              </a:srgbClr>
            </a:outerShdw>
          </a:effectLst>
        </p:spPr>
      </p:sp>
      <p:sp>
        <p:nvSpPr>
          <p:cNvPr id="59" name="Text 50"/>
          <p:cNvSpPr/>
          <p:nvPr/>
        </p:nvSpPr>
        <p:spPr>
          <a:xfrm>
            <a:off x="3566160" y="3602736"/>
            <a:ext cx="86868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$872K</a:t>
            </a:r>
            <a:endParaRPr lang="en-US" sz="1400" dirty="0"/>
          </a:p>
        </p:txBody>
      </p:sp>
      <p:sp>
        <p:nvSpPr>
          <p:cNvPr id="60" name="Shape 51"/>
          <p:cNvSpPr/>
          <p:nvPr/>
        </p:nvSpPr>
        <p:spPr>
          <a:xfrm>
            <a:off x="3822192" y="3950208"/>
            <a:ext cx="356616" cy="12802"/>
          </a:xfrm>
          <a:prstGeom prst="rect">
            <a:avLst/>
          </a:prstGeom>
          <a:solidFill>
            <a:srgbClr val="FFFFFF"/>
          </a:solidFill>
          <a:ln/>
        </p:spPr>
      </p:sp>
      <p:sp>
        <p:nvSpPr>
          <p:cNvPr id="61" name="Text 52"/>
          <p:cNvSpPr/>
          <p:nvPr/>
        </p:nvSpPr>
        <p:spPr>
          <a:xfrm>
            <a:off x="3611880" y="4005072"/>
            <a:ext cx="777240" cy="530352"/>
          </a:xfrm>
          <a:prstGeom prst="rect">
            <a:avLst/>
          </a:prstGeom>
          <a:noFill/>
          <a:ln/>
        </p:spPr>
        <p:txBody>
          <a:bodyPr wrap="square"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annual</a:t>
            </a:r>
            <a:endParaRPr lang="en-US" sz="600" dirty="0"/>
          </a:p>
          <a:p>
            <a:pPr algn="ctr" indent="0" marL="0">
              <a:buNone/>
            </a:pPr>
            <a:r>
              <a:rPr lang="en-US" sz="600" dirty="0">
                <a:solidFill>
                  <a:srgbClr val="FFFFFF"/>
                </a:solidFill>
                <a:latin typeface="Calibri" pitchFamily="34" charset="0"/>
                <a:ea typeface="Calibri" pitchFamily="34" charset="-122"/>
                <a:cs typeface="Calibri" pitchFamily="34" charset="-120"/>
              </a:rPr>
              <a:t>savings</a:t>
            </a:r>
            <a:endParaRPr lang="en-US" sz="600" dirty="0"/>
          </a:p>
        </p:txBody>
      </p:sp>
      <p:sp>
        <p:nvSpPr>
          <p:cNvPr id="62" name="Shape 53"/>
          <p:cNvSpPr/>
          <p:nvPr/>
        </p:nvSpPr>
        <p:spPr>
          <a:xfrm>
            <a:off x="4480560" y="3520440"/>
            <a:ext cx="868680" cy="1051560"/>
          </a:xfrm>
          <a:prstGeom prst="roundRect">
            <a:avLst>
              <a:gd name="adj" fmla="val 5263"/>
            </a:avLst>
          </a:prstGeom>
          <a:solidFill>
            <a:srgbClr val="2E8B57"/>
          </a:solidFill>
          <a:ln/>
          <a:effectLst>
            <a:outerShdw sx="100000" sy="100000" kx="0" ky="0" algn="bl" rotWithShape="0" blurRad="2.6643793008275154e+29" dist="1.0657517203310059e+29" dir="2.519424e+35">
              <a:srgbClr val="9E9E9E">
                <a:alpha val="2.9999999999999997e+34"/>
              </a:srgbClr>
            </a:outerShdw>
          </a:effectLst>
        </p:spPr>
      </p:sp>
      <p:sp>
        <p:nvSpPr>
          <p:cNvPr id="63" name="Text 54"/>
          <p:cNvSpPr/>
          <p:nvPr/>
        </p:nvSpPr>
        <p:spPr>
          <a:xfrm>
            <a:off x="4480560" y="3602736"/>
            <a:ext cx="86868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235×</a:t>
            </a:r>
            <a:endParaRPr lang="en-US" sz="1400" dirty="0"/>
          </a:p>
        </p:txBody>
      </p:sp>
      <p:sp>
        <p:nvSpPr>
          <p:cNvPr id="64" name="Shape 55"/>
          <p:cNvSpPr/>
          <p:nvPr/>
        </p:nvSpPr>
        <p:spPr>
          <a:xfrm>
            <a:off x="4736592" y="3950208"/>
            <a:ext cx="356616" cy="12802"/>
          </a:xfrm>
          <a:prstGeom prst="rect">
            <a:avLst/>
          </a:prstGeom>
          <a:solidFill>
            <a:srgbClr val="FFFFFF"/>
          </a:solidFill>
          <a:ln/>
        </p:spPr>
      </p:sp>
      <p:sp>
        <p:nvSpPr>
          <p:cNvPr id="65" name="Text 56"/>
          <p:cNvSpPr/>
          <p:nvPr/>
        </p:nvSpPr>
        <p:spPr>
          <a:xfrm>
            <a:off x="4526280" y="4005072"/>
            <a:ext cx="777240" cy="530352"/>
          </a:xfrm>
          <a:prstGeom prst="rect">
            <a:avLst/>
          </a:prstGeom>
          <a:noFill/>
          <a:ln/>
        </p:spPr>
        <p:txBody>
          <a:bodyPr wrap="square"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cheaper</a:t>
            </a:r>
            <a:endParaRPr lang="en-US" sz="600" dirty="0"/>
          </a:p>
          <a:p>
            <a:pPr algn="ctr" indent="0" marL="0">
              <a:buNone/>
            </a:pPr>
            <a:r>
              <a:rPr lang="en-US" sz="600" dirty="0">
                <a:solidFill>
                  <a:srgbClr val="FFFFFF"/>
                </a:solidFill>
                <a:latin typeface="Calibri" pitchFamily="34" charset="0"/>
                <a:ea typeface="Calibri" pitchFamily="34" charset="-122"/>
                <a:cs typeface="Calibri" pitchFamily="34" charset="-120"/>
              </a:rPr>
              <a:t>per case</a:t>
            </a:r>
            <a:endParaRPr lang="en-US" sz="600" dirty="0"/>
          </a:p>
        </p:txBody>
      </p:sp>
      <p:sp>
        <p:nvSpPr>
          <p:cNvPr id="66" name="Shape 57"/>
          <p:cNvSpPr/>
          <p:nvPr/>
        </p:nvSpPr>
        <p:spPr>
          <a:xfrm>
            <a:off x="5394960" y="3520440"/>
            <a:ext cx="868680" cy="1051560"/>
          </a:xfrm>
          <a:prstGeom prst="roundRect">
            <a:avLst>
              <a:gd name="adj" fmla="val 5263"/>
            </a:avLst>
          </a:prstGeom>
          <a:solidFill>
            <a:srgbClr val="2E8B57"/>
          </a:solidFill>
          <a:ln/>
          <a:effectLst>
            <a:outerShdw sx="100000" sy="100000" kx="0" ky="0" algn="bl" rotWithShape="0" blurRad="3.3837617120509443e+33" dist="1.3535046848203775e+33" dir="1.5116544e+40">
              <a:srgbClr val="9E9E9E">
                <a:alpha val="3e+39"/>
              </a:srgbClr>
            </a:outerShdw>
          </a:effectLst>
        </p:spPr>
      </p:sp>
      <p:sp>
        <p:nvSpPr>
          <p:cNvPr id="67" name="Text 58"/>
          <p:cNvSpPr/>
          <p:nvPr/>
        </p:nvSpPr>
        <p:spPr>
          <a:xfrm>
            <a:off x="5394960" y="3602736"/>
            <a:ext cx="86868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52×</a:t>
            </a:r>
            <a:endParaRPr lang="en-US" sz="1400" dirty="0"/>
          </a:p>
        </p:txBody>
      </p:sp>
      <p:sp>
        <p:nvSpPr>
          <p:cNvPr id="68" name="Shape 59"/>
          <p:cNvSpPr/>
          <p:nvPr/>
        </p:nvSpPr>
        <p:spPr>
          <a:xfrm>
            <a:off x="5650992" y="3950208"/>
            <a:ext cx="356616" cy="12802"/>
          </a:xfrm>
          <a:prstGeom prst="rect">
            <a:avLst/>
          </a:prstGeom>
          <a:solidFill>
            <a:srgbClr val="FFFFFF"/>
          </a:solidFill>
          <a:ln/>
        </p:spPr>
      </p:sp>
      <p:sp>
        <p:nvSpPr>
          <p:cNvPr id="69" name="Text 60"/>
          <p:cNvSpPr/>
          <p:nvPr/>
        </p:nvSpPr>
        <p:spPr>
          <a:xfrm>
            <a:off x="5440680" y="4005072"/>
            <a:ext cx="777240" cy="530352"/>
          </a:xfrm>
          <a:prstGeom prst="rect">
            <a:avLst/>
          </a:prstGeom>
          <a:noFill/>
          <a:ln/>
        </p:spPr>
        <p:txBody>
          <a:bodyPr wrap="square"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more</a:t>
            </a:r>
            <a:endParaRPr lang="en-US" sz="600" dirty="0"/>
          </a:p>
          <a:p>
            <a:pPr algn="ctr" indent="0" marL="0">
              <a:buNone/>
            </a:pPr>
            <a:r>
              <a:rPr lang="en-US" sz="600" dirty="0">
                <a:solidFill>
                  <a:srgbClr val="FFFFFF"/>
                </a:solidFill>
                <a:latin typeface="Calibri" pitchFamily="34" charset="0"/>
                <a:ea typeface="Calibri" pitchFamily="34" charset="-122"/>
                <a:cs typeface="Calibri" pitchFamily="34" charset="-120"/>
              </a:rPr>
              <a:t>capacity</a:t>
            </a:r>
            <a:endParaRPr lang="en-US" sz="600" dirty="0"/>
          </a:p>
        </p:txBody>
      </p:sp>
      <p:sp>
        <p:nvSpPr>
          <p:cNvPr id="70" name="Shape 61"/>
          <p:cNvSpPr/>
          <p:nvPr/>
        </p:nvSpPr>
        <p:spPr>
          <a:xfrm>
            <a:off x="274320" y="4846320"/>
            <a:ext cx="8595360" cy="7315"/>
          </a:xfrm>
          <a:prstGeom prst="rect">
            <a:avLst/>
          </a:prstGeom>
          <a:solidFill>
            <a:srgbClr val="D9D9D9"/>
          </a:solidFill>
          <a:ln/>
        </p:spPr>
      </p:sp>
      <p:sp>
        <p:nvSpPr>
          <p:cNvPr id="71" name="Shape 62"/>
          <p:cNvSpPr/>
          <p:nvPr/>
        </p:nvSpPr>
        <p:spPr>
          <a:xfrm>
            <a:off x="274320" y="4919472"/>
            <a:ext cx="82296" cy="82296"/>
          </a:xfrm>
          <a:prstGeom prst="rect">
            <a:avLst/>
          </a:prstGeom>
          <a:solidFill>
            <a:srgbClr val="D04A02"/>
          </a:solidFill>
          <a:ln/>
        </p:spPr>
      </p:sp>
      <p:sp>
        <p:nvSpPr>
          <p:cNvPr id="72" name="Text 63"/>
          <p:cNvSpPr/>
          <p:nvPr/>
        </p:nvSpPr>
        <p:spPr>
          <a:xfrm>
            <a:off x="411480" y="4873752"/>
            <a:ext cx="3657600" cy="182880"/>
          </a:xfrm>
          <a:prstGeom prst="rect">
            <a:avLst/>
          </a:prstGeom>
          <a:noFill/>
          <a:ln/>
        </p:spPr>
        <p:txBody>
          <a:bodyPr wrap="square" lIns="0" tIns="0" rIns="0" bIns="0" rtlCol="0" anchor="ctr"/>
          <a:lstStyle/>
          <a:p>
            <a:pPr indent="0" marL="0">
              <a:buNone/>
            </a:pPr>
            <a:r>
              <a:rPr lang="en-US" sz="650" dirty="0">
                <a:solidFill>
                  <a:srgbClr val="5C5C5C"/>
                </a:solidFill>
                <a:latin typeface="Arial" pitchFamily="34" charset="0"/>
                <a:ea typeface="Arial" pitchFamily="34" charset="-122"/>
                <a:cs typeface="Arial" pitchFamily="34" charset="-120"/>
              </a:rPr>
              <a:t>PwC | Surge 1 Qual — GenAI Portfolio</a:t>
            </a:r>
            <a:endParaRPr lang="en-US" sz="650" dirty="0"/>
          </a:p>
        </p:txBody>
      </p:sp>
      <p:sp>
        <p:nvSpPr>
          <p:cNvPr id="73" name="Text 64"/>
          <p:cNvSpPr/>
          <p:nvPr/>
        </p:nvSpPr>
        <p:spPr>
          <a:xfrm>
            <a:off x="8412480" y="4873752"/>
            <a:ext cx="457200" cy="182880"/>
          </a:xfrm>
          <a:prstGeom prst="rect">
            <a:avLst/>
          </a:prstGeom>
          <a:noFill/>
          <a:ln/>
        </p:spPr>
        <p:txBody>
          <a:bodyPr wrap="square" lIns="0" tIns="0" rIns="0" bIns="0" rtlCol="0" anchor="ctr"/>
          <a:lstStyle/>
          <a:p>
            <a:pPr algn="r" indent="0" marL="0">
              <a:buNone/>
            </a:pPr>
            <a:r>
              <a:rPr lang="en-US" sz="650" dirty="0">
                <a:solidFill>
                  <a:srgbClr val="5C5C5C"/>
                </a:solidFill>
                <a:latin typeface="Arial" pitchFamily="34" charset="0"/>
                <a:ea typeface="Arial" pitchFamily="34" charset="-122"/>
                <a:cs typeface="Arial" pitchFamily="34" charset="-120"/>
              </a:rPr>
              <a:t>4</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228600"/>
            <a:ext cx="1463040" cy="201168"/>
          </a:xfrm>
          <a:prstGeom prst="parallelogram">
            <a:avLst/>
          </a:prstGeom>
          <a:solidFill>
            <a:srgbClr val="F5DCCB"/>
          </a:solidFill>
          <a:ln/>
        </p:spPr>
      </p:sp>
      <p:sp>
        <p:nvSpPr>
          <p:cNvPr id="3" name="Shape 1"/>
          <p:cNvSpPr/>
          <p:nvPr/>
        </p:nvSpPr>
        <p:spPr>
          <a:xfrm>
            <a:off x="457200" y="365760"/>
            <a:ext cx="731520" cy="320040"/>
          </a:xfrm>
          <a:prstGeom prst="rect">
            <a:avLst/>
          </a:prstGeom>
          <a:solidFill>
            <a:srgbClr val="D04A02"/>
          </a:solidFill>
          <a:ln/>
          <a:effectLst>
            <a:outerShdw sx="100000" sy="100000" kx="0" ky="0" algn="bl" rotWithShape="0" blurRad="7.321614132006959e+94" dist="2.4405380440023207e+94" dir="7.107572007482426e+111">
              <a:srgbClr val="AAAAAA">
                <a:alpha val="2.4999999999999995e+114"/>
              </a:srgbClr>
            </a:outerShdw>
          </a:effectLst>
        </p:spPr>
      </p:sp>
      <p:sp>
        <p:nvSpPr>
          <p:cNvPr id="4" name="Text 2"/>
          <p:cNvSpPr/>
          <p:nvPr/>
        </p:nvSpPr>
        <p:spPr>
          <a:xfrm>
            <a:off x="457200" y="365760"/>
            <a:ext cx="73152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pwc</a:t>
            </a:r>
            <a:endParaRPr lang="en-US" sz="1400" dirty="0"/>
          </a:p>
        </p:txBody>
      </p:sp>
      <p:sp>
        <p:nvSpPr>
          <p:cNvPr id="5" name="Text 3"/>
          <p:cNvSpPr/>
          <p:nvPr/>
        </p:nvSpPr>
        <p:spPr>
          <a:xfrm>
            <a:off x="1371600" y="365760"/>
            <a:ext cx="2286000" cy="320040"/>
          </a:xfrm>
          <a:prstGeom prst="rect">
            <a:avLst/>
          </a:prstGeom>
          <a:noFill/>
          <a:ln/>
        </p:spPr>
        <p:txBody>
          <a:bodyPr wrap="square" rtlCol="0" anchor="ctr"/>
          <a:lstStyle/>
          <a:p>
            <a:pPr indent="0" marL="0">
              <a:buNone/>
            </a:pPr>
            <a:r>
              <a:rPr lang="en-US" sz="2000" b="1" dirty="0">
                <a:solidFill>
                  <a:srgbClr val="2D2D2D"/>
                </a:solidFill>
                <a:latin typeface="Georgia" pitchFamily="34" charset="0"/>
                <a:ea typeface="Georgia" pitchFamily="34" charset="-122"/>
                <a:cs typeface="Georgia" pitchFamily="34" charset="-120"/>
              </a:rPr>
              <a:t>Surge 1 Qual</a:t>
            </a:r>
            <a:endParaRPr lang="en-US" sz="2000" dirty="0"/>
          </a:p>
        </p:txBody>
      </p:sp>
      <p:sp>
        <p:nvSpPr>
          <p:cNvPr id="6" name="Text 4"/>
          <p:cNvSpPr/>
          <p:nvPr/>
        </p:nvSpPr>
        <p:spPr>
          <a:xfrm>
            <a:off x="457200" y="1371600"/>
            <a:ext cx="8229600" cy="640080"/>
          </a:xfrm>
          <a:prstGeom prst="rect">
            <a:avLst/>
          </a:prstGeom>
          <a:noFill/>
          <a:ln/>
        </p:spPr>
        <p:txBody>
          <a:bodyPr wrap="square" rtlCol="0" anchor="ctr"/>
          <a:lstStyle/>
          <a:p>
            <a:pPr indent="0" marL="0">
              <a:buNone/>
            </a:pPr>
            <a:r>
              <a:rPr lang="en-US" sz="3600" b="1" dirty="0">
                <a:solidFill>
                  <a:srgbClr val="2D2D2D"/>
                </a:solidFill>
                <a:latin typeface="Georgia" pitchFamily="34" charset="0"/>
                <a:ea typeface="Georgia" pitchFamily="34" charset="-122"/>
                <a:cs typeface="Georgia" pitchFamily="34" charset="-120"/>
              </a:rPr>
              <a:t>Claims Subrogation:</a:t>
            </a:r>
            <a:endParaRPr lang="en-US" sz="3600" dirty="0"/>
          </a:p>
        </p:txBody>
      </p:sp>
      <p:sp>
        <p:nvSpPr>
          <p:cNvPr id="7" name="Text 5"/>
          <p:cNvSpPr/>
          <p:nvPr/>
        </p:nvSpPr>
        <p:spPr>
          <a:xfrm>
            <a:off x="457200" y="2011680"/>
            <a:ext cx="8229600" cy="1097280"/>
          </a:xfrm>
          <a:prstGeom prst="rect">
            <a:avLst/>
          </a:prstGeom>
          <a:noFill/>
          <a:ln/>
        </p:spPr>
        <p:txBody>
          <a:bodyPr wrap="square" rtlCol="0" anchor="ctr"/>
          <a:lstStyle/>
          <a:p>
            <a:pPr indent="0" marL="0">
              <a:buNone/>
            </a:pPr>
            <a:r>
              <a:rPr lang="en-US" sz="2800" dirty="0">
                <a:solidFill>
                  <a:srgbClr val="D04A02"/>
                </a:solidFill>
                <a:latin typeface="Georgia" pitchFamily="34" charset="0"/>
                <a:ea typeface="Georgia" pitchFamily="34" charset="-122"/>
                <a:cs typeface="Georgia" pitchFamily="34" charset="-120"/>
              </a:rPr>
              <a:t>Multi-Agent AI for Automated</a:t>
            </a:r>
            <a:endParaRPr lang="en-US" sz="2800" dirty="0"/>
          </a:p>
          <a:p>
            <a:pPr indent="0" marL="0">
              <a:buNone/>
            </a:pPr>
            <a:r>
              <a:rPr lang="en-US" sz="2800" dirty="0">
                <a:solidFill>
                  <a:srgbClr val="D04A02"/>
                </a:solidFill>
                <a:latin typeface="Georgia" pitchFamily="34" charset="0"/>
                <a:ea typeface="Georgia" pitchFamily="34" charset="-122"/>
                <a:cs typeface="Georgia" pitchFamily="34" charset="-120"/>
              </a:rPr>
              <a:t>Subrogation Recovery Workflow</a:t>
            </a:r>
            <a:endParaRPr lang="en-US" sz="2800" dirty="0"/>
          </a:p>
        </p:txBody>
      </p:sp>
      <p:sp>
        <p:nvSpPr>
          <p:cNvPr id="8" name="Text 6"/>
          <p:cNvSpPr/>
          <p:nvPr/>
        </p:nvSpPr>
        <p:spPr>
          <a:xfrm>
            <a:off x="457200" y="3200400"/>
            <a:ext cx="8046720" cy="365760"/>
          </a:xfrm>
          <a:prstGeom prst="rect">
            <a:avLst/>
          </a:prstGeom>
          <a:noFill/>
          <a:ln/>
        </p:spPr>
        <p:txBody>
          <a:bodyPr wrap="square" rtlCol="0" anchor="ctr"/>
          <a:lstStyle/>
          <a:p>
            <a:pPr indent="0" marL="0">
              <a:buNone/>
            </a:pPr>
            <a:r>
              <a:rPr lang="en-US" sz="1400" i="1" dirty="0">
                <a:solidFill>
                  <a:srgbClr val="5C5C5C"/>
                </a:solidFill>
                <a:latin typeface="Calibri" pitchFamily="34" charset="0"/>
                <a:ea typeface="Calibri" pitchFamily="34" charset="-122"/>
                <a:cs typeface="Calibri" pitchFamily="34" charset="-120"/>
              </a:rPr>
              <a:t>AWS-powered agentic framework for end-to-end subrogation detection, evidence structuring &amp; negotiation</a:t>
            </a:r>
            <a:endParaRPr lang="en-US" sz="1400" dirty="0"/>
          </a:p>
        </p:txBody>
      </p:sp>
      <p:sp>
        <p:nvSpPr>
          <p:cNvPr id="9" name="Shape 7"/>
          <p:cNvSpPr/>
          <p:nvPr/>
        </p:nvSpPr>
        <p:spPr>
          <a:xfrm>
            <a:off x="1828800" y="3840480"/>
            <a:ext cx="3200400" cy="365760"/>
          </a:xfrm>
          <a:prstGeom prst="parallelogram">
            <a:avLst/>
          </a:prstGeom>
          <a:solidFill>
            <a:srgbClr val="D04A02"/>
          </a:solidFill>
          <a:ln/>
          <a:effectLst>
            <a:outerShdw sx="100000" sy="100000" kx="0" ky="0" algn="bl" rotWithShape="0" blurRad="9.298449947648839e+98" dist="3.099483315882947e+98" dir="4.2645432044894554e+116">
              <a:srgbClr val="AAAAAA">
                <a:alpha val="2.4999999999999996e+119"/>
              </a:srgbClr>
            </a:outerShdw>
          </a:effectLst>
        </p:spPr>
      </p:sp>
      <p:sp>
        <p:nvSpPr>
          <p:cNvPr id="10" name="Shape 8"/>
          <p:cNvSpPr/>
          <p:nvPr/>
        </p:nvSpPr>
        <p:spPr>
          <a:xfrm>
            <a:off x="4114800" y="4206240"/>
            <a:ext cx="3200400" cy="365760"/>
          </a:xfrm>
          <a:prstGeom prst="parallelogram">
            <a:avLst/>
          </a:prstGeom>
          <a:solidFill>
            <a:srgbClr val="E8713A"/>
          </a:solidFill>
          <a:ln/>
          <a:effectLst>
            <a:outerShdw sx="100000" sy="100000" kx="0" ky="0" algn="bl" rotWithShape="0" blurRad="1.1809031433514024e+103" dist="3.9363438111713427e+102" dir="2.5587259226936733e+121">
              <a:srgbClr val="AAAAAA">
                <a:alpha val="2.5e+124"/>
              </a:srgbClr>
            </a:outerShdw>
          </a:effectLst>
        </p:spPr>
      </p:sp>
      <p:sp>
        <p:nvSpPr>
          <p:cNvPr id="11" name="Shape 9"/>
          <p:cNvSpPr/>
          <p:nvPr/>
        </p:nvSpPr>
        <p:spPr>
          <a:xfrm>
            <a:off x="274320" y="4846320"/>
            <a:ext cx="8595360" cy="7315"/>
          </a:xfrm>
          <a:prstGeom prst="rect">
            <a:avLst/>
          </a:prstGeom>
          <a:solidFill>
            <a:srgbClr val="D9D9D9"/>
          </a:solidFill>
          <a:ln/>
        </p:spPr>
      </p:sp>
      <p:sp>
        <p:nvSpPr>
          <p:cNvPr id="12" name="Shape 10"/>
          <p:cNvSpPr/>
          <p:nvPr/>
        </p:nvSpPr>
        <p:spPr>
          <a:xfrm>
            <a:off x="274320" y="4919472"/>
            <a:ext cx="82296" cy="82296"/>
          </a:xfrm>
          <a:prstGeom prst="rect">
            <a:avLst/>
          </a:prstGeom>
          <a:solidFill>
            <a:srgbClr val="D04A02"/>
          </a:solidFill>
          <a:ln/>
        </p:spPr>
      </p:sp>
      <p:sp>
        <p:nvSpPr>
          <p:cNvPr id="13" name="Text 11"/>
          <p:cNvSpPr/>
          <p:nvPr/>
        </p:nvSpPr>
        <p:spPr>
          <a:xfrm>
            <a:off x="411480" y="4873752"/>
            <a:ext cx="3657600" cy="182880"/>
          </a:xfrm>
          <a:prstGeom prst="rect">
            <a:avLst/>
          </a:prstGeom>
          <a:noFill/>
          <a:ln/>
        </p:spPr>
        <p:txBody>
          <a:bodyPr wrap="square" lIns="0" tIns="0" rIns="0" bIns="0" rtlCol="0" anchor="ctr"/>
          <a:lstStyle/>
          <a:p>
            <a:pPr indent="0" marL="0">
              <a:buNone/>
            </a:pPr>
            <a:r>
              <a:rPr lang="en-US" sz="650" dirty="0">
                <a:solidFill>
                  <a:srgbClr val="5C5C5C"/>
                </a:solidFill>
                <a:latin typeface="Arial" pitchFamily="34" charset="0"/>
                <a:ea typeface="Arial" pitchFamily="34" charset="-122"/>
                <a:cs typeface="Arial" pitchFamily="34" charset="-120"/>
              </a:rPr>
              <a:t>PwC | Surge 1 Qual — GenAI Portfolio</a:t>
            </a:r>
            <a:endParaRPr lang="en-US" sz="650" dirty="0"/>
          </a:p>
        </p:txBody>
      </p:sp>
      <p:sp>
        <p:nvSpPr>
          <p:cNvPr id="14" name="Text 12"/>
          <p:cNvSpPr/>
          <p:nvPr/>
        </p:nvSpPr>
        <p:spPr>
          <a:xfrm>
            <a:off x="8412480" y="4873752"/>
            <a:ext cx="457200" cy="182880"/>
          </a:xfrm>
          <a:prstGeom prst="rect">
            <a:avLst/>
          </a:prstGeom>
          <a:noFill/>
          <a:ln/>
        </p:spPr>
        <p:txBody>
          <a:bodyPr wrap="square" lIns="0" tIns="0" rIns="0" bIns="0" rtlCol="0" anchor="ctr"/>
          <a:lstStyle/>
          <a:p>
            <a:pPr algn="r" indent="0" marL="0">
              <a:buNone/>
            </a:pPr>
            <a:r>
              <a:rPr lang="en-US" sz="650" dirty="0">
                <a:solidFill>
                  <a:srgbClr val="5C5C5C"/>
                </a:solidFill>
                <a:latin typeface="Arial" pitchFamily="34" charset="0"/>
                <a:ea typeface="Arial" pitchFamily="34" charset="-122"/>
                <a:cs typeface="Arial" pitchFamily="34" charset="-120"/>
              </a:rPr>
              <a:t>5</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91440"/>
            <a:ext cx="8595360" cy="329184"/>
          </a:xfrm>
          <a:prstGeom prst="rect">
            <a:avLst/>
          </a:prstGeom>
          <a:noFill/>
          <a:ln/>
        </p:spPr>
        <p:txBody>
          <a:bodyPr wrap="square" lIns="0" tIns="0" rIns="0" bIns="0" rtlCol="0" anchor="ctr"/>
          <a:lstStyle/>
          <a:p>
            <a:pPr indent="0" marL="0">
              <a:buNone/>
            </a:pPr>
            <a:r>
              <a:rPr lang="en-US" sz="1500" b="1" dirty="0">
                <a:solidFill>
                  <a:srgbClr val="2D2D2D"/>
                </a:solidFill>
                <a:latin typeface="Georgia" pitchFamily="34" charset="0"/>
                <a:ea typeface="Georgia" pitchFamily="34" charset="-122"/>
                <a:cs typeface="Georgia" pitchFamily="34" charset="-120"/>
              </a:rPr>
              <a:t>GenAI-Enabled – </a:t>
            </a:r>
            <a:pPr indent="0" marL="0">
              <a:buNone/>
            </a:pPr>
            <a:r>
              <a:rPr lang="en-US" sz="1500" b="1" dirty="0">
                <a:solidFill>
                  <a:srgbClr val="D04A02"/>
                </a:solidFill>
                <a:latin typeface="Georgia" pitchFamily="34" charset="0"/>
                <a:ea typeface="Georgia" pitchFamily="34" charset="-122"/>
                <a:cs typeface="Georgia" pitchFamily="34" charset="-120"/>
              </a:rPr>
              <a:t>Claims Subrogation Multi-Agent System</a:t>
            </a:r>
            <a:endParaRPr lang="en-US" sz="1500" dirty="0"/>
          </a:p>
        </p:txBody>
      </p:sp>
      <p:sp>
        <p:nvSpPr>
          <p:cNvPr id="3" name="Text 1"/>
          <p:cNvSpPr/>
          <p:nvPr/>
        </p:nvSpPr>
        <p:spPr>
          <a:xfrm>
            <a:off x="274320" y="420624"/>
            <a:ext cx="7772400" cy="219456"/>
          </a:xfrm>
          <a:prstGeom prst="rect">
            <a:avLst/>
          </a:prstGeom>
          <a:noFill/>
          <a:ln/>
        </p:spPr>
        <p:txBody>
          <a:bodyPr wrap="square" lIns="0" tIns="0" rIns="0" bIns="0" rtlCol="0" anchor="ctr"/>
          <a:lstStyle/>
          <a:p>
            <a:pPr indent="0" marL="0">
              <a:buNone/>
            </a:pPr>
            <a:r>
              <a:rPr lang="en-US" sz="1200" dirty="0">
                <a:solidFill>
                  <a:srgbClr val="2D2D2D"/>
                </a:solidFill>
                <a:latin typeface="Georgia" pitchFamily="34" charset="0"/>
                <a:ea typeface="Georgia" pitchFamily="34" charset="-122"/>
                <a:cs typeface="Georgia" pitchFamily="34" charset="-120"/>
              </a:rPr>
              <a:t>for Insurance Recovery Automation using AWS Agentic Framework</a:t>
            </a:r>
            <a:endParaRPr lang="en-US" sz="1200" dirty="0"/>
          </a:p>
        </p:txBody>
      </p:sp>
      <p:sp>
        <p:nvSpPr>
          <p:cNvPr id="4" name="Shape 2"/>
          <p:cNvSpPr/>
          <p:nvPr/>
        </p:nvSpPr>
        <p:spPr>
          <a:xfrm>
            <a:off x="274320" y="658368"/>
            <a:ext cx="8595360" cy="18288"/>
          </a:xfrm>
          <a:prstGeom prst="rect">
            <a:avLst/>
          </a:prstGeom>
          <a:solidFill>
            <a:srgbClr val="E8713A"/>
          </a:solidFill>
          <a:ln/>
        </p:spPr>
      </p:sp>
      <p:sp>
        <p:nvSpPr>
          <p:cNvPr id="5" name="Shape 3"/>
          <p:cNvSpPr/>
          <p:nvPr/>
        </p:nvSpPr>
        <p:spPr>
          <a:xfrm>
            <a:off x="274320" y="713232"/>
            <a:ext cx="8595360" cy="640080"/>
          </a:xfrm>
          <a:prstGeom prst="roundRect">
            <a:avLst>
              <a:gd name="adj" fmla="val 7143"/>
            </a:avLst>
          </a:prstGeom>
          <a:solidFill>
            <a:srgbClr val="FBF3EE"/>
          </a:solidFill>
          <a:ln w="9525">
            <a:solidFill>
              <a:srgbClr val="F0D8CB"/>
            </a:solidFill>
            <a:prstDash val="solid"/>
          </a:ln>
          <a:effectLst>
            <a:outerShdw sx="100000" sy="100000" kx="0" ky="0" algn="bl" rotWithShape="0" blurRad="1.499746992056281e+107" dist="4.9991566401876055e+106" dir="1.535235553616204e+126">
              <a:srgbClr val="AAAAAA">
                <a:alpha val="2.4999999999999998e+129"/>
              </a:srgbClr>
            </a:outerShdw>
          </a:effectLst>
        </p:spPr>
      </p:sp>
      <p:sp>
        <p:nvSpPr>
          <p:cNvPr id="6" name="Shape 4"/>
          <p:cNvSpPr/>
          <p:nvPr/>
        </p:nvSpPr>
        <p:spPr>
          <a:xfrm>
            <a:off x="274320" y="749808"/>
            <a:ext cx="54864" cy="566928"/>
          </a:xfrm>
          <a:prstGeom prst="rect">
            <a:avLst/>
          </a:prstGeom>
          <a:solidFill>
            <a:srgbClr val="C41E3A"/>
          </a:solidFill>
          <a:ln/>
        </p:spPr>
      </p:sp>
      <p:pic>
        <p:nvPicPr>
          <p:cNvPr id="7" name="Image 0" descr="preencoded.png">    </p:cNvPr>
          <p:cNvPicPr>
            <a:picLocks noChangeAspect="1"/>
          </p:cNvPicPr>
          <p:nvPr/>
        </p:nvPicPr>
        <p:blipFill>
          <a:blip r:embed="rId1"/>
          <a:stretch>
            <a:fillRect/>
          </a:stretch>
        </p:blipFill>
        <p:spPr>
          <a:xfrm>
            <a:off x="429768" y="777240"/>
            <a:ext cx="173736" cy="173736"/>
          </a:xfrm>
          <a:prstGeom prst="rect">
            <a:avLst/>
          </a:prstGeom>
        </p:spPr>
      </p:pic>
      <p:sp>
        <p:nvSpPr>
          <p:cNvPr id="8" name="Text 5"/>
          <p:cNvSpPr/>
          <p:nvPr/>
        </p:nvSpPr>
        <p:spPr>
          <a:xfrm>
            <a:off x="658368" y="768096"/>
            <a:ext cx="2743200" cy="201168"/>
          </a:xfrm>
          <a:prstGeom prst="rect">
            <a:avLst/>
          </a:prstGeom>
          <a:noFill/>
          <a:ln/>
        </p:spPr>
        <p:txBody>
          <a:bodyPr wrap="square" lIns="0" tIns="0" rIns="0" bIns="0" rtlCol="0" anchor="ctr"/>
          <a:lstStyle/>
          <a:p>
            <a:pPr indent="0" marL="0">
              <a:buNone/>
            </a:pPr>
            <a:r>
              <a:rPr lang="en-US" sz="900" b="1" dirty="0">
                <a:solidFill>
                  <a:srgbClr val="C41E3A"/>
                </a:solidFill>
                <a:latin typeface="Arial" pitchFamily="34" charset="0"/>
                <a:ea typeface="Arial" pitchFamily="34" charset="-122"/>
                <a:cs typeface="Arial" pitchFamily="34" charset="-120"/>
              </a:rPr>
              <a:t>The Challenge We Addressed</a:t>
            </a:r>
            <a:endParaRPr lang="en-US" sz="900" dirty="0"/>
          </a:p>
        </p:txBody>
      </p:sp>
      <p:sp>
        <p:nvSpPr>
          <p:cNvPr id="9" name="Text 6"/>
          <p:cNvSpPr/>
          <p:nvPr/>
        </p:nvSpPr>
        <p:spPr>
          <a:xfrm>
            <a:off x="429768" y="987552"/>
            <a:ext cx="8275320" cy="347472"/>
          </a:xfrm>
          <a:prstGeom prst="rect">
            <a:avLst/>
          </a:prstGeom>
          <a:noFill/>
          <a:ln/>
        </p:spPr>
        <p:txBody>
          <a:bodyPr wrap="square" lIns="0" tIns="0" rIns="0" bIns="0" rtlCol="0" anchor="t"/>
          <a:lstStyle/>
          <a:p>
            <a:pPr indent="0" marL="0">
              <a:buNone/>
            </a:pPr>
            <a:r>
              <a:rPr lang="en-US" sz="750" dirty="0">
                <a:solidFill>
                  <a:srgbClr val="5C5C5C"/>
                </a:solidFill>
                <a:latin typeface="Calibri" pitchFamily="34" charset="0"/>
                <a:ea typeface="Calibri" pitchFamily="34" charset="-122"/>
                <a:cs typeface="Calibri" pitchFamily="34" charset="-120"/>
              </a:rPr>
              <a:t>When a third party causes the loss, you pay the claim first—then pursue recovery from the responsible carrier. But this subrogation process is manual, inconsistent, and resource-intensive. Adjusters spend hours on document review, evidence compilation, and demand letter drafting—leaving millions in recoverable dollars on the table.</a:t>
            </a:r>
            <a:endParaRPr lang="en-US" sz="750" dirty="0"/>
          </a:p>
        </p:txBody>
      </p:sp>
      <p:sp>
        <p:nvSpPr>
          <p:cNvPr id="10" name="Shape 7"/>
          <p:cNvSpPr/>
          <p:nvPr/>
        </p:nvSpPr>
        <p:spPr>
          <a:xfrm>
            <a:off x="228600" y="1389888"/>
            <a:ext cx="2377440" cy="1783080"/>
          </a:xfrm>
          <a:prstGeom prst="roundRect">
            <a:avLst>
              <a:gd name="adj" fmla="val 2564"/>
            </a:avLst>
          </a:prstGeom>
          <a:solidFill>
            <a:srgbClr val="F7F6F4"/>
          </a:solidFill>
          <a:ln w="6350">
            <a:solidFill>
              <a:srgbClr val="ECEAE6"/>
            </a:solidFill>
            <a:prstDash val="solid"/>
          </a:ln>
        </p:spPr>
      </p:sp>
      <p:sp>
        <p:nvSpPr>
          <p:cNvPr id="11" name="Shape 8"/>
          <p:cNvSpPr/>
          <p:nvPr/>
        </p:nvSpPr>
        <p:spPr>
          <a:xfrm>
            <a:off x="2670048" y="1389888"/>
            <a:ext cx="1700784" cy="1783080"/>
          </a:xfrm>
          <a:prstGeom prst="roundRect">
            <a:avLst>
              <a:gd name="adj" fmla="val 2688"/>
            </a:avLst>
          </a:prstGeom>
          <a:solidFill>
            <a:srgbClr val="F7F6F4"/>
          </a:solidFill>
          <a:ln w="6350">
            <a:solidFill>
              <a:srgbClr val="ECEAE6"/>
            </a:solidFill>
            <a:prstDash val="solid"/>
          </a:ln>
        </p:spPr>
      </p:sp>
      <p:sp>
        <p:nvSpPr>
          <p:cNvPr id="12" name="Shape 9"/>
          <p:cNvSpPr/>
          <p:nvPr/>
        </p:nvSpPr>
        <p:spPr>
          <a:xfrm>
            <a:off x="4434840" y="1389888"/>
            <a:ext cx="1737360" cy="1783080"/>
          </a:xfrm>
          <a:prstGeom prst="roundRect">
            <a:avLst>
              <a:gd name="adj" fmla="val 2632"/>
            </a:avLst>
          </a:prstGeom>
          <a:solidFill>
            <a:srgbClr val="F7F6F4"/>
          </a:solidFill>
          <a:ln w="6350">
            <a:solidFill>
              <a:srgbClr val="ECEAE6"/>
            </a:solidFill>
            <a:prstDash val="solid"/>
          </a:ln>
        </p:spPr>
      </p:sp>
      <p:pic>
        <p:nvPicPr>
          <p:cNvPr id="13" name="Image 1" descr="preencoded.png">    </p:cNvPr>
          <p:cNvPicPr>
            <a:picLocks noChangeAspect="1"/>
          </p:cNvPicPr>
          <p:nvPr/>
        </p:nvPicPr>
        <p:blipFill>
          <a:blip r:embed="rId2"/>
          <a:stretch>
            <a:fillRect/>
          </a:stretch>
        </p:blipFill>
        <p:spPr>
          <a:xfrm>
            <a:off x="320040" y="1444752"/>
            <a:ext cx="164592" cy="164592"/>
          </a:xfrm>
          <a:prstGeom prst="rect">
            <a:avLst/>
          </a:prstGeom>
        </p:spPr>
      </p:pic>
      <p:sp>
        <p:nvSpPr>
          <p:cNvPr id="14" name="Text 10"/>
          <p:cNvSpPr/>
          <p:nvPr/>
        </p:nvSpPr>
        <p:spPr>
          <a:xfrm>
            <a:off x="539496" y="1417320"/>
            <a:ext cx="1993392" cy="219456"/>
          </a:xfrm>
          <a:prstGeom prst="rect">
            <a:avLst/>
          </a:prstGeom>
          <a:noFill/>
          <a:ln/>
        </p:spPr>
        <p:txBody>
          <a:bodyPr wrap="square" lIns="0" tIns="0" rIns="0" bIns="0" rtlCol="0" anchor="ctr"/>
          <a:lstStyle/>
          <a:p>
            <a:pPr indent="0" marL="0">
              <a:buNone/>
            </a:pPr>
            <a:r>
              <a:rPr lang="en-US" sz="900" b="1" dirty="0">
                <a:solidFill>
                  <a:srgbClr val="2D2D2D"/>
                </a:solidFill>
                <a:latin typeface="Arial" pitchFamily="34" charset="0"/>
                <a:ea typeface="Arial" pitchFamily="34" charset="-122"/>
                <a:cs typeface="Arial" pitchFamily="34" charset="-120"/>
              </a:rPr>
              <a:t>Multi-Agent Architecture</a:t>
            </a:r>
            <a:endParaRPr lang="en-US" sz="900" dirty="0"/>
          </a:p>
        </p:txBody>
      </p:sp>
      <p:sp>
        <p:nvSpPr>
          <p:cNvPr id="15" name="Text 11"/>
          <p:cNvSpPr/>
          <p:nvPr/>
        </p:nvSpPr>
        <p:spPr>
          <a:xfrm>
            <a:off x="320040" y="1664208"/>
            <a:ext cx="2212848" cy="1508760"/>
          </a:xfrm>
          <a:prstGeom prst="rect">
            <a:avLst/>
          </a:prstGeom>
          <a:noFill/>
          <a:ln/>
        </p:spPr>
        <p:txBody>
          <a:bodyPr wrap="square" rtlCol="0" anchor="t"/>
          <a:lstStyle/>
          <a:p>
            <a:pPr indent="0" marL="0">
              <a:buNone/>
            </a:pPr>
            <a:r>
              <a:rPr lang="en-US" sz="700" dirty="0">
                <a:solidFill>
                  <a:srgbClr val="5C5C5C"/>
                </a:solidFill>
                <a:latin typeface="Calibri" pitchFamily="34" charset="0"/>
                <a:ea typeface="Calibri" pitchFamily="34" charset="-122"/>
                <a:cs typeface="Calibri" pitchFamily="34" charset="-120"/>
              </a:rPr>
              <a:t>6 specialized AI agents orchestrated via AWS:</a:t>
            </a:r>
            <a:endParaRPr lang="en-US" sz="70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Agent 1: Subrogation Potential Detection - classifies viable/not viable per state rules</a:t>
            </a:r>
            <a:endParaRPr lang="en-US" sz="70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Agent 2: Triage &amp; QC - checks missing fields, prompts adjuster for gaps</a:t>
            </a:r>
            <a:endParaRPr lang="en-US" sz="70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Agent 3: Referral Recommendation - generates Refer/Do Not Refer with rationale</a:t>
            </a:r>
            <a:endParaRPr lang="en-US" sz="70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Agent 4: Evidence Structuring - summarizes facts, liability, jurisdiction</a:t>
            </a:r>
            <a:endParaRPr lang="en-US" sz="70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Agent 5: Drafting Support - generates demand letters &amp; arbitration contentions</a:t>
            </a:r>
            <a:endParaRPr lang="en-US" sz="70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Agent 6: Negotiation Strategy - settle vs arbitrate with win/loss probability</a:t>
            </a:r>
            <a:endParaRPr lang="en-US" sz="700" dirty="0"/>
          </a:p>
        </p:txBody>
      </p:sp>
      <p:sp>
        <p:nvSpPr>
          <p:cNvPr id="16" name="Text 12"/>
          <p:cNvSpPr/>
          <p:nvPr/>
        </p:nvSpPr>
        <p:spPr>
          <a:xfrm>
            <a:off x="2743200" y="1417320"/>
            <a:ext cx="1572768" cy="310896"/>
          </a:xfrm>
          <a:prstGeom prst="rect">
            <a:avLst/>
          </a:prstGeom>
          <a:noFill/>
          <a:ln/>
        </p:spPr>
        <p:txBody>
          <a:bodyPr wrap="square" lIns="0" tIns="0" rIns="0" bIns="0" rtlCol="0" anchor="ctr"/>
          <a:lstStyle/>
          <a:p>
            <a:pPr indent="0" marL="0">
              <a:buNone/>
            </a:pPr>
            <a:r>
              <a:rPr lang="en-US" sz="900" b="1" dirty="0">
                <a:solidFill>
                  <a:srgbClr val="2D2D2D"/>
                </a:solidFill>
                <a:latin typeface="Arial" pitchFamily="34" charset="0"/>
                <a:ea typeface="Arial" pitchFamily="34" charset="-122"/>
                <a:cs typeface="Arial" pitchFamily="34" charset="-120"/>
              </a:rPr>
              <a:t>AWS Technology</a:t>
            </a:r>
            <a:endParaRPr lang="en-US" sz="900" dirty="0"/>
          </a:p>
          <a:p>
            <a:pPr indent="0" marL="0">
              <a:buNone/>
            </a:pPr>
            <a:r>
              <a:rPr lang="en-US" sz="900" b="1" dirty="0">
                <a:solidFill>
                  <a:srgbClr val="2D2D2D"/>
                </a:solidFill>
                <a:latin typeface="Arial" pitchFamily="34" charset="0"/>
                <a:ea typeface="Arial" pitchFamily="34" charset="-122"/>
                <a:cs typeface="Arial" pitchFamily="34" charset="-120"/>
              </a:rPr>
              <a:t>Stack</a:t>
            </a:r>
            <a:endParaRPr lang="en-US" sz="900" dirty="0"/>
          </a:p>
        </p:txBody>
      </p:sp>
      <p:sp>
        <p:nvSpPr>
          <p:cNvPr id="17" name="Text 13"/>
          <p:cNvSpPr/>
          <p:nvPr/>
        </p:nvSpPr>
        <p:spPr>
          <a:xfrm>
            <a:off x="2743200" y="1764792"/>
            <a:ext cx="1572768" cy="1371600"/>
          </a:xfrm>
          <a:prstGeom prst="rect">
            <a:avLst/>
          </a:prstGeom>
          <a:noFill/>
          <a:ln/>
        </p:spPr>
        <p:txBody>
          <a:bodyPr wrap="square" rtlCol="0" anchor="t"/>
          <a:lstStyle/>
          <a:p>
            <a:pPr indent="0" marL="0">
              <a:buNone/>
            </a:pPr>
            <a:r>
              <a:rPr lang="en-US" sz="650" b="1" dirty="0">
                <a:solidFill>
                  <a:srgbClr val="5C5C5C"/>
                </a:solidFill>
                <a:latin typeface="Calibri" pitchFamily="34" charset="0"/>
                <a:ea typeface="Calibri" pitchFamily="34" charset="-122"/>
                <a:cs typeface="Calibri" pitchFamily="34" charset="-120"/>
              </a:rPr>
              <a:t>Guidewire ECC: </a:t>
            </a:r>
            <a:pPr indent="0" marL="0">
              <a:buNone/>
            </a:pPr>
            <a:r>
              <a:rPr lang="en-US" sz="650" dirty="0">
                <a:solidFill>
                  <a:srgbClr val="5C5C5C"/>
                </a:solidFill>
                <a:latin typeface="Calibri" pitchFamily="34" charset="0"/>
                <a:ea typeface="Calibri" pitchFamily="34" charset="-122"/>
                <a:cs typeface="Calibri" pitchFamily="34" charset="-120"/>
              </a:rPr>
              <a:t>Claims source system</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Hyland: </a:t>
            </a:r>
            <a:pPr indent="0" marL="0">
              <a:buNone/>
            </a:pPr>
            <a:r>
              <a:rPr lang="en-US" sz="650" dirty="0">
                <a:solidFill>
                  <a:srgbClr val="5C5C5C"/>
                </a:solidFill>
                <a:latin typeface="Calibri" pitchFamily="34" charset="0"/>
                <a:ea typeface="Calibri" pitchFamily="34" charset="-122"/>
                <a:cs typeface="Calibri" pitchFamily="34" charset="-120"/>
              </a:rPr>
              <a:t>Document store</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S3: </a:t>
            </a:r>
            <a:pPr indent="0" marL="0">
              <a:buNone/>
            </a:pPr>
            <a:r>
              <a:rPr lang="en-US" sz="650" dirty="0">
                <a:solidFill>
                  <a:srgbClr val="5C5C5C"/>
                </a:solidFill>
                <a:latin typeface="Calibri" pitchFamily="34" charset="0"/>
                <a:ea typeface="Calibri" pitchFamily="34" charset="-122"/>
                <a:cs typeface="Calibri" pitchFamily="34" charset="-120"/>
              </a:rPr>
              <a:t>Encrypted data storage</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AWS Textract: </a:t>
            </a:r>
            <a:pPr indent="0" marL="0">
              <a:buNone/>
            </a:pPr>
            <a:r>
              <a:rPr lang="en-US" sz="650" dirty="0">
                <a:solidFill>
                  <a:srgbClr val="5C5C5C"/>
                </a:solidFill>
                <a:latin typeface="Calibri" pitchFamily="34" charset="0"/>
                <a:ea typeface="Calibri" pitchFamily="34" charset="-122"/>
                <a:cs typeface="Calibri" pitchFamily="34" charset="-120"/>
              </a:rPr>
              <a:t>OCR extraction</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Bedrock LLM: </a:t>
            </a:r>
            <a:pPr indent="0" marL="0">
              <a:buNone/>
            </a:pPr>
            <a:r>
              <a:rPr lang="en-US" sz="650" dirty="0">
                <a:solidFill>
                  <a:srgbClr val="5C5C5C"/>
                </a:solidFill>
                <a:latin typeface="Calibri" pitchFamily="34" charset="0"/>
                <a:ea typeface="Calibri" pitchFamily="34" charset="-122"/>
                <a:cs typeface="Calibri" pitchFamily="34" charset="-120"/>
              </a:rPr>
              <a:t>Text embeddings</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OpenSearch: </a:t>
            </a:r>
            <a:pPr indent="0" marL="0">
              <a:buNone/>
            </a:pPr>
            <a:r>
              <a:rPr lang="en-US" sz="650" dirty="0">
                <a:solidFill>
                  <a:srgbClr val="5C5C5C"/>
                </a:solidFill>
                <a:latin typeface="Calibri" pitchFamily="34" charset="0"/>
                <a:ea typeface="Calibri" pitchFamily="34" charset="-122"/>
                <a:cs typeface="Calibri" pitchFamily="34" charset="-120"/>
              </a:rPr>
              <a:t>Vector store for RAG</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Lambda: </a:t>
            </a:r>
            <a:pPr indent="0" marL="0">
              <a:buNone/>
            </a:pPr>
            <a:r>
              <a:rPr lang="en-US" sz="650" dirty="0">
                <a:solidFill>
                  <a:srgbClr val="5C5C5C"/>
                </a:solidFill>
                <a:latin typeface="Calibri" pitchFamily="34" charset="0"/>
                <a:ea typeface="Calibri" pitchFamily="34" charset="-122"/>
                <a:cs typeface="Calibri" pitchFamily="34" charset="-120"/>
              </a:rPr>
              <a:t>Agent orchestration</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Aurora SQL: </a:t>
            </a:r>
            <a:pPr indent="0" marL="0">
              <a:buNone/>
            </a:pPr>
            <a:r>
              <a:rPr lang="en-US" sz="650" dirty="0">
                <a:solidFill>
                  <a:srgbClr val="5C5C5C"/>
                </a:solidFill>
                <a:latin typeface="Calibri" pitchFamily="34" charset="0"/>
                <a:ea typeface="Calibri" pitchFamily="34" charset="-122"/>
                <a:cs typeface="Calibri" pitchFamily="34" charset="-120"/>
              </a:rPr>
              <a:t>Metadata &amp; conversation</a:t>
            </a:r>
            <a:endParaRPr lang="en-US" sz="650" dirty="0"/>
          </a:p>
        </p:txBody>
      </p:sp>
      <p:sp>
        <p:nvSpPr>
          <p:cNvPr id="18" name="Text 14"/>
          <p:cNvSpPr/>
          <p:nvPr/>
        </p:nvSpPr>
        <p:spPr>
          <a:xfrm>
            <a:off x="4507992" y="1417320"/>
            <a:ext cx="1600200" cy="310896"/>
          </a:xfrm>
          <a:prstGeom prst="rect">
            <a:avLst/>
          </a:prstGeom>
          <a:noFill/>
          <a:ln/>
        </p:spPr>
        <p:txBody>
          <a:bodyPr wrap="square" lIns="0" tIns="0" rIns="0" bIns="0" rtlCol="0" anchor="ctr"/>
          <a:lstStyle/>
          <a:p>
            <a:pPr indent="0" marL="0">
              <a:buNone/>
            </a:pPr>
            <a:r>
              <a:rPr lang="en-US" sz="900" b="1" dirty="0">
                <a:solidFill>
                  <a:srgbClr val="2D2D2D"/>
                </a:solidFill>
                <a:latin typeface="Arial" pitchFamily="34" charset="0"/>
                <a:ea typeface="Arial" pitchFamily="34" charset="-122"/>
                <a:cs typeface="Arial" pitchFamily="34" charset="-120"/>
              </a:rPr>
              <a:t>Claims Data</a:t>
            </a:r>
            <a:endParaRPr lang="en-US" sz="900" dirty="0"/>
          </a:p>
          <a:p>
            <a:pPr indent="0" marL="0">
              <a:buNone/>
            </a:pPr>
            <a:r>
              <a:rPr lang="en-US" sz="900" b="1" dirty="0">
                <a:solidFill>
                  <a:srgbClr val="2D2D2D"/>
                </a:solidFill>
                <a:latin typeface="Arial" pitchFamily="34" charset="0"/>
                <a:ea typeface="Arial" pitchFamily="34" charset="-122"/>
                <a:cs typeface="Arial" pitchFamily="34" charset="-120"/>
              </a:rPr>
              <a:t>Processing Pipeline</a:t>
            </a:r>
            <a:endParaRPr lang="en-US" sz="900" dirty="0"/>
          </a:p>
        </p:txBody>
      </p:sp>
      <p:sp>
        <p:nvSpPr>
          <p:cNvPr id="19" name="Text 15"/>
          <p:cNvSpPr/>
          <p:nvPr/>
        </p:nvSpPr>
        <p:spPr>
          <a:xfrm>
            <a:off x="4507992" y="1764792"/>
            <a:ext cx="1600200" cy="1371600"/>
          </a:xfrm>
          <a:prstGeom prst="rect">
            <a:avLst/>
          </a:prstGeom>
          <a:noFill/>
          <a:ln/>
        </p:spPr>
        <p:txBody>
          <a:bodyPr wrap="square" rtlCol="0" anchor="t"/>
          <a:lstStyle/>
          <a:p>
            <a:pPr indent="0" marL="0">
              <a:buNone/>
            </a:pPr>
            <a:r>
              <a:rPr lang="en-US" sz="650" b="1" dirty="0">
                <a:solidFill>
                  <a:srgbClr val="5C5C5C"/>
                </a:solidFill>
                <a:latin typeface="Calibri" pitchFamily="34" charset="0"/>
                <a:ea typeface="Calibri" pitchFamily="34" charset="-122"/>
                <a:cs typeface="Calibri" pitchFamily="34" charset="-120"/>
              </a:rPr>
              <a:t>1. Trigger: </a:t>
            </a:r>
            <a:pPr indent="0" marL="0">
              <a:buNone/>
            </a:pPr>
            <a:r>
              <a:rPr lang="en-US" sz="650" dirty="0">
                <a:solidFill>
                  <a:srgbClr val="5C5C5C"/>
                </a:solidFill>
                <a:latin typeface="Calibri" pitchFamily="34" charset="0"/>
                <a:ea typeface="Calibri" pitchFamily="34" charset="-122"/>
                <a:cs typeface="Calibri" pitchFamily="34" charset="-120"/>
              </a:rPr>
              <a:t>Claim reaches 'Investigation Complete' in ECC</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2. Ingest: </a:t>
            </a:r>
            <a:pPr indent="0" marL="0">
              <a:buNone/>
            </a:pPr>
            <a:r>
              <a:rPr lang="en-US" sz="650" dirty="0">
                <a:solidFill>
                  <a:srgbClr val="5C5C5C"/>
                </a:solidFill>
                <a:latin typeface="Calibri" pitchFamily="34" charset="0"/>
                <a:ea typeface="Calibri" pitchFamily="34" charset="-122"/>
                <a:cs typeface="Calibri" pitchFamily="34" charset="-120"/>
              </a:rPr>
              <a:t>Structured JSON + docs from Hyland</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3. OCR: </a:t>
            </a:r>
            <a:pPr indent="0" marL="0">
              <a:buNone/>
            </a:pPr>
            <a:r>
              <a:rPr lang="en-US" sz="650" dirty="0">
                <a:solidFill>
                  <a:srgbClr val="5C5C5C"/>
                </a:solidFill>
                <a:latin typeface="Calibri" pitchFamily="34" charset="0"/>
                <a:ea typeface="Calibri" pitchFamily="34" charset="-122"/>
                <a:cs typeface="Calibri" pitchFamily="34" charset="-120"/>
              </a:rPr>
              <a:t>Textract extracts text from PDFs</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4. Chunk: </a:t>
            </a:r>
            <a:pPr indent="0" marL="0">
              <a:buNone/>
            </a:pPr>
            <a:r>
              <a:rPr lang="en-US" sz="650" dirty="0">
                <a:solidFill>
                  <a:srgbClr val="5C5C5C"/>
                </a:solidFill>
                <a:latin typeface="Calibri" pitchFamily="34" charset="0"/>
                <a:ea typeface="Calibri" pitchFamily="34" charset="-122"/>
                <a:cs typeface="Calibri" pitchFamily="34" charset="-120"/>
              </a:rPr>
              <a:t>Text chunking for context windows</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5. Embed: </a:t>
            </a:r>
            <a:pPr indent="0" marL="0">
              <a:buNone/>
            </a:pPr>
            <a:r>
              <a:rPr lang="en-US" sz="650" dirty="0">
                <a:solidFill>
                  <a:srgbClr val="5C5C5C"/>
                </a:solidFill>
                <a:latin typeface="Calibri" pitchFamily="34" charset="0"/>
                <a:ea typeface="Calibri" pitchFamily="34" charset="-122"/>
                <a:cs typeface="Calibri" pitchFamily="34" charset="-120"/>
              </a:rPr>
              <a:t>Bedrock creates vector embeddings</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6. Store: </a:t>
            </a:r>
            <a:pPr indent="0" marL="0">
              <a:buNone/>
            </a:pPr>
            <a:r>
              <a:rPr lang="en-US" sz="650" dirty="0">
                <a:solidFill>
                  <a:srgbClr val="5C5C5C"/>
                </a:solidFill>
                <a:latin typeface="Calibri" pitchFamily="34" charset="0"/>
                <a:ea typeface="Calibri" pitchFamily="34" charset="-122"/>
                <a:cs typeface="Calibri" pitchFamily="34" charset="-120"/>
              </a:rPr>
              <a:t>OpenSearch vector store for RAG</a:t>
            </a:r>
            <a:endParaRPr lang="en-US" sz="650" dirty="0"/>
          </a:p>
        </p:txBody>
      </p:sp>
      <p:sp>
        <p:nvSpPr>
          <p:cNvPr id="20" name="Text 16"/>
          <p:cNvSpPr/>
          <p:nvPr/>
        </p:nvSpPr>
        <p:spPr>
          <a:xfrm>
            <a:off x="6263640" y="1417320"/>
            <a:ext cx="2743200" cy="182880"/>
          </a:xfrm>
          <a:prstGeom prst="rect">
            <a:avLst/>
          </a:prstGeom>
          <a:noFill/>
          <a:ln/>
        </p:spPr>
        <p:txBody>
          <a:bodyPr wrap="square" lIns="0" tIns="0" rIns="0" bIns="0" rtlCol="0" anchor="ctr"/>
          <a:lstStyle/>
          <a:p>
            <a:pPr indent="0" marL="0">
              <a:buNone/>
            </a:pPr>
            <a:r>
              <a:rPr lang="en-US" sz="900" b="1" dirty="0">
                <a:solidFill>
                  <a:srgbClr val="2D2D2D"/>
                </a:solidFill>
                <a:latin typeface="Arial" pitchFamily="34" charset="0"/>
                <a:ea typeface="Arial" pitchFamily="34" charset="-122"/>
                <a:cs typeface="Arial" pitchFamily="34" charset="-120"/>
              </a:rPr>
              <a:t>Key Features and Workflow</a:t>
            </a:r>
            <a:endParaRPr lang="en-US" sz="900" dirty="0"/>
          </a:p>
        </p:txBody>
      </p:sp>
      <p:sp>
        <p:nvSpPr>
          <p:cNvPr id="21" name="Shape 17"/>
          <p:cNvSpPr/>
          <p:nvPr/>
        </p:nvSpPr>
        <p:spPr>
          <a:xfrm>
            <a:off x="6263640" y="1618488"/>
            <a:ext cx="804672" cy="219456"/>
          </a:xfrm>
          <a:prstGeom prst="roundRect">
            <a:avLst>
              <a:gd name="adj" fmla="val 14583"/>
            </a:avLst>
          </a:prstGeom>
          <a:solidFill>
            <a:srgbClr val="D04A02"/>
          </a:solidFill>
          <a:ln/>
          <a:effectLst>
            <a:outerShdw sx="100000" sy="100000" kx="0" ky="0" algn="bl" rotWithShape="0" blurRad="1.904678679911477e+111" dist="6.348928933038258e+110" dir="9.211413321697224e+130">
              <a:srgbClr val="AAAAAA">
                <a:alpha val="2.5e+134"/>
              </a:srgbClr>
            </a:outerShdw>
          </a:effectLst>
        </p:spPr>
      </p:sp>
      <p:sp>
        <p:nvSpPr>
          <p:cNvPr id="22" name="Text 18"/>
          <p:cNvSpPr/>
          <p:nvPr/>
        </p:nvSpPr>
        <p:spPr>
          <a:xfrm>
            <a:off x="6263640" y="1618488"/>
            <a:ext cx="804672" cy="219456"/>
          </a:xfrm>
          <a:prstGeom prst="rect">
            <a:avLst/>
          </a:prstGeom>
          <a:noFill/>
          <a:ln/>
        </p:spPr>
        <p:txBody>
          <a:bodyPr wrap="square"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Claim Trigger</a:t>
            </a:r>
            <a:endParaRPr lang="en-US" sz="500" dirty="0"/>
          </a:p>
        </p:txBody>
      </p:sp>
      <p:sp>
        <p:nvSpPr>
          <p:cNvPr id="23" name="Text 19"/>
          <p:cNvSpPr/>
          <p:nvPr/>
        </p:nvSpPr>
        <p:spPr>
          <a:xfrm>
            <a:off x="7114032" y="1618488"/>
            <a:ext cx="1920240" cy="219456"/>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ECC status triggers AI scan</a:t>
            </a:r>
            <a:endParaRPr lang="en-US" sz="600" dirty="0"/>
          </a:p>
        </p:txBody>
      </p:sp>
      <p:sp>
        <p:nvSpPr>
          <p:cNvPr id="24" name="Shape 20"/>
          <p:cNvSpPr/>
          <p:nvPr/>
        </p:nvSpPr>
        <p:spPr>
          <a:xfrm>
            <a:off x="6263640" y="1865376"/>
            <a:ext cx="804672" cy="219456"/>
          </a:xfrm>
          <a:prstGeom prst="roundRect">
            <a:avLst>
              <a:gd name="adj" fmla="val 14583"/>
            </a:avLst>
          </a:prstGeom>
          <a:solidFill>
            <a:srgbClr val="D04A02"/>
          </a:solidFill>
          <a:ln/>
          <a:effectLst>
            <a:outerShdw sx="100000" sy="100000" kx="0" ky="0" algn="bl" rotWithShape="0" blurRad="2.418941923487576e+115" dist="8.063139744958588e+114" dir="5.526847993018334e+135">
              <a:srgbClr val="AAAAAA">
                <a:alpha val="2.5e+139"/>
              </a:srgbClr>
            </a:outerShdw>
          </a:effectLst>
        </p:spPr>
      </p:sp>
      <p:sp>
        <p:nvSpPr>
          <p:cNvPr id="25" name="Text 21"/>
          <p:cNvSpPr/>
          <p:nvPr/>
        </p:nvSpPr>
        <p:spPr>
          <a:xfrm>
            <a:off x="6263640" y="1865376"/>
            <a:ext cx="804672" cy="219456"/>
          </a:xfrm>
          <a:prstGeom prst="rect">
            <a:avLst/>
          </a:prstGeom>
          <a:noFill/>
          <a:ln/>
        </p:spPr>
        <p:txBody>
          <a:bodyPr wrap="square"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Subro Detection</a:t>
            </a:r>
            <a:endParaRPr lang="en-US" sz="500" dirty="0"/>
          </a:p>
        </p:txBody>
      </p:sp>
      <p:sp>
        <p:nvSpPr>
          <p:cNvPr id="26" name="Text 22"/>
          <p:cNvSpPr/>
          <p:nvPr/>
        </p:nvSpPr>
        <p:spPr>
          <a:xfrm>
            <a:off x="7114032" y="1865376"/>
            <a:ext cx="1920240" cy="219456"/>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Parse % liability, police reports</a:t>
            </a:r>
            <a:endParaRPr lang="en-US" sz="600" dirty="0"/>
          </a:p>
        </p:txBody>
      </p:sp>
      <p:sp>
        <p:nvSpPr>
          <p:cNvPr id="27" name="Shape 23"/>
          <p:cNvSpPr/>
          <p:nvPr/>
        </p:nvSpPr>
        <p:spPr>
          <a:xfrm>
            <a:off x="6263640" y="2112264"/>
            <a:ext cx="804672" cy="219456"/>
          </a:xfrm>
          <a:prstGeom prst="roundRect">
            <a:avLst>
              <a:gd name="adj" fmla="val 14583"/>
            </a:avLst>
          </a:prstGeom>
          <a:solidFill>
            <a:srgbClr val="D04A02"/>
          </a:solidFill>
          <a:ln/>
          <a:effectLst>
            <a:outerShdw sx="100000" sy="100000" kx="0" ky="0" algn="bl" rotWithShape="0" blurRad="3.0720562428292216e+119" dist="1.0240187476097407e+119" dir="3.3161087958110005e+140">
              <a:srgbClr val="AAAAAA">
                <a:alpha val="2.5000000000000003e+144"/>
              </a:srgbClr>
            </a:outerShdw>
          </a:effectLst>
        </p:spPr>
      </p:sp>
      <p:sp>
        <p:nvSpPr>
          <p:cNvPr id="28" name="Text 24"/>
          <p:cNvSpPr/>
          <p:nvPr/>
        </p:nvSpPr>
        <p:spPr>
          <a:xfrm>
            <a:off x="6263640" y="2112264"/>
            <a:ext cx="804672" cy="219456"/>
          </a:xfrm>
          <a:prstGeom prst="rect">
            <a:avLst/>
          </a:prstGeom>
          <a:noFill/>
          <a:ln/>
        </p:spPr>
        <p:txBody>
          <a:bodyPr wrap="square"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Triage &amp; QC</a:t>
            </a:r>
            <a:endParaRPr lang="en-US" sz="500" dirty="0"/>
          </a:p>
        </p:txBody>
      </p:sp>
      <p:sp>
        <p:nvSpPr>
          <p:cNvPr id="29" name="Text 25"/>
          <p:cNvSpPr/>
          <p:nvPr/>
        </p:nvSpPr>
        <p:spPr>
          <a:xfrm>
            <a:off x="7114032" y="2112264"/>
            <a:ext cx="1920240" cy="219456"/>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Flag missing fields, prompt adjuster</a:t>
            </a:r>
            <a:endParaRPr lang="en-US" sz="600" dirty="0"/>
          </a:p>
        </p:txBody>
      </p:sp>
      <p:sp>
        <p:nvSpPr>
          <p:cNvPr id="30" name="Shape 26"/>
          <p:cNvSpPr/>
          <p:nvPr/>
        </p:nvSpPr>
        <p:spPr>
          <a:xfrm>
            <a:off x="6263640" y="2359152"/>
            <a:ext cx="804672" cy="219456"/>
          </a:xfrm>
          <a:prstGeom prst="roundRect">
            <a:avLst>
              <a:gd name="adj" fmla="val 14583"/>
            </a:avLst>
          </a:prstGeom>
          <a:solidFill>
            <a:srgbClr val="D04A02"/>
          </a:solidFill>
          <a:ln/>
          <a:effectLst>
            <a:outerShdw sx="100000" sy="100000" kx="0" ky="0" algn="bl" rotWithShape="0" blurRad="3.9015114283931116e+123" dist="1.3005038094643706e+123" dir="1.9896652774866004e+145">
              <a:srgbClr val="AAAAAA">
                <a:alpha val="2.5000000000000004e+149"/>
              </a:srgbClr>
            </a:outerShdw>
          </a:effectLst>
        </p:spPr>
      </p:sp>
      <p:sp>
        <p:nvSpPr>
          <p:cNvPr id="31" name="Text 27"/>
          <p:cNvSpPr/>
          <p:nvPr/>
        </p:nvSpPr>
        <p:spPr>
          <a:xfrm>
            <a:off x="6263640" y="2359152"/>
            <a:ext cx="804672" cy="219456"/>
          </a:xfrm>
          <a:prstGeom prst="rect">
            <a:avLst/>
          </a:prstGeom>
          <a:noFill/>
          <a:ln/>
        </p:spPr>
        <p:txBody>
          <a:bodyPr wrap="square"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Referral Decision</a:t>
            </a:r>
            <a:endParaRPr lang="en-US" sz="500" dirty="0"/>
          </a:p>
        </p:txBody>
      </p:sp>
      <p:sp>
        <p:nvSpPr>
          <p:cNvPr id="32" name="Text 28"/>
          <p:cNvSpPr/>
          <p:nvPr/>
        </p:nvSpPr>
        <p:spPr>
          <a:xfrm>
            <a:off x="7114032" y="2359152"/>
            <a:ext cx="1920240" cy="219456"/>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Refer/Do Not Refer with rationale</a:t>
            </a:r>
            <a:endParaRPr lang="en-US" sz="600" dirty="0"/>
          </a:p>
        </p:txBody>
      </p:sp>
      <p:sp>
        <p:nvSpPr>
          <p:cNvPr id="33" name="Shape 29"/>
          <p:cNvSpPr/>
          <p:nvPr/>
        </p:nvSpPr>
        <p:spPr>
          <a:xfrm>
            <a:off x="6263640" y="2606040"/>
            <a:ext cx="804672" cy="219456"/>
          </a:xfrm>
          <a:prstGeom prst="roundRect">
            <a:avLst>
              <a:gd name="adj" fmla="val 14583"/>
            </a:avLst>
          </a:prstGeom>
          <a:solidFill>
            <a:srgbClr val="D04A02"/>
          </a:solidFill>
          <a:ln/>
          <a:effectLst>
            <a:outerShdw sx="100000" sy="100000" kx="0" ky="0" algn="bl" rotWithShape="0" blurRad="4.954919514059251e+127" dist="1.6516398380197506e+127" dir="1.1937991664919603e+150">
              <a:srgbClr val="AAAAAA">
                <a:alpha val="2.5000000000000003e+154"/>
              </a:srgbClr>
            </a:outerShdw>
          </a:effectLst>
        </p:spPr>
      </p:sp>
      <p:sp>
        <p:nvSpPr>
          <p:cNvPr id="34" name="Text 30"/>
          <p:cNvSpPr/>
          <p:nvPr/>
        </p:nvSpPr>
        <p:spPr>
          <a:xfrm>
            <a:off x="6263640" y="2606040"/>
            <a:ext cx="804672" cy="219456"/>
          </a:xfrm>
          <a:prstGeom prst="rect">
            <a:avLst/>
          </a:prstGeom>
          <a:noFill/>
          <a:ln/>
        </p:spPr>
        <p:txBody>
          <a:bodyPr wrap="square"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Evidence Pack</a:t>
            </a:r>
            <a:endParaRPr lang="en-US" sz="500" dirty="0"/>
          </a:p>
        </p:txBody>
      </p:sp>
      <p:sp>
        <p:nvSpPr>
          <p:cNvPr id="35" name="Text 31"/>
          <p:cNvSpPr/>
          <p:nvPr/>
        </p:nvSpPr>
        <p:spPr>
          <a:xfrm>
            <a:off x="7114032" y="2606040"/>
            <a:ext cx="1920240" cy="219456"/>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Structured facts &amp; liability args</a:t>
            </a:r>
            <a:endParaRPr lang="en-US" sz="600" dirty="0"/>
          </a:p>
        </p:txBody>
      </p:sp>
      <p:sp>
        <p:nvSpPr>
          <p:cNvPr id="36" name="Shape 32"/>
          <p:cNvSpPr/>
          <p:nvPr/>
        </p:nvSpPr>
        <p:spPr>
          <a:xfrm>
            <a:off x="6263640" y="2852928"/>
            <a:ext cx="804672" cy="219456"/>
          </a:xfrm>
          <a:prstGeom prst="roundRect">
            <a:avLst>
              <a:gd name="adj" fmla="val 14583"/>
            </a:avLst>
          </a:prstGeom>
          <a:solidFill>
            <a:srgbClr val="D04A02"/>
          </a:solidFill>
          <a:ln/>
          <a:effectLst>
            <a:outerShdw sx="100000" sy="100000" kx="0" ky="0" algn="bl" rotWithShape="0" blurRad="6.2927477828552495e+131" dist="2.097582594285083e+131" dir="7.162794998951762e+154">
              <a:srgbClr val="AAAAAA">
                <a:alpha val="2.5000000000000004e+159"/>
              </a:srgbClr>
            </a:outerShdw>
          </a:effectLst>
        </p:spPr>
      </p:sp>
      <p:sp>
        <p:nvSpPr>
          <p:cNvPr id="37" name="Text 33"/>
          <p:cNvSpPr/>
          <p:nvPr/>
        </p:nvSpPr>
        <p:spPr>
          <a:xfrm>
            <a:off x="6263640" y="2852928"/>
            <a:ext cx="804672" cy="219456"/>
          </a:xfrm>
          <a:prstGeom prst="rect">
            <a:avLst/>
          </a:prstGeom>
          <a:noFill/>
          <a:ln/>
        </p:spPr>
        <p:txBody>
          <a:bodyPr wrap="square"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Demand Drafting</a:t>
            </a:r>
            <a:endParaRPr lang="en-US" sz="500" dirty="0"/>
          </a:p>
        </p:txBody>
      </p:sp>
      <p:sp>
        <p:nvSpPr>
          <p:cNvPr id="38" name="Text 34"/>
          <p:cNvSpPr/>
          <p:nvPr/>
        </p:nvSpPr>
        <p:spPr>
          <a:xfrm>
            <a:off x="7114032" y="2852928"/>
            <a:ext cx="1920240" cy="219456"/>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Auto-generate demand letters</a:t>
            </a:r>
            <a:endParaRPr lang="en-US" sz="600" dirty="0"/>
          </a:p>
        </p:txBody>
      </p:sp>
      <p:sp>
        <p:nvSpPr>
          <p:cNvPr id="39" name="Shape 35"/>
          <p:cNvSpPr/>
          <p:nvPr/>
        </p:nvSpPr>
        <p:spPr>
          <a:xfrm>
            <a:off x="6263640" y="3099816"/>
            <a:ext cx="804672" cy="219456"/>
          </a:xfrm>
          <a:prstGeom prst="roundRect">
            <a:avLst>
              <a:gd name="adj" fmla="val 14583"/>
            </a:avLst>
          </a:prstGeom>
          <a:solidFill>
            <a:srgbClr val="D04A02"/>
          </a:solidFill>
          <a:ln/>
          <a:effectLst>
            <a:outerShdw sx="100000" sy="100000" kx="0" ky="0" algn="bl" rotWithShape="0" blurRad="7.991789684226167e+135" dist="2.6639298947420556e+135" dir="4.297676999371057e+159">
              <a:srgbClr val="AAAAAA">
                <a:alpha val="2.5000000000000003e+164"/>
              </a:srgbClr>
            </a:outerShdw>
          </a:effectLst>
        </p:spPr>
      </p:sp>
      <p:sp>
        <p:nvSpPr>
          <p:cNvPr id="40" name="Text 36"/>
          <p:cNvSpPr/>
          <p:nvPr/>
        </p:nvSpPr>
        <p:spPr>
          <a:xfrm>
            <a:off x="6263640" y="3099816"/>
            <a:ext cx="804672" cy="219456"/>
          </a:xfrm>
          <a:prstGeom prst="rect">
            <a:avLst/>
          </a:prstGeom>
          <a:noFill/>
          <a:ln/>
        </p:spPr>
        <p:txBody>
          <a:bodyPr wrap="square"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Negotiation AI</a:t>
            </a:r>
            <a:endParaRPr lang="en-US" sz="500" dirty="0"/>
          </a:p>
        </p:txBody>
      </p:sp>
      <p:sp>
        <p:nvSpPr>
          <p:cNvPr id="41" name="Text 37"/>
          <p:cNvSpPr/>
          <p:nvPr/>
        </p:nvSpPr>
        <p:spPr>
          <a:xfrm>
            <a:off x="7114032" y="3099816"/>
            <a:ext cx="1920240" cy="219456"/>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Settle vs arbitrate strategy</a:t>
            </a:r>
            <a:endParaRPr lang="en-US" sz="600" dirty="0"/>
          </a:p>
        </p:txBody>
      </p:sp>
      <p:sp>
        <p:nvSpPr>
          <p:cNvPr id="42" name="Text 38"/>
          <p:cNvSpPr/>
          <p:nvPr/>
        </p:nvSpPr>
        <p:spPr>
          <a:xfrm>
            <a:off x="6263640" y="3419856"/>
            <a:ext cx="2286000" cy="146304"/>
          </a:xfrm>
          <a:prstGeom prst="rect">
            <a:avLst/>
          </a:prstGeom>
          <a:noFill/>
          <a:ln/>
        </p:spPr>
        <p:txBody>
          <a:bodyPr wrap="square" lIns="0" tIns="0" rIns="0" bIns="0" rtlCol="0" anchor="ctr"/>
          <a:lstStyle/>
          <a:p>
            <a:pPr indent="0" marL="0">
              <a:buNone/>
            </a:pPr>
            <a:r>
              <a:rPr lang="en-US" sz="700" b="1" dirty="0">
                <a:solidFill>
                  <a:srgbClr val="D04A02"/>
                </a:solidFill>
                <a:latin typeface="Arial" pitchFamily="34" charset="0"/>
                <a:ea typeface="Arial" pitchFamily="34" charset="-122"/>
                <a:cs typeface="Arial" pitchFamily="34" charset="-120"/>
              </a:rPr>
              <a:t>Data Sources</a:t>
            </a:r>
            <a:endParaRPr lang="en-US" sz="700" dirty="0"/>
          </a:p>
        </p:txBody>
      </p:sp>
      <p:pic>
        <p:nvPicPr>
          <p:cNvPr id="43" name="Image 2" descr="preencoded.png">    </p:cNvPr>
          <p:cNvPicPr>
            <a:picLocks noChangeAspect="1"/>
          </p:cNvPicPr>
          <p:nvPr/>
        </p:nvPicPr>
        <p:blipFill>
          <a:blip r:embed="rId3"/>
          <a:stretch>
            <a:fillRect/>
          </a:stretch>
        </p:blipFill>
        <p:spPr>
          <a:xfrm>
            <a:off x="6263640" y="3593592"/>
            <a:ext cx="91440" cy="91440"/>
          </a:xfrm>
          <a:prstGeom prst="rect">
            <a:avLst/>
          </a:prstGeom>
        </p:spPr>
      </p:pic>
      <p:sp>
        <p:nvSpPr>
          <p:cNvPr id="44" name="Text 39"/>
          <p:cNvSpPr/>
          <p:nvPr/>
        </p:nvSpPr>
        <p:spPr>
          <a:xfrm>
            <a:off x="6391656" y="3579876"/>
            <a:ext cx="2011680" cy="128016"/>
          </a:xfrm>
          <a:prstGeom prst="rect">
            <a:avLst/>
          </a:prstGeom>
          <a:noFill/>
          <a:ln/>
        </p:spPr>
        <p:txBody>
          <a:bodyPr wrap="square" lIns="0" tIns="0" rIns="0" bIns="0" rtlCol="0" anchor="ctr"/>
          <a:lstStyle/>
          <a:p>
            <a:pPr indent="0" marL="0">
              <a:buNone/>
            </a:pPr>
            <a:r>
              <a:rPr lang="en-US" sz="600" dirty="0">
                <a:solidFill>
                  <a:srgbClr val="5C5C5C"/>
                </a:solidFill>
                <a:latin typeface="Calibri" pitchFamily="34" charset="0"/>
                <a:ea typeface="Calibri" pitchFamily="34" charset="-122"/>
                <a:cs typeface="Calibri" pitchFamily="34" charset="-120"/>
              </a:rPr>
              <a:t>Police Reports</a:t>
            </a:r>
            <a:endParaRPr lang="en-US" sz="600" dirty="0"/>
          </a:p>
        </p:txBody>
      </p:sp>
      <p:pic>
        <p:nvPicPr>
          <p:cNvPr id="45" name="Image 3" descr="preencoded.png">    </p:cNvPr>
          <p:cNvPicPr>
            <a:picLocks noChangeAspect="1"/>
          </p:cNvPicPr>
          <p:nvPr/>
        </p:nvPicPr>
        <p:blipFill>
          <a:blip r:embed="rId4"/>
          <a:stretch>
            <a:fillRect/>
          </a:stretch>
        </p:blipFill>
        <p:spPr>
          <a:xfrm>
            <a:off x="6263640" y="3735324"/>
            <a:ext cx="91440" cy="91440"/>
          </a:xfrm>
          <a:prstGeom prst="rect">
            <a:avLst/>
          </a:prstGeom>
        </p:spPr>
      </p:pic>
      <p:sp>
        <p:nvSpPr>
          <p:cNvPr id="46" name="Text 40"/>
          <p:cNvSpPr/>
          <p:nvPr/>
        </p:nvSpPr>
        <p:spPr>
          <a:xfrm>
            <a:off x="6391656" y="3721608"/>
            <a:ext cx="2011680" cy="128016"/>
          </a:xfrm>
          <a:prstGeom prst="rect">
            <a:avLst/>
          </a:prstGeom>
          <a:noFill/>
          <a:ln/>
        </p:spPr>
        <p:txBody>
          <a:bodyPr wrap="square" lIns="0" tIns="0" rIns="0" bIns="0" rtlCol="0" anchor="ctr"/>
          <a:lstStyle/>
          <a:p>
            <a:pPr indent="0" marL="0">
              <a:buNone/>
            </a:pPr>
            <a:r>
              <a:rPr lang="en-US" sz="600" dirty="0">
                <a:solidFill>
                  <a:srgbClr val="5C5C5C"/>
                </a:solidFill>
                <a:latin typeface="Calibri" pitchFamily="34" charset="0"/>
                <a:ea typeface="Calibri" pitchFamily="34" charset="-122"/>
                <a:cs typeface="Calibri" pitchFamily="34" charset="-120"/>
              </a:rPr>
              <a:t>Loss Details</a:t>
            </a:r>
            <a:endParaRPr lang="en-US" sz="600" dirty="0"/>
          </a:p>
        </p:txBody>
      </p:sp>
      <p:pic>
        <p:nvPicPr>
          <p:cNvPr id="47" name="Image 4" descr="preencoded.png">    </p:cNvPr>
          <p:cNvPicPr>
            <a:picLocks noChangeAspect="1"/>
          </p:cNvPicPr>
          <p:nvPr/>
        </p:nvPicPr>
        <p:blipFill>
          <a:blip r:embed="rId5"/>
          <a:stretch>
            <a:fillRect/>
          </a:stretch>
        </p:blipFill>
        <p:spPr>
          <a:xfrm>
            <a:off x="6263640" y="3877056"/>
            <a:ext cx="91440" cy="91440"/>
          </a:xfrm>
          <a:prstGeom prst="rect">
            <a:avLst/>
          </a:prstGeom>
        </p:spPr>
      </p:pic>
      <p:sp>
        <p:nvSpPr>
          <p:cNvPr id="48" name="Text 41"/>
          <p:cNvSpPr/>
          <p:nvPr/>
        </p:nvSpPr>
        <p:spPr>
          <a:xfrm>
            <a:off x="6391656" y="3863340"/>
            <a:ext cx="2011680" cy="128016"/>
          </a:xfrm>
          <a:prstGeom prst="rect">
            <a:avLst/>
          </a:prstGeom>
          <a:noFill/>
          <a:ln/>
        </p:spPr>
        <p:txBody>
          <a:bodyPr wrap="square" lIns="0" tIns="0" rIns="0" bIns="0" rtlCol="0" anchor="ctr"/>
          <a:lstStyle/>
          <a:p>
            <a:pPr indent="0" marL="0">
              <a:buNone/>
            </a:pPr>
            <a:r>
              <a:rPr lang="en-US" sz="600" dirty="0">
                <a:solidFill>
                  <a:srgbClr val="5C5C5C"/>
                </a:solidFill>
                <a:latin typeface="Calibri" pitchFamily="34" charset="0"/>
                <a:ea typeface="Calibri" pitchFamily="34" charset="-122"/>
                <a:cs typeface="Calibri" pitchFamily="34" charset="-120"/>
              </a:rPr>
              <a:t>Liability %</a:t>
            </a:r>
            <a:endParaRPr lang="en-US" sz="600" dirty="0"/>
          </a:p>
        </p:txBody>
      </p:sp>
      <p:pic>
        <p:nvPicPr>
          <p:cNvPr id="49" name="Image 5" descr="preencoded.png">    </p:cNvPr>
          <p:cNvPicPr>
            <a:picLocks noChangeAspect="1"/>
          </p:cNvPicPr>
          <p:nvPr/>
        </p:nvPicPr>
        <p:blipFill>
          <a:blip r:embed="rId6"/>
          <a:stretch>
            <a:fillRect/>
          </a:stretch>
        </p:blipFill>
        <p:spPr>
          <a:xfrm>
            <a:off x="6263640" y="4018788"/>
            <a:ext cx="91440" cy="91440"/>
          </a:xfrm>
          <a:prstGeom prst="rect">
            <a:avLst/>
          </a:prstGeom>
        </p:spPr>
      </p:pic>
      <p:sp>
        <p:nvSpPr>
          <p:cNvPr id="50" name="Text 42"/>
          <p:cNvSpPr/>
          <p:nvPr/>
        </p:nvSpPr>
        <p:spPr>
          <a:xfrm>
            <a:off x="6391656" y="4005072"/>
            <a:ext cx="2011680" cy="128016"/>
          </a:xfrm>
          <a:prstGeom prst="rect">
            <a:avLst/>
          </a:prstGeom>
          <a:noFill/>
          <a:ln/>
        </p:spPr>
        <p:txBody>
          <a:bodyPr wrap="square" lIns="0" tIns="0" rIns="0" bIns="0" rtlCol="0" anchor="ctr"/>
          <a:lstStyle/>
          <a:p>
            <a:pPr indent="0" marL="0">
              <a:buNone/>
            </a:pPr>
            <a:r>
              <a:rPr lang="en-US" sz="600" dirty="0">
                <a:solidFill>
                  <a:srgbClr val="5C5C5C"/>
                </a:solidFill>
                <a:latin typeface="Calibri" pitchFamily="34" charset="0"/>
                <a:ea typeface="Calibri" pitchFamily="34" charset="-122"/>
                <a:cs typeface="Calibri" pitchFamily="34" charset="-120"/>
              </a:rPr>
              <a:t>State Rules</a:t>
            </a:r>
            <a:endParaRPr lang="en-US" sz="600" dirty="0"/>
          </a:p>
        </p:txBody>
      </p:sp>
      <p:pic>
        <p:nvPicPr>
          <p:cNvPr id="51" name="Image 6" descr="preencoded.png">    </p:cNvPr>
          <p:cNvPicPr>
            <a:picLocks noChangeAspect="1"/>
          </p:cNvPicPr>
          <p:nvPr/>
        </p:nvPicPr>
        <p:blipFill>
          <a:blip r:embed="rId7"/>
          <a:stretch>
            <a:fillRect/>
          </a:stretch>
        </p:blipFill>
        <p:spPr>
          <a:xfrm>
            <a:off x="6263640" y="4160520"/>
            <a:ext cx="91440" cy="91440"/>
          </a:xfrm>
          <a:prstGeom prst="rect">
            <a:avLst/>
          </a:prstGeom>
        </p:spPr>
      </p:pic>
      <p:sp>
        <p:nvSpPr>
          <p:cNvPr id="52" name="Text 43"/>
          <p:cNvSpPr/>
          <p:nvPr/>
        </p:nvSpPr>
        <p:spPr>
          <a:xfrm>
            <a:off x="6391656" y="4146804"/>
            <a:ext cx="2011680" cy="128016"/>
          </a:xfrm>
          <a:prstGeom prst="rect">
            <a:avLst/>
          </a:prstGeom>
          <a:noFill/>
          <a:ln/>
        </p:spPr>
        <p:txBody>
          <a:bodyPr wrap="square" lIns="0" tIns="0" rIns="0" bIns="0" rtlCol="0" anchor="ctr"/>
          <a:lstStyle/>
          <a:p>
            <a:pPr indent="0" marL="0">
              <a:buNone/>
            </a:pPr>
            <a:r>
              <a:rPr lang="en-US" sz="600" dirty="0">
                <a:solidFill>
                  <a:srgbClr val="5C5C5C"/>
                </a:solidFill>
                <a:latin typeface="Calibri" pitchFamily="34" charset="0"/>
                <a:ea typeface="Calibri" pitchFamily="34" charset="-122"/>
                <a:cs typeface="Calibri" pitchFamily="34" charset="-120"/>
              </a:rPr>
              <a:t>Past Cases</a:t>
            </a:r>
            <a:endParaRPr lang="en-US" sz="600" dirty="0"/>
          </a:p>
        </p:txBody>
      </p:sp>
      <p:sp>
        <p:nvSpPr>
          <p:cNvPr id="53" name="Shape 44"/>
          <p:cNvSpPr/>
          <p:nvPr/>
        </p:nvSpPr>
        <p:spPr>
          <a:xfrm>
            <a:off x="274320" y="3246120"/>
            <a:ext cx="2286000" cy="201168"/>
          </a:xfrm>
          <a:prstGeom prst="roundRect">
            <a:avLst>
              <a:gd name="adj" fmla="val 13636"/>
            </a:avLst>
          </a:prstGeom>
          <a:solidFill>
            <a:srgbClr val="E8713A"/>
          </a:solidFill>
          <a:ln/>
          <a:effectLst>
            <a:outerShdw sx="100000" sy="100000" kx="0" ky="0" algn="bl" rotWithShape="0" blurRad="1.0149572898967231e+140" dist="3.3831909663224106e+139" dir="2.5786061996226343e+164">
              <a:srgbClr val="AAAAAA">
                <a:alpha val="2.5000000000000004e+169"/>
              </a:srgbClr>
            </a:outerShdw>
          </a:effectLst>
        </p:spPr>
      </p:sp>
      <p:sp>
        <p:nvSpPr>
          <p:cNvPr id="54" name="Text 45"/>
          <p:cNvSpPr/>
          <p:nvPr/>
        </p:nvSpPr>
        <p:spPr>
          <a:xfrm>
            <a:off x="347472" y="3246120"/>
            <a:ext cx="2194560" cy="20116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Qualitative Impact</a:t>
            </a:r>
            <a:endParaRPr lang="en-US" sz="800" dirty="0"/>
          </a:p>
        </p:txBody>
      </p:sp>
      <p:sp>
        <p:nvSpPr>
          <p:cNvPr id="55" name="Text 46"/>
          <p:cNvSpPr/>
          <p:nvPr/>
        </p:nvSpPr>
        <p:spPr>
          <a:xfrm>
            <a:off x="274320" y="3474720"/>
            <a:ext cx="2286000" cy="1097280"/>
          </a:xfrm>
          <a:prstGeom prst="rect">
            <a:avLst/>
          </a:prstGeom>
          <a:noFill/>
          <a:ln/>
        </p:spPr>
        <p:txBody>
          <a:bodyPr wrap="square" rtlCol="0" anchor="t"/>
          <a:lstStyle/>
          <a:p>
            <a:pPr indent="0" marL="0">
              <a:buNone/>
            </a:pPr>
            <a:r>
              <a:rPr lang="en-US" sz="650" b="1" dirty="0">
                <a:solidFill>
                  <a:srgbClr val="5C5C5C"/>
                </a:solidFill>
                <a:latin typeface="Calibri" pitchFamily="34" charset="0"/>
                <a:ea typeface="Calibri" pitchFamily="34" charset="-122"/>
                <a:cs typeface="Calibri" pitchFamily="34" charset="-120"/>
              </a:rPr>
              <a:t>Recovery Rate: </a:t>
            </a:r>
            <a:pPr indent="0" marL="0">
              <a:buNone/>
            </a:pPr>
            <a:r>
              <a:rPr lang="en-US" sz="650" dirty="0">
                <a:solidFill>
                  <a:srgbClr val="5C5C5C"/>
                </a:solidFill>
                <a:latin typeface="Calibri" pitchFamily="34" charset="0"/>
                <a:ea typeface="Calibri" pitchFamily="34" charset="-122"/>
                <a:cs typeface="Calibri" pitchFamily="34" charset="-120"/>
              </a:rPr>
              <a:t>More 'at bats' - fewer missed opportunities</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Consistency: </a:t>
            </a:r>
            <a:pPr indent="0" marL="0">
              <a:buNone/>
            </a:pPr>
            <a:r>
              <a:rPr lang="en-US" sz="650" dirty="0">
                <a:solidFill>
                  <a:srgbClr val="5C5C5C"/>
                </a:solidFill>
                <a:latin typeface="Calibri" pitchFamily="34" charset="0"/>
                <a:ea typeface="Calibri" pitchFamily="34" charset="-122"/>
                <a:cs typeface="Calibri" pitchFamily="34" charset="-120"/>
              </a:rPr>
              <a:t>Standardized evidence &amp; demand letters</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Adjuster Focus: </a:t>
            </a:r>
            <a:pPr indent="0" marL="0">
              <a:buNone/>
            </a:pPr>
            <a:r>
              <a:rPr lang="en-US" sz="650" dirty="0">
                <a:solidFill>
                  <a:srgbClr val="5C5C5C"/>
                </a:solidFill>
                <a:latin typeface="Calibri" pitchFamily="34" charset="0"/>
                <a:ea typeface="Calibri" pitchFamily="34" charset="-122"/>
                <a:cs typeface="Calibri" pitchFamily="34" charset="-120"/>
              </a:rPr>
              <a:t>Human judgment on complex negotiations</a:t>
            </a:r>
            <a:endParaRPr lang="en-US" sz="650" dirty="0"/>
          </a:p>
        </p:txBody>
      </p:sp>
      <p:sp>
        <p:nvSpPr>
          <p:cNvPr id="56" name="Shape 47"/>
          <p:cNvSpPr/>
          <p:nvPr/>
        </p:nvSpPr>
        <p:spPr>
          <a:xfrm>
            <a:off x="2651760" y="3246120"/>
            <a:ext cx="1005840" cy="201168"/>
          </a:xfrm>
          <a:prstGeom prst="roundRect">
            <a:avLst>
              <a:gd name="adj" fmla="val 13636"/>
            </a:avLst>
          </a:prstGeom>
          <a:solidFill>
            <a:srgbClr val="E8713A"/>
          </a:solidFill>
          <a:ln/>
          <a:effectLst>
            <a:outerShdw sx="100000" sy="100000" kx="0" ky="0" algn="bl" rotWithShape="0" blurRad="1.2889957581688384e+144" dist="4.296652527229462e+143" dir="1.5471637197735807e+169">
              <a:srgbClr val="AAAAAA">
                <a:alpha val="2.5000000000000003e+174"/>
              </a:srgbClr>
            </a:outerShdw>
          </a:effectLst>
        </p:spPr>
      </p:sp>
      <p:sp>
        <p:nvSpPr>
          <p:cNvPr id="57" name="Text 48"/>
          <p:cNvSpPr/>
          <p:nvPr/>
        </p:nvSpPr>
        <p:spPr>
          <a:xfrm>
            <a:off x="2697480" y="3246120"/>
            <a:ext cx="960120" cy="20116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By the Numbers</a:t>
            </a:r>
            <a:endParaRPr lang="en-US" sz="800" dirty="0"/>
          </a:p>
        </p:txBody>
      </p:sp>
      <p:sp>
        <p:nvSpPr>
          <p:cNvPr id="58" name="Shape 49"/>
          <p:cNvSpPr/>
          <p:nvPr/>
        </p:nvSpPr>
        <p:spPr>
          <a:xfrm>
            <a:off x="2651760" y="3520440"/>
            <a:ext cx="868680" cy="1051560"/>
          </a:xfrm>
          <a:prstGeom prst="roundRect">
            <a:avLst>
              <a:gd name="adj" fmla="val 5263"/>
            </a:avLst>
          </a:prstGeom>
          <a:solidFill>
            <a:srgbClr val="2E8B57"/>
          </a:solidFill>
          <a:ln/>
          <a:effectLst>
            <a:outerShdw sx="100000" sy="100000" kx="0" ky="0" algn="bl" rotWithShape="0" blurRad="4.297377374304699e+37" dist="1.7189509497218795e+37" dir="9.069926400000001e+44">
              <a:srgbClr val="9E9E9E">
                <a:alpha val="3e+44"/>
              </a:srgbClr>
            </a:outerShdw>
          </a:effectLst>
        </p:spPr>
      </p:sp>
      <p:sp>
        <p:nvSpPr>
          <p:cNvPr id="59" name="Text 50"/>
          <p:cNvSpPr/>
          <p:nvPr/>
        </p:nvSpPr>
        <p:spPr>
          <a:xfrm>
            <a:off x="2651760" y="3602736"/>
            <a:ext cx="86868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60" name="Shape 51"/>
          <p:cNvSpPr/>
          <p:nvPr/>
        </p:nvSpPr>
        <p:spPr>
          <a:xfrm>
            <a:off x="2907792" y="3950208"/>
            <a:ext cx="356616" cy="12802"/>
          </a:xfrm>
          <a:prstGeom prst="rect">
            <a:avLst/>
          </a:prstGeom>
          <a:solidFill>
            <a:srgbClr val="FFFFFF"/>
          </a:solidFill>
          <a:ln/>
        </p:spPr>
      </p:sp>
      <p:sp>
        <p:nvSpPr>
          <p:cNvPr id="61" name="Text 52"/>
          <p:cNvSpPr/>
          <p:nvPr/>
        </p:nvSpPr>
        <p:spPr>
          <a:xfrm>
            <a:off x="2697480" y="4005072"/>
            <a:ext cx="777240" cy="530352"/>
          </a:xfrm>
          <a:prstGeom prst="rect">
            <a:avLst/>
          </a:prstGeom>
          <a:noFill/>
          <a:ln/>
        </p:spPr>
        <p:txBody>
          <a:bodyPr wrap="square"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specialized</a:t>
            </a:r>
            <a:endParaRPr lang="en-US" sz="600" dirty="0"/>
          </a:p>
          <a:p>
            <a:pPr algn="ctr" indent="0" marL="0">
              <a:buNone/>
            </a:pPr>
            <a:r>
              <a:rPr lang="en-US" sz="600" dirty="0">
                <a:solidFill>
                  <a:srgbClr val="FFFFFF"/>
                </a:solidFill>
                <a:latin typeface="Calibri" pitchFamily="34" charset="0"/>
                <a:ea typeface="Calibri" pitchFamily="34" charset="-122"/>
                <a:cs typeface="Calibri" pitchFamily="34" charset="-120"/>
              </a:rPr>
              <a:t>AI agents</a:t>
            </a:r>
            <a:endParaRPr lang="en-US" sz="600" dirty="0"/>
          </a:p>
        </p:txBody>
      </p:sp>
      <p:sp>
        <p:nvSpPr>
          <p:cNvPr id="62" name="Shape 53"/>
          <p:cNvSpPr/>
          <p:nvPr/>
        </p:nvSpPr>
        <p:spPr>
          <a:xfrm>
            <a:off x="3566160" y="3520440"/>
            <a:ext cx="868680" cy="1051560"/>
          </a:xfrm>
          <a:prstGeom prst="roundRect">
            <a:avLst>
              <a:gd name="adj" fmla="val 5263"/>
            </a:avLst>
          </a:prstGeom>
          <a:solidFill>
            <a:srgbClr val="2E8B57"/>
          </a:solidFill>
          <a:ln/>
          <a:effectLst>
            <a:outerShdw sx="100000" sy="100000" kx="0" ky="0" algn="bl" rotWithShape="0" blurRad="5.457669265366968e+41" dist="2.183067706146787e+41" dir="5.44195584e+49">
              <a:srgbClr val="9E9E9E">
                <a:alpha val="2.9999999999999997e+49"/>
              </a:srgbClr>
            </a:outerShdw>
          </a:effectLst>
        </p:spPr>
      </p:sp>
      <p:sp>
        <p:nvSpPr>
          <p:cNvPr id="63" name="Text 54"/>
          <p:cNvSpPr/>
          <p:nvPr/>
        </p:nvSpPr>
        <p:spPr>
          <a:xfrm>
            <a:off x="3566160" y="3602736"/>
            <a:ext cx="86868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E2E</a:t>
            </a:r>
            <a:endParaRPr lang="en-US" sz="1400" dirty="0"/>
          </a:p>
        </p:txBody>
      </p:sp>
      <p:sp>
        <p:nvSpPr>
          <p:cNvPr id="64" name="Shape 55"/>
          <p:cNvSpPr/>
          <p:nvPr/>
        </p:nvSpPr>
        <p:spPr>
          <a:xfrm>
            <a:off x="3822192" y="3950208"/>
            <a:ext cx="356616" cy="12802"/>
          </a:xfrm>
          <a:prstGeom prst="rect">
            <a:avLst/>
          </a:prstGeom>
          <a:solidFill>
            <a:srgbClr val="FFFFFF"/>
          </a:solidFill>
          <a:ln/>
        </p:spPr>
      </p:sp>
      <p:sp>
        <p:nvSpPr>
          <p:cNvPr id="65" name="Text 56"/>
          <p:cNvSpPr/>
          <p:nvPr/>
        </p:nvSpPr>
        <p:spPr>
          <a:xfrm>
            <a:off x="3611880" y="4005072"/>
            <a:ext cx="777240" cy="530352"/>
          </a:xfrm>
          <a:prstGeom prst="rect">
            <a:avLst/>
          </a:prstGeom>
          <a:noFill/>
          <a:ln/>
        </p:spPr>
        <p:txBody>
          <a:bodyPr wrap="square"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detection to</a:t>
            </a:r>
            <a:endParaRPr lang="en-US" sz="600" dirty="0"/>
          </a:p>
          <a:p>
            <a:pPr algn="ctr" indent="0" marL="0">
              <a:buNone/>
            </a:pPr>
            <a:r>
              <a:rPr lang="en-US" sz="600" dirty="0">
                <a:solidFill>
                  <a:srgbClr val="FFFFFF"/>
                </a:solidFill>
                <a:latin typeface="Calibri" pitchFamily="34" charset="0"/>
                <a:ea typeface="Calibri" pitchFamily="34" charset="-122"/>
                <a:cs typeface="Calibri" pitchFamily="34" charset="-120"/>
              </a:rPr>
              <a:t>negotiation</a:t>
            </a:r>
            <a:endParaRPr lang="en-US" sz="600" dirty="0"/>
          </a:p>
        </p:txBody>
      </p:sp>
      <p:sp>
        <p:nvSpPr>
          <p:cNvPr id="66" name="Shape 57"/>
          <p:cNvSpPr/>
          <p:nvPr/>
        </p:nvSpPr>
        <p:spPr>
          <a:xfrm>
            <a:off x="4480560" y="3520440"/>
            <a:ext cx="868680" cy="1051560"/>
          </a:xfrm>
          <a:prstGeom prst="roundRect">
            <a:avLst>
              <a:gd name="adj" fmla="val 5263"/>
            </a:avLst>
          </a:prstGeom>
          <a:solidFill>
            <a:srgbClr val="2E8B57"/>
          </a:solidFill>
          <a:ln/>
          <a:effectLst>
            <a:outerShdw sx="100000" sy="100000" kx="0" ky="0" algn="bl" rotWithShape="0" blurRad="6.93123996701605e+45" dist="2.7724959868064195e+45" dir="3.2651735040000005e+54">
              <a:srgbClr val="9E9E9E">
                <a:alpha val="2.9999999999999996e+54"/>
              </a:srgbClr>
            </a:outerShdw>
          </a:effectLst>
        </p:spPr>
      </p:sp>
      <p:sp>
        <p:nvSpPr>
          <p:cNvPr id="67" name="Text 58"/>
          <p:cNvSpPr/>
          <p:nvPr/>
        </p:nvSpPr>
        <p:spPr>
          <a:xfrm>
            <a:off x="4480560" y="3602736"/>
            <a:ext cx="86868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Auto</a:t>
            </a:r>
            <a:endParaRPr lang="en-US" sz="1400" dirty="0"/>
          </a:p>
        </p:txBody>
      </p:sp>
      <p:sp>
        <p:nvSpPr>
          <p:cNvPr id="68" name="Shape 59"/>
          <p:cNvSpPr/>
          <p:nvPr/>
        </p:nvSpPr>
        <p:spPr>
          <a:xfrm>
            <a:off x="4736592" y="3950208"/>
            <a:ext cx="356616" cy="12802"/>
          </a:xfrm>
          <a:prstGeom prst="rect">
            <a:avLst/>
          </a:prstGeom>
          <a:solidFill>
            <a:srgbClr val="FFFFFF"/>
          </a:solidFill>
          <a:ln/>
        </p:spPr>
      </p:sp>
      <p:sp>
        <p:nvSpPr>
          <p:cNvPr id="69" name="Text 60"/>
          <p:cNvSpPr/>
          <p:nvPr/>
        </p:nvSpPr>
        <p:spPr>
          <a:xfrm>
            <a:off x="4526280" y="4005072"/>
            <a:ext cx="777240" cy="530352"/>
          </a:xfrm>
          <a:prstGeom prst="rect">
            <a:avLst/>
          </a:prstGeom>
          <a:noFill/>
          <a:ln/>
        </p:spPr>
        <p:txBody>
          <a:bodyPr wrap="square"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demand letter</a:t>
            </a:r>
            <a:endParaRPr lang="en-US" sz="600" dirty="0"/>
          </a:p>
          <a:p>
            <a:pPr algn="ctr" indent="0" marL="0">
              <a:buNone/>
            </a:pPr>
            <a:r>
              <a:rPr lang="en-US" sz="600" dirty="0">
                <a:solidFill>
                  <a:srgbClr val="FFFFFF"/>
                </a:solidFill>
                <a:latin typeface="Calibri" pitchFamily="34" charset="0"/>
                <a:ea typeface="Calibri" pitchFamily="34" charset="-122"/>
                <a:cs typeface="Calibri" pitchFamily="34" charset="-120"/>
              </a:rPr>
              <a:t>generation</a:t>
            </a:r>
            <a:endParaRPr lang="en-US" sz="600" dirty="0"/>
          </a:p>
        </p:txBody>
      </p:sp>
      <p:sp>
        <p:nvSpPr>
          <p:cNvPr id="70" name="Shape 61"/>
          <p:cNvSpPr/>
          <p:nvPr/>
        </p:nvSpPr>
        <p:spPr>
          <a:xfrm>
            <a:off x="5394960" y="3520440"/>
            <a:ext cx="868680" cy="1051560"/>
          </a:xfrm>
          <a:prstGeom prst="roundRect">
            <a:avLst>
              <a:gd name="adj" fmla="val 5263"/>
            </a:avLst>
          </a:prstGeom>
          <a:solidFill>
            <a:srgbClr val="2E8B57"/>
          </a:solidFill>
          <a:ln/>
          <a:effectLst>
            <a:outerShdw sx="100000" sy="100000" kx="0" ky="0" algn="bl" rotWithShape="0" blurRad="8.802674758110384e+49" dist="3.5210699032441527e+49" dir="1.9591041024000004e+59">
              <a:srgbClr val="9E9E9E">
                <a:alpha val="2.9999999999999996e+59"/>
              </a:srgbClr>
            </a:outerShdw>
          </a:effectLst>
        </p:spPr>
      </p:sp>
      <p:sp>
        <p:nvSpPr>
          <p:cNvPr id="71" name="Text 62"/>
          <p:cNvSpPr/>
          <p:nvPr/>
        </p:nvSpPr>
        <p:spPr>
          <a:xfrm>
            <a:off x="5394960" y="3602736"/>
            <a:ext cx="86868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RAG</a:t>
            </a:r>
            <a:endParaRPr lang="en-US" sz="1400" dirty="0"/>
          </a:p>
        </p:txBody>
      </p:sp>
      <p:sp>
        <p:nvSpPr>
          <p:cNvPr id="72" name="Shape 63"/>
          <p:cNvSpPr/>
          <p:nvPr/>
        </p:nvSpPr>
        <p:spPr>
          <a:xfrm>
            <a:off x="5650992" y="3950208"/>
            <a:ext cx="356616" cy="12802"/>
          </a:xfrm>
          <a:prstGeom prst="rect">
            <a:avLst/>
          </a:prstGeom>
          <a:solidFill>
            <a:srgbClr val="FFFFFF"/>
          </a:solidFill>
          <a:ln/>
        </p:spPr>
      </p:sp>
      <p:sp>
        <p:nvSpPr>
          <p:cNvPr id="73" name="Text 64"/>
          <p:cNvSpPr/>
          <p:nvPr/>
        </p:nvSpPr>
        <p:spPr>
          <a:xfrm>
            <a:off x="5440680" y="4005072"/>
            <a:ext cx="777240" cy="530352"/>
          </a:xfrm>
          <a:prstGeom prst="rect">
            <a:avLst/>
          </a:prstGeom>
          <a:noFill/>
          <a:ln/>
        </p:spPr>
        <p:txBody>
          <a:bodyPr wrap="square"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vector search</a:t>
            </a:r>
            <a:endParaRPr lang="en-US" sz="600" dirty="0"/>
          </a:p>
          <a:p>
            <a:pPr algn="ctr" indent="0" marL="0">
              <a:buNone/>
            </a:pPr>
            <a:r>
              <a:rPr lang="en-US" sz="600" dirty="0">
                <a:solidFill>
                  <a:srgbClr val="FFFFFF"/>
                </a:solidFill>
                <a:latin typeface="Calibri" pitchFamily="34" charset="0"/>
                <a:ea typeface="Calibri" pitchFamily="34" charset="-122"/>
                <a:cs typeface="Calibri" pitchFamily="34" charset="-120"/>
              </a:rPr>
              <a:t>for evidence</a:t>
            </a:r>
            <a:endParaRPr lang="en-US" sz="600" dirty="0"/>
          </a:p>
        </p:txBody>
      </p:sp>
      <p:sp>
        <p:nvSpPr>
          <p:cNvPr id="74" name="Shape 65"/>
          <p:cNvSpPr/>
          <p:nvPr/>
        </p:nvSpPr>
        <p:spPr>
          <a:xfrm>
            <a:off x="274320" y="4846320"/>
            <a:ext cx="8595360" cy="7315"/>
          </a:xfrm>
          <a:prstGeom prst="rect">
            <a:avLst/>
          </a:prstGeom>
          <a:solidFill>
            <a:srgbClr val="D9D9D9"/>
          </a:solidFill>
          <a:ln/>
        </p:spPr>
      </p:sp>
      <p:sp>
        <p:nvSpPr>
          <p:cNvPr id="75" name="Shape 66"/>
          <p:cNvSpPr/>
          <p:nvPr/>
        </p:nvSpPr>
        <p:spPr>
          <a:xfrm>
            <a:off x="274320" y="4919472"/>
            <a:ext cx="82296" cy="82296"/>
          </a:xfrm>
          <a:prstGeom prst="rect">
            <a:avLst/>
          </a:prstGeom>
          <a:solidFill>
            <a:srgbClr val="D04A02"/>
          </a:solidFill>
          <a:ln/>
        </p:spPr>
      </p:sp>
      <p:sp>
        <p:nvSpPr>
          <p:cNvPr id="76" name="Text 67"/>
          <p:cNvSpPr/>
          <p:nvPr/>
        </p:nvSpPr>
        <p:spPr>
          <a:xfrm>
            <a:off x="411480" y="4873752"/>
            <a:ext cx="3657600" cy="182880"/>
          </a:xfrm>
          <a:prstGeom prst="rect">
            <a:avLst/>
          </a:prstGeom>
          <a:noFill/>
          <a:ln/>
        </p:spPr>
        <p:txBody>
          <a:bodyPr wrap="square" lIns="0" tIns="0" rIns="0" bIns="0" rtlCol="0" anchor="ctr"/>
          <a:lstStyle/>
          <a:p>
            <a:pPr indent="0" marL="0">
              <a:buNone/>
            </a:pPr>
            <a:r>
              <a:rPr lang="en-US" sz="650" dirty="0">
                <a:solidFill>
                  <a:srgbClr val="5C5C5C"/>
                </a:solidFill>
                <a:latin typeface="Arial" pitchFamily="34" charset="0"/>
                <a:ea typeface="Arial" pitchFamily="34" charset="-122"/>
                <a:cs typeface="Arial" pitchFamily="34" charset="-120"/>
              </a:rPr>
              <a:t>PwC | Surge 1 Qual — GenAI Portfolio</a:t>
            </a:r>
            <a:endParaRPr lang="en-US" sz="650" dirty="0"/>
          </a:p>
        </p:txBody>
      </p:sp>
      <p:sp>
        <p:nvSpPr>
          <p:cNvPr id="77" name="Text 68"/>
          <p:cNvSpPr/>
          <p:nvPr/>
        </p:nvSpPr>
        <p:spPr>
          <a:xfrm>
            <a:off x="8412480" y="4873752"/>
            <a:ext cx="457200" cy="182880"/>
          </a:xfrm>
          <a:prstGeom prst="rect">
            <a:avLst/>
          </a:prstGeom>
          <a:noFill/>
          <a:ln/>
        </p:spPr>
        <p:txBody>
          <a:bodyPr wrap="square" lIns="0" tIns="0" rIns="0" bIns="0" rtlCol="0" anchor="ctr"/>
          <a:lstStyle/>
          <a:p>
            <a:pPr algn="r" indent="0" marL="0">
              <a:buNone/>
            </a:pPr>
            <a:r>
              <a:rPr lang="en-US" sz="650" dirty="0">
                <a:solidFill>
                  <a:srgbClr val="5C5C5C"/>
                </a:solidFill>
                <a:latin typeface="Arial" pitchFamily="34" charset="0"/>
                <a:ea typeface="Arial" pitchFamily="34" charset="-122"/>
                <a:cs typeface="Arial" pitchFamily="34" charset="-120"/>
              </a:rPr>
              <a:t>6</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228600"/>
            <a:ext cx="1463040" cy="201168"/>
          </a:xfrm>
          <a:prstGeom prst="parallelogram">
            <a:avLst/>
          </a:prstGeom>
          <a:solidFill>
            <a:srgbClr val="F5DCCB"/>
          </a:solidFill>
          <a:ln/>
        </p:spPr>
      </p:sp>
      <p:sp>
        <p:nvSpPr>
          <p:cNvPr id="3" name="Shape 1"/>
          <p:cNvSpPr/>
          <p:nvPr/>
        </p:nvSpPr>
        <p:spPr>
          <a:xfrm>
            <a:off x="457200" y="365760"/>
            <a:ext cx="731520" cy="320040"/>
          </a:xfrm>
          <a:prstGeom prst="rect">
            <a:avLst/>
          </a:prstGeom>
          <a:solidFill>
            <a:srgbClr val="D04A02"/>
          </a:solidFill>
          <a:ln/>
          <a:effectLst>
            <a:outerShdw sx="100000" sy="100000" kx="0" ky="0" algn="bl" rotWithShape="0" blurRad="1.6370246128744248e+148" dist="5.4567487095814166e+147" dir="9.282982318641485e+173">
              <a:srgbClr val="AAAAAA">
                <a:alpha val="2.5000000000000003e+179"/>
              </a:srgbClr>
            </a:outerShdw>
          </a:effectLst>
        </p:spPr>
      </p:sp>
      <p:sp>
        <p:nvSpPr>
          <p:cNvPr id="4" name="Text 2"/>
          <p:cNvSpPr/>
          <p:nvPr/>
        </p:nvSpPr>
        <p:spPr>
          <a:xfrm>
            <a:off x="457200" y="365760"/>
            <a:ext cx="73152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pwc</a:t>
            </a:r>
            <a:endParaRPr lang="en-US" sz="1400" dirty="0"/>
          </a:p>
        </p:txBody>
      </p:sp>
      <p:sp>
        <p:nvSpPr>
          <p:cNvPr id="5" name="Text 3"/>
          <p:cNvSpPr/>
          <p:nvPr/>
        </p:nvSpPr>
        <p:spPr>
          <a:xfrm>
            <a:off x="1371600" y="365760"/>
            <a:ext cx="2286000" cy="320040"/>
          </a:xfrm>
          <a:prstGeom prst="rect">
            <a:avLst/>
          </a:prstGeom>
          <a:noFill/>
          <a:ln/>
        </p:spPr>
        <p:txBody>
          <a:bodyPr wrap="square" rtlCol="0" anchor="ctr"/>
          <a:lstStyle/>
          <a:p>
            <a:pPr indent="0" marL="0">
              <a:buNone/>
            </a:pPr>
            <a:r>
              <a:rPr lang="en-US" sz="2000" b="1" dirty="0">
                <a:solidFill>
                  <a:srgbClr val="2D2D2D"/>
                </a:solidFill>
                <a:latin typeface="Georgia" pitchFamily="34" charset="0"/>
                <a:ea typeface="Georgia" pitchFamily="34" charset="-122"/>
                <a:cs typeface="Georgia" pitchFamily="34" charset="-120"/>
              </a:rPr>
              <a:t>Surge 1 Qual</a:t>
            </a:r>
            <a:endParaRPr lang="en-US" sz="2000" dirty="0"/>
          </a:p>
        </p:txBody>
      </p:sp>
      <p:sp>
        <p:nvSpPr>
          <p:cNvPr id="6" name="Text 4"/>
          <p:cNvSpPr/>
          <p:nvPr/>
        </p:nvSpPr>
        <p:spPr>
          <a:xfrm>
            <a:off x="457200" y="1371600"/>
            <a:ext cx="8229600" cy="640080"/>
          </a:xfrm>
          <a:prstGeom prst="rect">
            <a:avLst/>
          </a:prstGeom>
          <a:noFill/>
          <a:ln/>
        </p:spPr>
        <p:txBody>
          <a:bodyPr wrap="square" rtlCol="0" anchor="ctr"/>
          <a:lstStyle/>
          <a:p>
            <a:pPr indent="0" marL="0">
              <a:buNone/>
            </a:pPr>
            <a:r>
              <a:rPr lang="en-US" sz="3000" b="1" dirty="0">
                <a:solidFill>
                  <a:srgbClr val="2D2D2D"/>
                </a:solidFill>
                <a:latin typeface="Georgia" pitchFamily="34" charset="0"/>
                <a:ea typeface="Georgia" pitchFamily="34" charset="-122"/>
                <a:cs typeface="Georgia" pitchFamily="34" charset="-120"/>
              </a:rPr>
              <a:t>Agentic Knowledge Management:</a:t>
            </a:r>
            <a:endParaRPr lang="en-US" sz="3000" dirty="0"/>
          </a:p>
        </p:txBody>
      </p:sp>
      <p:sp>
        <p:nvSpPr>
          <p:cNvPr id="7" name="Text 5"/>
          <p:cNvSpPr/>
          <p:nvPr/>
        </p:nvSpPr>
        <p:spPr>
          <a:xfrm>
            <a:off x="457200" y="2011680"/>
            <a:ext cx="8229600" cy="1097280"/>
          </a:xfrm>
          <a:prstGeom prst="rect">
            <a:avLst/>
          </a:prstGeom>
          <a:noFill/>
          <a:ln/>
        </p:spPr>
        <p:txBody>
          <a:bodyPr wrap="square" rtlCol="0" anchor="ctr"/>
          <a:lstStyle/>
          <a:p>
            <a:pPr indent="0" marL="0">
              <a:buNone/>
            </a:pPr>
            <a:r>
              <a:rPr lang="en-US" sz="2800" dirty="0">
                <a:solidFill>
                  <a:srgbClr val="D04A02"/>
                </a:solidFill>
                <a:latin typeface="Georgia" pitchFamily="34" charset="0"/>
                <a:ea typeface="Georgia" pitchFamily="34" charset="-122"/>
                <a:cs typeface="Georgia" pitchFamily="34" charset="-120"/>
              </a:rPr>
              <a:t>Multi-Agent AI Assistant for Enterprise</a:t>
            </a:r>
            <a:endParaRPr lang="en-US" sz="2800" dirty="0"/>
          </a:p>
          <a:p>
            <a:pPr indent="0" marL="0">
              <a:buNone/>
            </a:pPr>
            <a:r>
              <a:rPr lang="en-US" sz="2800" dirty="0">
                <a:solidFill>
                  <a:srgbClr val="D04A02"/>
                </a:solidFill>
                <a:latin typeface="Georgia" pitchFamily="34" charset="0"/>
                <a:ea typeface="Georgia" pitchFamily="34" charset="-122"/>
                <a:cs typeface="Georgia" pitchFamily="34" charset="-120"/>
              </a:rPr>
              <a:t>Document Search in Microsoft 365</a:t>
            </a:r>
            <a:endParaRPr lang="en-US" sz="2800" dirty="0"/>
          </a:p>
        </p:txBody>
      </p:sp>
      <p:sp>
        <p:nvSpPr>
          <p:cNvPr id="8" name="Text 6"/>
          <p:cNvSpPr/>
          <p:nvPr/>
        </p:nvSpPr>
        <p:spPr>
          <a:xfrm>
            <a:off x="457200" y="3200400"/>
            <a:ext cx="8046720" cy="365760"/>
          </a:xfrm>
          <a:prstGeom prst="rect">
            <a:avLst/>
          </a:prstGeom>
          <a:noFill/>
          <a:ln/>
        </p:spPr>
        <p:txBody>
          <a:bodyPr wrap="square" rtlCol="0" anchor="ctr"/>
          <a:lstStyle/>
          <a:p>
            <a:pPr indent="0" marL="0">
              <a:buNone/>
            </a:pPr>
            <a:r>
              <a:rPr lang="en-US" sz="1400" i="1" dirty="0">
                <a:solidFill>
                  <a:srgbClr val="5C5C5C"/>
                </a:solidFill>
                <a:latin typeface="Calibri" pitchFamily="34" charset="0"/>
                <a:ea typeface="Calibri" pitchFamily="34" charset="-122"/>
                <a:cs typeface="Calibri" pitchFamily="34" charset="-120"/>
              </a:rPr>
              <a:t>M365 Teams Bot → Kong API Gateway → AWS Lambda multi-agent pipeline with SharePoint retrieval &amp; cited answers</a:t>
            </a:r>
            <a:endParaRPr lang="en-US" sz="1400" dirty="0"/>
          </a:p>
        </p:txBody>
      </p:sp>
      <p:sp>
        <p:nvSpPr>
          <p:cNvPr id="9" name="Shape 7"/>
          <p:cNvSpPr/>
          <p:nvPr/>
        </p:nvSpPr>
        <p:spPr>
          <a:xfrm>
            <a:off x="1828800" y="3840480"/>
            <a:ext cx="3200400" cy="365760"/>
          </a:xfrm>
          <a:prstGeom prst="parallelogram">
            <a:avLst/>
          </a:prstGeom>
          <a:solidFill>
            <a:srgbClr val="D04A02"/>
          </a:solidFill>
          <a:ln/>
          <a:effectLst>
            <a:outerShdw sx="100000" sy="100000" kx="0" ky="0" algn="bl" rotWithShape="0" blurRad="2.0790212583505195e+152" dist="6.9300708611684e+151" dir="5.569789391184891e+178">
              <a:srgbClr val="AAAAAA">
                <a:alpha val="2.5000000000000003e+184"/>
              </a:srgbClr>
            </a:outerShdw>
          </a:effectLst>
        </p:spPr>
      </p:sp>
      <p:sp>
        <p:nvSpPr>
          <p:cNvPr id="10" name="Shape 8"/>
          <p:cNvSpPr/>
          <p:nvPr/>
        </p:nvSpPr>
        <p:spPr>
          <a:xfrm>
            <a:off x="4114800" y="4206240"/>
            <a:ext cx="3200400" cy="365760"/>
          </a:xfrm>
          <a:prstGeom prst="parallelogram">
            <a:avLst/>
          </a:prstGeom>
          <a:solidFill>
            <a:srgbClr val="E8713A"/>
          </a:solidFill>
          <a:ln/>
          <a:effectLst>
            <a:outerShdw sx="100000" sy="100000" kx="0" ky="0" algn="bl" rotWithShape="0" blurRad="2.64035699810516e+156" dist="8.801189993683867e+155" dir="3.3418736347109347e+183">
              <a:srgbClr val="AAAAAA">
                <a:alpha val="2.5e+189"/>
              </a:srgbClr>
            </a:outerShdw>
          </a:effectLst>
        </p:spPr>
      </p:sp>
      <p:sp>
        <p:nvSpPr>
          <p:cNvPr id="11" name="Shape 9"/>
          <p:cNvSpPr/>
          <p:nvPr/>
        </p:nvSpPr>
        <p:spPr>
          <a:xfrm>
            <a:off x="274320" y="4846320"/>
            <a:ext cx="8595360" cy="7315"/>
          </a:xfrm>
          <a:prstGeom prst="rect">
            <a:avLst/>
          </a:prstGeom>
          <a:solidFill>
            <a:srgbClr val="D9D9D9"/>
          </a:solidFill>
          <a:ln/>
        </p:spPr>
      </p:sp>
      <p:sp>
        <p:nvSpPr>
          <p:cNvPr id="12" name="Shape 10"/>
          <p:cNvSpPr/>
          <p:nvPr/>
        </p:nvSpPr>
        <p:spPr>
          <a:xfrm>
            <a:off x="274320" y="4919472"/>
            <a:ext cx="82296" cy="82296"/>
          </a:xfrm>
          <a:prstGeom prst="rect">
            <a:avLst/>
          </a:prstGeom>
          <a:solidFill>
            <a:srgbClr val="D04A02"/>
          </a:solidFill>
          <a:ln/>
        </p:spPr>
      </p:sp>
      <p:sp>
        <p:nvSpPr>
          <p:cNvPr id="13" name="Text 11"/>
          <p:cNvSpPr/>
          <p:nvPr/>
        </p:nvSpPr>
        <p:spPr>
          <a:xfrm>
            <a:off x="411480" y="4873752"/>
            <a:ext cx="3657600" cy="182880"/>
          </a:xfrm>
          <a:prstGeom prst="rect">
            <a:avLst/>
          </a:prstGeom>
          <a:noFill/>
          <a:ln/>
        </p:spPr>
        <p:txBody>
          <a:bodyPr wrap="square" lIns="0" tIns="0" rIns="0" bIns="0" rtlCol="0" anchor="ctr"/>
          <a:lstStyle/>
          <a:p>
            <a:pPr indent="0" marL="0">
              <a:buNone/>
            </a:pPr>
            <a:r>
              <a:rPr lang="en-US" sz="650" dirty="0">
                <a:solidFill>
                  <a:srgbClr val="5C5C5C"/>
                </a:solidFill>
                <a:latin typeface="Arial" pitchFamily="34" charset="0"/>
                <a:ea typeface="Arial" pitchFamily="34" charset="-122"/>
                <a:cs typeface="Arial" pitchFamily="34" charset="-120"/>
              </a:rPr>
              <a:t>PwC | Surge 1 Qual — GenAI Portfolio</a:t>
            </a:r>
            <a:endParaRPr lang="en-US" sz="650" dirty="0"/>
          </a:p>
        </p:txBody>
      </p:sp>
      <p:sp>
        <p:nvSpPr>
          <p:cNvPr id="14" name="Text 12"/>
          <p:cNvSpPr/>
          <p:nvPr/>
        </p:nvSpPr>
        <p:spPr>
          <a:xfrm>
            <a:off x="8412480" y="4873752"/>
            <a:ext cx="457200" cy="182880"/>
          </a:xfrm>
          <a:prstGeom prst="rect">
            <a:avLst/>
          </a:prstGeom>
          <a:noFill/>
          <a:ln/>
        </p:spPr>
        <p:txBody>
          <a:bodyPr wrap="square" lIns="0" tIns="0" rIns="0" bIns="0" rtlCol="0" anchor="ctr"/>
          <a:lstStyle/>
          <a:p>
            <a:pPr algn="r" indent="0" marL="0">
              <a:buNone/>
            </a:pPr>
            <a:r>
              <a:rPr lang="en-US" sz="650" dirty="0">
                <a:solidFill>
                  <a:srgbClr val="5C5C5C"/>
                </a:solidFill>
                <a:latin typeface="Arial" pitchFamily="34" charset="0"/>
                <a:ea typeface="Arial" pitchFamily="34" charset="-122"/>
                <a:cs typeface="Arial" pitchFamily="34" charset="-120"/>
              </a:rPr>
              <a:t>7</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91440"/>
            <a:ext cx="8595360" cy="329184"/>
          </a:xfrm>
          <a:prstGeom prst="rect">
            <a:avLst/>
          </a:prstGeom>
          <a:noFill/>
          <a:ln/>
        </p:spPr>
        <p:txBody>
          <a:bodyPr wrap="square" lIns="0" tIns="0" rIns="0" bIns="0" rtlCol="0" anchor="ctr"/>
          <a:lstStyle/>
          <a:p>
            <a:pPr indent="0" marL="0">
              <a:buNone/>
            </a:pPr>
            <a:r>
              <a:rPr lang="en-US" sz="1500" b="1" dirty="0">
                <a:solidFill>
                  <a:srgbClr val="2D2D2D"/>
                </a:solidFill>
                <a:latin typeface="Georgia" pitchFamily="34" charset="0"/>
                <a:ea typeface="Georgia" pitchFamily="34" charset="-122"/>
                <a:cs typeface="Georgia" pitchFamily="34" charset="-120"/>
              </a:rPr>
              <a:t>GenAI-Enabled – </a:t>
            </a:r>
            <a:pPr indent="0" marL="0">
              <a:buNone/>
            </a:pPr>
            <a:r>
              <a:rPr lang="en-US" sz="1500" b="1" dirty="0">
                <a:solidFill>
                  <a:srgbClr val="D04A02"/>
                </a:solidFill>
                <a:latin typeface="Georgia" pitchFamily="34" charset="0"/>
                <a:ea typeface="Georgia" pitchFamily="34" charset="-122"/>
                <a:cs typeface="Georgia" pitchFamily="34" charset="-120"/>
              </a:rPr>
              <a:t>Agentic Knowledge Management System</a:t>
            </a:r>
            <a:endParaRPr lang="en-US" sz="1500" dirty="0"/>
          </a:p>
        </p:txBody>
      </p:sp>
      <p:sp>
        <p:nvSpPr>
          <p:cNvPr id="3" name="Text 1"/>
          <p:cNvSpPr/>
          <p:nvPr/>
        </p:nvSpPr>
        <p:spPr>
          <a:xfrm>
            <a:off x="274320" y="420624"/>
            <a:ext cx="7772400" cy="219456"/>
          </a:xfrm>
          <a:prstGeom prst="rect">
            <a:avLst/>
          </a:prstGeom>
          <a:noFill/>
          <a:ln/>
        </p:spPr>
        <p:txBody>
          <a:bodyPr wrap="square" lIns="0" tIns="0" rIns="0" bIns="0" rtlCol="0" anchor="ctr"/>
          <a:lstStyle/>
          <a:p>
            <a:pPr indent="0" marL="0">
              <a:buNone/>
            </a:pPr>
            <a:r>
              <a:rPr lang="en-US" sz="1200" dirty="0">
                <a:solidFill>
                  <a:srgbClr val="2D2D2D"/>
                </a:solidFill>
                <a:latin typeface="Georgia" pitchFamily="34" charset="0"/>
                <a:ea typeface="Georgia" pitchFamily="34" charset="-122"/>
                <a:cs typeface="Georgia" pitchFamily="34" charset="-120"/>
              </a:rPr>
              <a:t>for Enterprise Document Q&amp;A across Microsoft 365 using AWS Multi-Agent Framework</a:t>
            </a:r>
            <a:endParaRPr lang="en-US" sz="1200" dirty="0"/>
          </a:p>
        </p:txBody>
      </p:sp>
      <p:sp>
        <p:nvSpPr>
          <p:cNvPr id="4" name="Shape 2"/>
          <p:cNvSpPr/>
          <p:nvPr/>
        </p:nvSpPr>
        <p:spPr>
          <a:xfrm>
            <a:off x="274320" y="658368"/>
            <a:ext cx="8595360" cy="18288"/>
          </a:xfrm>
          <a:prstGeom prst="rect">
            <a:avLst/>
          </a:prstGeom>
          <a:solidFill>
            <a:srgbClr val="E8713A"/>
          </a:solidFill>
          <a:ln/>
        </p:spPr>
      </p:sp>
      <p:sp>
        <p:nvSpPr>
          <p:cNvPr id="5" name="Shape 3"/>
          <p:cNvSpPr/>
          <p:nvPr/>
        </p:nvSpPr>
        <p:spPr>
          <a:xfrm>
            <a:off x="274320" y="713232"/>
            <a:ext cx="8595360" cy="640080"/>
          </a:xfrm>
          <a:prstGeom prst="roundRect">
            <a:avLst>
              <a:gd name="adj" fmla="val 7143"/>
            </a:avLst>
          </a:prstGeom>
          <a:solidFill>
            <a:srgbClr val="FBF3EE"/>
          </a:solidFill>
          <a:ln w="9525">
            <a:solidFill>
              <a:srgbClr val="F0D8CB"/>
            </a:solidFill>
            <a:prstDash val="solid"/>
          </a:ln>
          <a:effectLst>
            <a:outerShdw sx="100000" sy="100000" kx="0" ky="0" algn="bl" rotWithShape="0" blurRad="3.353253387593553e+160" dist="1.117751129197851e+160" dir="2.0051241808265608e+188">
              <a:srgbClr val="AAAAAA">
                <a:alpha val="2.5000000000000003e+194"/>
              </a:srgbClr>
            </a:outerShdw>
          </a:effectLst>
        </p:spPr>
      </p:sp>
      <p:sp>
        <p:nvSpPr>
          <p:cNvPr id="6" name="Shape 4"/>
          <p:cNvSpPr/>
          <p:nvPr/>
        </p:nvSpPr>
        <p:spPr>
          <a:xfrm>
            <a:off x="274320" y="749808"/>
            <a:ext cx="54864" cy="566928"/>
          </a:xfrm>
          <a:prstGeom prst="rect">
            <a:avLst/>
          </a:prstGeom>
          <a:solidFill>
            <a:srgbClr val="C41E3A"/>
          </a:solidFill>
          <a:ln/>
        </p:spPr>
      </p:sp>
      <p:pic>
        <p:nvPicPr>
          <p:cNvPr id="7" name="Image 0" descr="preencoded.png">    </p:cNvPr>
          <p:cNvPicPr>
            <a:picLocks noChangeAspect="1"/>
          </p:cNvPicPr>
          <p:nvPr/>
        </p:nvPicPr>
        <p:blipFill>
          <a:blip r:embed="rId1"/>
          <a:stretch>
            <a:fillRect/>
          </a:stretch>
        </p:blipFill>
        <p:spPr>
          <a:xfrm>
            <a:off x="429768" y="777240"/>
            <a:ext cx="173736" cy="173736"/>
          </a:xfrm>
          <a:prstGeom prst="rect">
            <a:avLst/>
          </a:prstGeom>
        </p:spPr>
      </p:pic>
      <p:sp>
        <p:nvSpPr>
          <p:cNvPr id="8" name="Text 5"/>
          <p:cNvSpPr/>
          <p:nvPr/>
        </p:nvSpPr>
        <p:spPr>
          <a:xfrm>
            <a:off x="658368" y="768096"/>
            <a:ext cx="2743200" cy="201168"/>
          </a:xfrm>
          <a:prstGeom prst="rect">
            <a:avLst/>
          </a:prstGeom>
          <a:noFill/>
          <a:ln/>
        </p:spPr>
        <p:txBody>
          <a:bodyPr wrap="square" lIns="0" tIns="0" rIns="0" bIns="0" rtlCol="0" anchor="ctr"/>
          <a:lstStyle/>
          <a:p>
            <a:pPr indent="0" marL="0">
              <a:buNone/>
            </a:pPr>
            <a:r>
              <a:rPr lang="en-US" sz="900" b="1" dirty="0">
                <a:solidFill>
                  <a:srgbClr val="C41E3A"/>
                </a:solidFill>
                <a:latin typeface="Arial" pitchFamily="34" charset="0"/>
                <a:ea typeface="Arial" pitchFamily="34" charset="-122"/>
                <a:cs typeface="Arial" pitchFamily="34" charset="-120"/>
              </a:rPr>
              <a:t>The Challenge We Addressed</a:t>
            </a:r>
            <a:endParaRPr lang="en-US" sz="900" dirty="0"/>
          </a:p>
        </p:txBody>
      </p:sp>
      <p:sp>
        <p:nvSpPr>
          <p:cNvPr id="9" name="Text 6"/>
          <p:cNvSpPr/>
          <p:nvPr/>
        </p:nvSpPr>
        <p:spPr>
          <a:xfrm>
            <a:off x="429768" y="987552"/>
            <a:ext cx="8275320" cy="347472"/>
          </a:xfrm>
          <a:prstGeom prst="rect">
            <a:avLst/>
          </a:prstGeom>
          <a:noFill/>
          <a:ln/>
        </p:spPr>
        <p:txBody>
          <a:bodyPr wrap="square" lIns="0" tIns="0" rIns="0" bIns="0" rtlCol="0" anchor="t"/>
          <a:lstStyle/>
          <a:p>
            <a:pPr indent="0" marL="0">
              <a:buNone/>
            </a:pPr>
            <a:r>
              <a:rPr lang="en-US" sz="750" dirty="0">
                <a:solidFill>
                  <a:srgbClr val="5C5C5C"/>
                </a:solidFill>
                <a:latin typeface="Calibri" pitchFamily="34" charset="0"/>
                <a:ea typeface="Calibri" pitchFamily="34" charset="-122"/>
                <a:cs typeface="Calibri" pitchFamily="34" charset="-120"/>
              </a:rPr>
              <a:t>Enterprise knowledge lives across thousands of SharePoint sites and OneDrive folders, but employees can't find it. They spend hours searching multiple systems, asking colleagues, or recreating documents that already exist. Traditional search returns file lists—not answers—and ignores user permissions. Result: lost productivity, duplicated effort, and institutional knowledge that never reaches the people who need it.</a:t>
            </a:r>
            <a:endParaRPr lang="en-US" sz="750" dirty="0"/>
          </a:p>
        </p:txBody>
      </p:sp>
      <p:sp>
        <p:nvSpPr>
          <p:cNvPr id="10" name="Shape 7"/>
          <p:cNvSpPr/>
          <p:nvPr/>
        </p:nvSpPr>
        <p:spPr>
          <a:xfrm>
            <a:off x="228600" y="1389888"/>
            <a:ext cx="2377440" cy="1783080"/>
          </a:xfrm>
          <a:prstGeom prst="roundRect">
            <a:avLst>
              <a:gd name="adj" fmla="val 2564"/>
            </a:avLst>
          </a:prstGeom>
          <a:solidFill>
            <a:srgbClr val="F7F6F4"/>
          </a:solidFill>
          <a:ln w="6350">
            <a:solidFill>
              <a:srgbClr val="ECEAE6"/>
            </a:solidFill>
            <a:prstDash val="solid"/>
          </a:ln>
        </p:spPr>
      </p:sp>
      <p:sp>
        <p:nvSpPr>
          <p:cNvPr id="11" name="Shape 8"/>
          <p:cNvSpPr/>
          <p:nvPr/>
        </p:nvSpPr>
        <p:spPr>
          <a:xfrm>
            <a:off x="2670048" y="1389888"/>
            <a:ext cx="1700784" cy="1783080"/>
          </a:xfrm>
          <a:prstGeom prst="roundRect">
            <a:avLst>
              <a:gd name="adj" fmla="val 2688"/>
            </a:avLst>
          </a:prstGeom>
          <a:solidFill>
            <a:srgbClr val="F7F6F4"/>
          </a:solidFill>
          <a:ln w="6350">
            <a:solidFill>
              <a:srgbClr val="ECEAE6"/>
            </a:solidFill>
            <a:prstDash val="solid"/>
          </a:ln>
        </p:spPr>
      </p:sp>
      <p:sp>
        <p:nvSpPr>
          <p:cNvPr id="12" name="Shape 9"/>
          <p:cNvSpPr/>
          <p:nvPr/>
        </p:nvSpPr>
        <p:spPr>
          <a:xfrm>
            <a:off x="4434840" y="1389888"/>
            <a:ext cx="1737360" cy="1783080"/>
          </a:xfrm>
          <a:prstGeom prst="roundRect">
            <a:avLst>
              <a:gd name="adj" fmla="val 2632"/>
            </a:avLst>
          </a:prstGeom>
          <a:solidFill>
            <a:srgbClr val="F7F6F4"/>
          </a:solidFill>
          <a:ln w="6350">
            <a:solidFill>
              <a:srgbClr val="ECEAE6"/>
            </a:solidFill>
            <a:prstDash val="solid"/>
          </a:ln>
        </p:spPr>
      </p:sp>
      <p:pic>
        <p:nvPicPr>
          <p:cNvPr id="13" name="Image 1" descr="preencoded.png">    </p:cNvPr>
          <p:cNvPicPr>
            <a:picLocks noChangeAspect="1"/>
          </p:cNvPicPr>
          <p:nvPr/>
        </p:nvPicPr>
        <p:blipFill>
          <a:blip r:embed="rId2"/>
          <a:stretch>
            <a:fillRect/>
          </a:stretch>
        </p:blipFill>
        <p:spPr>
          <a:xfrm>
            <a:off x="320040" y="1444752"/>
            <a:ext cx="164592" cy="164592"/>
          </a:xfrm>
          <a:prstGeom prst="rect">
            <a:avLst/>
          </a:prstGeom>
        </p:spPr>
      </p:pic>
      <p:sp>
        <p:nvSpPr>
          <p:cNvPr id="14" name="Text 10"/>
          <p:cNvSpPr/>
          <p:nvPr/>
        </p:nvSpPr>
        <p:spPr>
          <a:xfrm>
            <a:off x="539496" y="1417320"/>
            <a:ext cx="1993392" cy="219456"/>
          </a:xfrm>
          <a:prstGeom prst="rect">
            <a:avLst/>
          </a:prstGeom>
          <a:noFill/>
          <a:ln/>
        </p:spPr>
        <p:txBody>
          <a:bodyPr wrap="square" lIns="0" tIns="0" rIns="0" bIns="0" rtlCol="0" anchor="ctr"/>
          <a:lstStyle/>
          <a:p>
            <a:pPr indent="0" marL="0">
              <a:buNone/>
            </a:pPr>
            <a:r>
              <a:rPr lang="en-US" sz="900" b="1" dirty="0">
                <a:solidFill>
                  <a:srgbClr val="2D2D2D"/>
                </a:solidFill>
                <a:latin typeface="Arial" pitchFamily="34" charset="0"/>
                <a:ea typeface="Arial" pitchFamily="34" charset="-122"/>
                <a:cs typeface="Arial" pitchFamily="34" charset="-120"/>
              </a:rPr>
              <a:t>Multi-Agent Architecture</a:t>
            </a:r>
            <a:endParaRPr lang="en-US" sz="900" dirty="0"/>
          </a:p>
        </p:txBody>
      </p:sp>
      <p:sp>
        <p:nvSpPr>
          <p:cNvPr id="15" name="Text 11"/>
          <p:cNvSpPr/>
          <p:nvPr/>
        </p:nvSpPr>
        <p:spPr>
          <a:xfrm>
            <a:off x="320040" y="1664208"/>
            <a:ext cx="2212848" cy="1508760"/>
          </a:xfrm>
          <a:prstGeom prst="rect">
            <a:avLst/>
          </a:prstGeom>
          <a:noFill/>
          <a:ln/>
        </p:spPr>
        <p:txBody>
          <a:bodyPr wrap="square" rtlCol="0" anchor="t"/>
          <a:lstStyle/>
          <a:p>
            <a:pPr indent="0" marL="0">
              <a:buNone/>
            </a:pPr>
            <a:r>
              <a:rPr lang="en-US" sz="700" dirty="0">
                <a:solidFill>
                  <a:srgbClr val="5C5C5C"/>
                </a:solidFill>
                <a:latin typeface="Calibri" pitchFamily="34" charset="0"/>
                <a:ea typeface="Calibri" pitchFamily="34" charset="-122"/>
                <a:cs typeface="Calibri" pitchFamily="34" charset="-120"/>
              </a:rPr>
              <a:t>Hierarchical agent design on AWS Strands:</a:t>
            </a:r>
            <a:endParaRPr lang="en-US" sz="70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Orchestrator (Claude Opus via Bedrock) - plans execution, delegates, approves final answer, retries up to 2x on failure</a:t>
            </a:r>
            <a:endParaRPr lang="en-US" sz="70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Retrieval Agent (Claude Sonnet) - runs 3 tools and synthesizes draft answer with citations</a:t>
            </a:r>
            <a:endParaRPr lang="en-US" sz="70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Validation Agent (Claude Sonnet) - hallucination &amp; citation QA before release</a:t>
            </a:r>
            <a:endParaRPr lang="en-US" sz="700" dirty="0"/>
          </a:p>
          <a:p>
            <a:pPr marL="342900" indent="-342900">
              <a:buSzPct val="100000"/>
              <a:buChar char="•"/>
            </a:pPr>
            <a:r>
              <a:rPr lang="en-US" sz="650" dirty="0">
                <a:solidFill>
                  <a:srgbClr val="5C5C5C"/>
                </a:solidFill>
                <a:latin typeface="Calibri" pitchFamily="34" charset="0"/>
                <a:ea typeface="Calibri" pitchFamily="34" charset="-122"/>
                <a:cs typeface="Calibri" pitchFamily="34" charset="-120"/>
              </a:rPr>
              <a:t>Tools: Intent Classification, Query Enhancement, Microsoft Graph document search (OBO)</a:t>
            </a:r>
            <a:endParaRPr lang="en-US" sz="700" dirty="0"/>
          </a:p>
        </p:txBody>
      </p:sp>
      <p:sp>
        <p:nvSpPr>
          <p:cNvPr id="16" name="Text 12"/>
          <p:cNvSpPr/>
          <p:nvPr/>
        </p:nvSpPr>
        <p:spPr>
          <a:xfrm>
            <a:off x="2743200" y="1417320"/>
            <a:ext cx="1572768" cy="310896"/>
          </a:xfrm>
          <a:prstGeom prst="rect">
            <a:avLst/>
          </a:prstGeom>
          <a:noFill/>
          <a:ln/>
        </p:spPr>
        <p:txBody>
          <a:bodyPr wrap="square" lIns="0" tIns="0" rIns="0" bIns="0" rtlCol="0" anchor="ctr"/>
          <a:lstStyle/>
          <a:p>
            <a:pPr indent="0" marL="0">
              <a:buNone/>
            </a:pPr>
            <a:r>
              <a:rPr lang="en-US" sz="900" b="1" dirty="0">
                <a:solidFill>
                  <a:srgbClr val="2D2D2D"/>
                </a:solidFill>
                <a:latin typeface="Arial" pitchFamily="34" charset="0"/>
                <a:ea typeface="Arial" pitchFamily="34" charset="-122"/>
                <a:cs typeface="Arial" pitchFamily="34" charset="-120"/>
              </a:rPr>
              <a:t>M365 + AWS</a:t>
            </a:r>
            <a:endParaRPr lang="en-US" sz="900" dirty="0"/>
          </a:p>
          <a:p>
            <a:pPr indent="0" marL="0">
              <a:buNone/>
            </a:pPr>
            <a:r>
              <a:rPr lang="en-US" sz="900" b="1" dirty="0">
                <a:solidFill>
                  <a:srgbClr val="2D2D2D"/>
                </a:solidFill>
                <a:latin typeface="Arial" pitchFamily="34" charset="0"/>
                <a:ea typeface="Arial" pitchFamily="34" charset="-122"/>
                <a:cs typeface="Arial" pitchFamily="34" charset="-120"/>
              </a:rPr>
              <a:t>Technology Stack</a:t>
            </a:r>
            <a:endParaRPr lang="en-US" sz="900" dirty="0"/>
          </a:p>
        </p:txBody>
      </p:sp>
      <p:sp>
        <p:nvSpPr>
          <p:cNvPr id="17" name="Text 13"/>
          <p:cNvSpPr/>
          <p:nvPr/>
        </p:nvSpPr>
        <p:spPr>
          <a:xfrm>
            <a:off x="2743200" y="1764792"/>
            <a:ext cx="1572768" cy="1371600"/>
          </a:xfrm>
          <a:prstGeom prst="rect">
            <a:avLst/>
          </a:prstGeom>
          <a:noFill/>
          <a:ln/>
        </p:spPr>
        <p:txBody>
          <a:bodyPr wrap="square" rtlCol="0" anchor="t"/>
          <a:lstStyle/>
          <a:p>
            <a:pPr indent="0" marL="0">
              <a:buNone/>
            </a:pPr>
            <a:r>
              <a:rPr lang="en-US" sz="650" b="1" dirty="0">
                <a:solidFill>
                  <a:srgbClr val="5C5C5C"/>
                </a:solidFill>
                <a:latin typeface="Calibri" pitchFamily="34" charset="0"/>
                <a:ea typeface="Calibri" pitchFamily="34" charset="-122"/>
                <a:cs typeface="Calibri" pitchFamily="34" charset="-120"/>
              </a:rPr>
              <a:t>Teams Bot: </a:t>
            </a:r>
            <a:pPr indent="0" marL="0">
              <a:buNone/>
            </a:pPr>
            <a:r>
              <a:rPr lang="en-US" sz="650" dirty="0">
                <a:solidFill>
                  <a:srgbClr val="5C5C5C"/>
                </a:solidFill>
                <a:latin typeface="Calibri" pitchFamily="34" charset="0"/>
                <a:ea typeface="Calibri" pitchFamily="34" charset="-122"/>
                <a:cs typeface="Calibri" pitchFamily="34" charset="-120"/>
              </a:rPr>
              <a:t>M365 Agents SDK (Python)</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Kong API Gateway: </a:t>
            </a:r>
            <a:pPr indent="0" marL="0">
              <a:buNone/>
            </a:pPr>
            <a:r>
              <a:rPr lang="en-US" sz="650" dirty="0">
                <a:solidFill>
                  <a:srgbClr val="5C5C5C"/>
                </a:solidFill>
                <a:latin typeface="Calibri" pitchFamily="34" charset="0"/>
                <a:ea typeface="Calibri" pitchFamily="34" charset="-122"/>
                <a:cs typeface="Calibri" pitchFamily="34" charset="-120"/>
              </a:rPr>
              <a:t>Auth + rate limiting</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AWS Lambda: </a:t>
            </a:r>
            <a:pPr indent="0" marL="0">
              <a:buNone/>
            </a:pPr>
            <a:r>
              <a:rPr lang="en-US" sz="650" dirty="0">
                <a:solidFill>
                  <a:srgbClr val="5C5C5C"/>
                </a:solidFill>
                <a:latin typeface="Calibri" pitchFamily="34" charset="0"/>
                <a:ea typeface="Calibri" pitchFamily="34" charset="-122"/>
                <a:cs typeface="Calibri" pitchFamily="34" charset="-120"/>
              </a:rPr>
              <a:t>Single /chat entry point</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Strands Agent: </a:t>
            </a:r>
            <a:pPr indent="0" marL="0">
              <a:buNone/>
            </a:pPr>
            <a:r>
              <a:rPr lang="en-US" sz="650" dirty="0">
                <a:solidFill>
                  <a:srgbClr val="5C5C5C"/>
                </a:solidFill>
                <a:latin typeface="Calibri" pitchFamily="34" charset="0"/>
                <a:ea typeface="Calibri" pitchFamily="34" charset="-122"/>
                <a:cs typeface="Calibri" pitchFamily="34" charset="-120"/>
              </a:rPr>
              <a:t>Multi-agent orchestration</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Bedrock: </a:t>
            </a:r>
            <a:pPr indent="0" marL="0">
              <a:buNone/>
            </a:pPr>
            <a:r>
              <a:rPr lang="en-US" sz="650" dirty="0">
                <a:solidFill>
                  <a:srgbClr val="5C5C5C"/>
                </a:solidFill>
                <a:latin typeface="Calibri" pitchFamily="34" charset="0"/>
                <a:ea typeface="Calibri" pitchFamily="34" charset="-122"/>
                <a:cs typeface="Calibri" pitchFamily="34" charset="-120"/>
              </a:rPr>
              <a:t>Claude Opus + Sonnet</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Microsoft Graph: </a:t>
            </a:r>
            <a:pPr indent="0" marL="0">
              <a:buNone/>
            </a:pPr>
            <a:r>
              <a:rPr lang="en-US" sz="650" dirty="0">
                <a:solidFill>
                  <a:srgbClr val="5C5C5C"/>
                </a:solidFill>
                <a:latin typeface="Calibri" pitchFamily="34" charset="0"/>
                <a:ea typeface="Calibri" pitchFamily="34" charset="-122"/>
                <a:cs typeface="Calibri" pitchFamily="34" charset="-120"/>
              </a:rPr>
              <a:t>OBO delegated search</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SQLite / MemoryDB: </a:t>
            </a:r>
            <a:pPr indent="0" marL="0">
              <a:buNone/>
            </a:pPr>
            <a:r>
              <a:rPr lang="en-US" sz="650" dirty="0">
                <a:solidFill>
                  <a:srgbClr val="5C5C5C"/>
                </a:solidFill>
                <a:latin typeface="Calibri" pitchFamily="34" charset="0"/>
                <a:ea typeface="Calibri" pitchFamily="34" charset="-122"/>
                <a:cs typeface="Calibri" pitchFamily="34" charset="-120"/>
              </a:rPr>
              <a:t>Sessions + Q&amp;A logs</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CloudWatch: </a:t>
            </a:r>
            <a:pPr indent="0" marL="0">
              <a:buNone/>
            </a:pPr>
            <a:r>
              <a:rPr lang="en-US" sz="650" dirty="0">
                <a:solidFill>
                  <a:srgbClr val="5C5C5C"/>
                </a:solidFill>
                <a:latin typeface="Calibri" pitchFamily="34" charset="0"/>
                <a:ea typeface="Calibri" pitchFamily="34" charset="-122"/>
                <a:cs typeface="Calibri" pitchFamily="34" charset="-120"/>
              </a:rPr>
              <a:t>Metrics &amp; agent tracing</a:t>
            </a:r>
            <a:endParaRPr lang="en-US" sz="650" dirty="0"/>
          </a:p>
        </p:txBody>
      </p:sp>
      <p:sp>
        <p:nvSpPr>
          <p:cNvPr id="18" name="Text 14"/>
          <p:cNvSpPr/>
          <p:nvPr/>
        </p:nvSpPr>
        <p:spPr>
          <a:xfrm>
            <a:off x="4507992" y="1417320"/>
            <a:ext cx="1600200" cy="310896"/>
          </a:xfrm>
          <a:prstGeom prst="rect">
            <a:avLst/>
          </a:prstGeom>
          <a:noFill/>
          <a:ln/>
        </p:spPr>
        <p:txBody>
          <a:bodyPr wrap="square" lIns="0" tIns="0" rIns="0" bIns="0" rtlCol="0" anchor="ctr"/>
          <a:lstStyle/>
          <a:p>
            <a:pPr indent="0" marL="0">
              <a:buNone/>
            </a:pPr>
            <a:r>
              <a:rPr lang="en-US" sz="900" b="1" dirty="0">
                <a:solidFill>
                  <a:srgbClr val="2D2D2D"/>
                </a:solidFill>
                <a:latin typeface="Arial" pitchFamily="34" charset="0"/>
                <a:ea typeface="Arial" pitchFamily="34" charset="-122"/>
                <a:cs typeface="Arial" pitchFamily="34" charset="-120"/>
              </a:rPr>
              <a:t>Request Processing</a:t>
            </a:r>
            <a:endParaRPr lang="en-US" sz="900" dirty="0"/>
          </a:p>
          <a:p>
            <a:pPr indent="0" marL="0">
              <a:buNone/>
            </a:pPr>
            <a:r>
              <a:rPr lang="en-US" sz="900" b="1" dirty="0">
                <a:solidFill>
                  <a:srgbClr val="2D2D2D"/>
                </a:solidFill>
                <a:latin typeface="Arial" pitchFamily="34" charset="0"/>
                <a:ea typeface="Arial" pitchFamily="34" charset="-122"/>
                <a:cs typeface="Arial" pitchFamily="34" charset="-120"/>
              </a:rPr>
              <a:t>Pipeline</a:t>
            </a:r>
            <a:endParaRPr lang="en-US" sz="900" dirty="0"/>
          </a:p>
        </p:txBody>
      </p:sp>
      <p:sp>
        <p:nvSpPr>
          <p:cNvPr id="19" name="Text 15"/>
          <p:cNvSpPr/>
          <p:nvPr/>
        </p:nvSpPr>
        <p:spPr>
          <a:xfrm>
            <a:off x="4507992" y="1764792"/>
            <a:ext cx="1600200" cy="1371600"/>
          </a:xfrm>
          <a:prstGeom prst="rect">
            <a:avLst/>
          </a:prstGeom>
          <a:noFill/>
          <a:ln/>
        </p:spPr>
        <p:txBody>
          <a:bodyPr wrap="square" rtlCol="0" anchor="t"/>
          <a:lstStyle/>
          <a:p>
            <a:pPr indent="0" marL="0">
              <a:buNone/>
            </a:pPr>
            <a:r>
              <a:rPr lang="en-US" sz="650" b="1" dirty="0">
                <a:solidFill>
                  <a:srgbClr val="5C5C5C"/>
                </a:solidFill>
                <a:latin typeface="Calibri" pitchFamily="34" charset="0"/>
                <a:ea typeface="Calibri" pitchFamily="34" charset="-122"/>
                <a:cs typeface="Calibri" pitchFamily="34" charset="-120"/>
              </a:rPr>
              <a:t>1. Ask: </a:t>
            </a:r>
            <a:pPr indent="0" marL="0">
              <a:buNone/>
            </a:pPr>
            <a:r>
              <a:rPr lang="en-US" sz="650" dirty="0">
                <a:solidFill>
                  <a:srgbClr val="5C5C5C"/>
                </a:solidFill>
                <a:latin typeface="Calibri" pitchFamily="34" charset="0"/>
                <a:ea typeface="Calibri" pitchFamily="34" charset="-122"/>
                <a:cs typeface="Calibri" pitchFamily="34" charset="-120"/>
              </a:rPr>
              <a:t>User question in Teams Bot</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2. Route: </a:t>
            </a:r>
            <a:pPr indent="0" marL="0">
              <a:buNone/>
            </a:pPr>
            <a:r>
              <a:rPr lang="en-US" sz="650" dirty="0">
                <a:solidFill>
                  <a:srgbClr val="5C5C5C"/>
                </a:solidFill>
                <a:latin typeface="Calibri" pitchFamily="34" charset="0"/>
                <a:ea typeface="Calibri" pitchFamily="34" charset="-122"/>
                <a:cs typeface="Calibri" pitchFamily="34" charset="-120"/>
              </a:rPr>
              <a:t>Kong → Lambda /chat endpoint</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3. Normalize: </a:t>
            </a:r>
            <a:pPr indent="0" marL="0">
              <a:buNone/>
            </a:pPr>
            <a:r>
              <a:rPr lang="en-US" sz="650" dirty="0">
                <a:solidFill>
                  <a:srgbClr val="5C5C5C"/>
                </a:solidFill>
                <a:latin typeface="Calibri" pitchFamily="34" charset="0"/>
                <a:ea typeface="Calibri" pitchFamily="34" charset="-122"/>
                <a:cs typeface="Calibri" pitchFamily="34" charset="-120"/>
              </a:rPr>
              <a:t>Beautify, validate, save session</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4. Orchestrate: </a:t>
            </a:r>
            <a:pPr indent="0" marL="0">
              <a:buNone/>
            </a:pPr>
            <a:r>
              <a:rPr lang="en-US" sz="650" dirty="0">
                <a:solidFill>
                  <a:srgbClr val="5C5C5C"/>
                </a:solidFill>
                <a:latin typeface="Calibri" pitchFamily="34" charset="0"/>
                <a:ea typeface="Calibri" pitchFamily="34" charset="-122"/>
                <a:cs typeface="Calibri" pitchFamily="34" charset="-120"/>
              </a:rPr>
              <a:t>Opus plans &amp; delegates</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5. Retrieve: </a:t>
            </a:r>
            <a:pPr indent="0" marL="0">
              <a:buNone/>
            </a:pPr>
            <a:r>
              <a:rPr lang="en-US" sz="650" dirty="0">
                <a:solidFill>
                  <a:srgbClr val="5C5C5C"/>
                </a:solidFill>
                <a:latin typeface="Calibri" pitchFamily="34" charset="0"/>
                <a:ea typeface="Calibri" pitchFamily="34" charset="-122"/>
                <a:cs typeface="Calibri" pitchFamily="34" charset="-120"/>
              </a:rPr>
              <a:t>Intent → enhance → Graph search</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6. Validate: </a:t>
            </a:r>
            <a:pPr indent="0" marL="0">
              <a:buNone/>
            </a:pPr>
            <a:r>
              <a:rPr lang="en-US" sz="650" dirty="0">
                <a:solidFill>
                  <a:srgbClr val="5C5C5C"/>
                </a:solidFill>
                <a:latin typeface="Calibri" pitchFamily="34" charset="0"/>
                <a:ea typeface="Calibri" pitchFamily="34" charset="-122"/>
                <a:cs typeface="Calibri" pitchFamily="34" charset="-120"/>
              </a:rPr>
              <a:t>QA checks citations, retry ≤2</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7. Respond: </a:t>
            </a:r>
            <a:pPr indent="0" marL="0">
              <a:buNone/>
            </a:pPr>
            <a:r>
              <a:rPr lang="en-US" sz="650" dirty="0">
                <a:solidFill>
                  <a:srgbClr val="5C5C5C"/>
                </a:solidFill>
                <a:latin typeface="Calibri" pitchFamily="34" charset="0"/>
                <a:ea typeface="Calibri" pitchFamily="34" charset="-122"/>
                <a:cs typeface="Calibri" pitchFamily="34" charset="-120"/>
              </a:rPr>
              <a:t>Cited answer back to Teams</a:t>
            </a:r>
            <a:endParaRPr lang="en-US" sz="650" dirty="0"/>
          </a:p>
        </p:txBody>
      </p:sp>
      <p:sp>
        <p:nvSpPr>
          <p:cNvPr id="20" name="Text 16"/>
          <p:cNvSpPr/>
          <p:nvPr/>
        </p:nvSpPr>
        <p:spPr>
          <a:xfrm>
            <a:off x="6263640" y="1417320"/>
            <a:ext cx="2743200" cy="182880"/>
          </a:xfrm>
          <a:prstGeom prst="rect">
            <a:avLst/>
          </a:prstGeom>
          <a:noFill/>
          <a:ln/>
        </p:spPr>
        <p:txBody>
          <a:bodyPr wrap="square" lIns="0" tIns="0" rIns="0" bIns="0" rtlCol="0" anchor="ctr"/>
          <a:lstStyle/>
          <a:p>
            <a:pPr indent="0" marL="0">
              <a:buNone/>
            </a:pPr>
            <a:r>
              <a:rPr lang="en-US" sz="900" b="1" dirty="0">
                <a:solidFill>
                  <a:srgbClr val="2D2D2D"/>
                </a:solidFill>
                <a:latin typeface="Arial" pitchFamily="34" charset="0"/>
                <a:ea typeface="Arial" pitchFamily="34" charset="-122"/>
                <a:cs typeface="Arial" pitchFamily="34" charset="-120"/>
              </a:rPr>
              <a:t>Key Features and Workflow</a:t>
            </a:r>
            <a:endParaRPr lang="en-US" sz="900" dirty="0"/>
          </a:p>
        </p:txBody>
      </p:sp>
      <p:sp>
        <p:nvSpPr>
          <p:cNvPr id="21" name="Shape 17"/>
          <p:cNvSpPr/>
          <p:nvPr/>
        </p:nvSpPr>
        <p:spPr>
          <a:xfrm>
            <a:off x="6263640" y="1618488"/>
            <a:ext cx="804672" cy="219456"/>
          </a:xfrm>
          <a:prstGeom prst="roundRect">
            <a:avLst>
              <a:gd name="adj" fmla="val 14583"/>
            </a:avLst>
          </a:prstGeom>
          <a:solidFill>
            <a:srgbClr val="D04A02"/>
          </a:solidFill>
          <a:ln/>
          <a:effectLst>
            <a:outerShdw sx="100000" sy="100000" kx="0" ky="0" algn="bl" rotWithShape="0" blurRad="4.2586318022438123e+164" dist="1.4195439340812709e+164" dir="1.2030745084959364e+193">
              <a:srgbClr val="AAAAAA">
                <a:alpha val="2.5000000000000003e+199"/>
              </a:srgbClr>
            </a:outerShdw>
          </a:effectLst>
        </p:spPr>
      </p:sp>
      <p:sp>
        <p:nvSpPr>
          <p:cNvPr id="22" name="Text 18"/>
          <p:cNvSpPr/>
          <p:nvPr/>
        </p:nvSpPr>
        <p:spPr>
          <a:xfrm>
            <a:off x="6263640" y="1618488"/>
            <a:ext cx="804672" cy="219456"/>
          </a:xfrm>
          <a:prstGeom prst="rect">
            <a:avLst/>
          </a:prstGeom>
          <a:noFill/>
          <a:ln/>
        </p:spPr>
        <p:txBody>
          <a:bodyPr wrap="square"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Teams Q&amp;A</a:t>
            </a:r>
            <a:endParaRPr lang="en-US" sz="500" dirty="0"/>
          </a:p>
        </p:txBody>
      </p:sp>
      <p:sp>
        <p:nvSpPr>
          <p:cNvPr id="23" name="Text 19"/>
          <p:cNvSpPr/>
          <p:nvPr/>
        </p:nvSpPr>
        <p:spPr>
          <a:xfrm>
            <a:off x="7114032" y="1618488"/>
            <a:ext cx="1920240" cy="219456"/>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Natural language questions in M365</a:t>
            </a:r>
            <a:endParaRPr lang="en-US" sz="600" dirty="0"/>
          </a:p>
        </p:txBody>
      </p:sp>
      <p:sp>
        <p:nvSpPr>
          <p:cNvPr id="24" name="Shape 20"/>
          <p:cNvSpPr/>
          <p:nvPr/>
        </p:nvSpPr>
        <p:spPr>
          <a:xfrm>
            <a:off x="6263640" y="1865376"/>
            <a:ext cx="804672" cy="219456"/>
          </a:xfrm>
          <a:prstGeom prst="roundRect">
            <a:avLst>
              <a:gd name="adj" fmla="val 14583"/>
            </a:avLst>
          </a:prstGeom>
          <a:solidFill>
            <a:srgbClr val="D04A02"/>
          </a:solidFill>
          <a:ln/>
          <a:effectLst>
            <a:outerShdw sx="100000" sy="100000" kx="0" ky="0" algn="bl" rotWithShape="0" blurRad="5.408462388849642e+168" dist="1.802820796283214e+168" dir="7.218447050975619e+197">
              <a:srgbClr val="AAAAAA">
                <a:alpha val="2.5000000000000003e+204"/>
              </a:srgbClr>
            </a:outerShdw>
          </a:effectLst>
        </p:spPr>
      </p:sp>
      <p:sp>
        <p:nvSpPr>
          <p:cNvPr id="25" name="Text 21"/>
          <p:cNvSpPr/>
          <p:nvPr/>
        </p:nvSpPr>
        <p:spPr>
          <a:xfrm>
            <a:off x="6263640" y="1865376"/>
            <a:ext cx="804672" cy="219456"/>
          </a:xfrm>
          <a:prstGeom prst="rect">
            <a:avLst/>
          </a:prstGeom>
          <a:noFill/>
          <a:ln/>
        </p:spPr>
        <p:txBody>
          <a:bodyPr wrap="square"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Intent Classify</a:t>
            </a:r>
            <a:endParaRPr lang="en-US" sz="500" dirty="0"/>
          </a:p>
        </p:txBody>
      </p:sp>
      <p:sp>
        <p:nvSpPr>
          <p:cNvPr id="26" name="Text 22"/>
          <p:cNvSpPr/>
          <p:nvPr/>
        </p:nvSpPr>
        <p:spPr>
          <a:xfrm>
            <a:off x="7114032" y="1865376"/>
            <a:ext cx="1920240" cy="219456"/>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7 intent categories via Bedrock</a:t>
            </a:r>
            <a:endParaRPr lang="en-US" sz="600" dirty="0"/>
          </a:p>
        </p:txBody>
      </p:sp>
      <p:sp>
        <p:nvSpPr>
          <p:cNvPr id="27" name="Shape 23"/>
          <p:cNvSpPr/>
          <p:nvPr/>
        </p:nvSpPr>
        <p:spPr>
          <a:xfrm>
            <a:off x="6263640" y="2112264"/>
            <a:ext cx="804672" cy="219456"/>
          </a:xfrm>
          <a:prstGeom prst="roundRect">
            <a:avLst>
              <a:gd name="adj" fmla="val 14583"/>
            </a:avLst>
          </a:prstGeom>
          <a:solidFill>
            <a:srgbClr val="D04A02"/>
          </a:solidFill>
          <a:ln/>
          <a:effectLst>
            <a:outerShdw sx="100000" sy="100000" kx="0" ky="0" algn="bl" rotWithShape="0" blurRad="6.868747233839046e+172" dist="2.289582411279682e+172" dir="4.3310682305853715e+202">
              <a:srgbClr val="AAAAAA">
                <a:alpha val="2.5000000000000002e+209"/>
              </a:srgbClr>
            </a:outerShdw>
          </a:effectLst>
        </p:spPr>
      </p:sp>
      <p:sp>
        <p:nvSpPr>
          <p:cNvPr id="28" name="Text 24"/>
          <p:cNvSpPr/>
          <p:nvPr/>
        </p:nvSpPr>
        <p:spPr>
          <a:xfrm>
            <a:off x="6263640" y="2112264"/>
            <a:ext cx="804672" cy="219456"/>
          </a:xfrm>
          <a:prstGeom prst="rect">
            <a:avLst/>
          </a:prstGeom>
          <a:noFill/>
          <a:ln/>
        </p:spPr>
        <p:txBody>
          <a:bodyPr wrap="square"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Query Enhance</a:t>
            </a:r>
            <a:endParaRPr lang="en-US" sz="500" dirty="0"/>
          </a:p>
        </p:txBody>
      </p:sp>
      <p:sp>
        <p:nvSpPr>
          <p:cNvPr id="29" name="Text 25"/>
          <p:cNvSpPr/>
          <p:nvPr/>
        </p:nvSpPr>
        <p:spPr>
          <a:xfrm>
            <a:off x="7114032" y="2112264"/>
            <a:ext cx="1920240" cy="219456"/>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Expand &amp; refine user query</a:t>
            </a:r>
            <a:endParaRPr lang="en-US" sz="600" dirty="0"/>
          </a:p>
        </p:txBody>
      </p:sp>
      <p:sp>
        <p:nvSpPr>
          <p:cNvPr id="30" name="Shape 26"/>
          <p:cNvSpPr/>
          <p:nvPr/>
        </p:nvSpPr>
        <p:spPr>
          <a:xfrm>
            <a:off x="6263640" y="2359152"/>
            <a:ext cx="804672" cy="219456"/>
          </a:xfrm>
          <a:prstGeom prst="roundRect">
            <a:avLst>
              <a:gd name="adj" fmla="val 14583"/>
            </a:avLst>
          </a:prstGeom>
          <a:solidFill>
            <a:srgbClr val="D04A02"/>
          </a:solidFill>
          <a:ln/>
          <a:effectLst>
            <a:outerShdw sx="100000" sy="100000" kx="0" ky="0" algn="bl" rotWithShape="0" blurRad="8.723308986975589e+176" dist="2.907769662325196e+176" dir="2.598640938351223e+207">
              <a:srgbClr val="AAAAAA">
                <a:alpha val="2.5000000000000002e+214"/>
              </a:srgbClr>
            </a:outerShdw>
          </a:effectLst>
        </p:spPr>
      </p:sp>
      <p:sp>
        <p:nvSpPr>
          <p:cNvPr id="31" name="Text 27"/>
          <p:cNvSpPr/>
          <p:nvPr/>
        </p:nvSpPr>
        <p:spPr>
          <a:xfrm>
            <a:off x="6263640" y="2359152"/>
            <a:ext cx="804672" cy="219456"/>
          </a:xfrm>
          <a:prstGeom prst="rect">
            <a:avLst/>
          </a:prstGeom>
          <a:noFill/>
          <a:ln/>
        </p:spPr>
        <p:txBody>
          <a:bodyPr wrap="square"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Graph Search</a:t>
            </a:r>
            <a:endParaRPr lang="en-US" sz="500" dirty="0"/>
          </a:p>
        </p:txBody>
      </p:sp>
      <p:sp>
        <p:nvSpPr>
          <p:cNvPr id="32" name="Text 28"/>
          <p:cNvSpPr/>
          <p:nvPr/>
        </p:nvSpPr>
        <p:spPr>
          <a:xfrm>
            <a:off x="7114032" y="2359152"/>
            <a:ext cx="1920240" cy="219456"/>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SharePoint/OneDrive via OBO token</a:t>
            </a:r>
            <a:endParaRPr lang="en-US" sz="600" dirty="0"/>
          </a:p>
        </p:txBody>
      </p:sp>
      <p:sp>
        <p:nvSpPr>
          <p:cNvPr id="33" name="Shape 29"/>
          <p:cNvSpPr/>
          <p:nvPr/>
        </p:nvSpPr>
        <p:spPr>
          <a:xfrm>
            <a:off x="6263640" y="2606040"/>
            <a:ext cx="804672" cy="219456"/>
          </a:xfrm>
          <a:prstGeom prst="roundRect">
            <a:avLst>
              <a:gd name="adj" fmla="val 14583"/>
            </a:avLst>
          </a:prstGeom>
          <a:solidFill>
            <a:srgbClr val="D04A02"/>
          </a:solidFill>
          <a:ln/>
          <a:effectLst>
            <a:outerShdw sx="100000" sy="100000" kx="0" ky="0" algn="bl" rotWithShape="0" blurRad="1.1078602413458997e+181" dist="3.692867471152999e+180" dir="1.5591845630107338e+212">
              <a:srgbClr val="AAAAAA">
                <a:alpha val="2.5000000000000003e+219"/>
              </a:srgbClr>
            </a:outerShdw>
          </a:effectLst>
        </p:spPr>
      </p:sp>
      <p:sp>
        <p:nvSpPr>
          <p:cNvPr id="34" name="Text 30"/>
          <p:cNvSpPr/>
          <p:nvPr/>
        </p:nvSpPr>
        <p:spPr>
          <a:xfrm>
            <a:off x="6263640" y="2606040"/>
            <a:ext cx="804672" cy="219456"/>
          </a:xfrm>
          <a:prstGeom prst="rect">
            <a:avLst/>
          </a:prstGeom>
          <a:noFill/>
          <a:ln/>
        </p:spPr>
        <p:txBody>
          <a:bodyPr wrap="square"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Cited Answers</a:t>
            </a:r>
            <a:endParaRPr lang="en-US" sz="500" dirty="0"/>
          </a:p>
        </p:txBody>
      </p:sp>
      <p:sp>
        <p:nvSpPr>
          <p:cNvPr id="35" name="Text 31"/>
          <p:cNvSpPr/>
          <p:nvPr/>
        </p:nvSpPr>
        <p:spPr>
          <a:xfrm>
            <a:off x="7114032" y="2606040"/>
            <a:ext cx="1920240" cy="219456"/>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Document-level source citations</a:t>
            </a:r>
            <a:endParaRPr lang="en-US" sz="600" dirty="0"/>
          </a:p>
        </p:txBody>
      </p:sp>
      <p:sp>
        <p:nvSpPr>
          <p:cNvPr id="36" name="Shape 32"/>
          <p:cNvSpPr/>
          <p:nvPr/>
        </p:nvSpPr>
        <p:spPr>
          <a:xfrm>
            <a:off x="6263640" y="2852928"/>
            <a:ext cx="804672" cy="219456"/>
          </a:xfrm>
          <a:prstGeom prst="roundRect">
            <a:avLst>
              <a:gd name="adj" fmla="val 14583"/>
            </a:avLst>
          </a:prstGeom>
          <a:solidFill>
            <a:srgbClr val="D04A02"/>
          </a:solidFill>
          <a:ln/>
          <a:effectLst>
            <a:outerShdw sx="100000" sy="100000" kx="0" ky="0" algn="bl" rotWithShape="0" blurRad="1.4069825065092926e+185" dist="4.689941688364309e+184" dir="9.355107378064403e+216">
              <a:srgbClr val="AAAAAA">
                <a:alpha val="2.5000000000000002e+224"/>
              </a:srgbClr>
            </a:outerShdw>
          </a:effectLst>
        </p:spPr>
      </p:sp>
      <p:sp>
        <p:nvSpPr>
          <p:cNvPr id="37" name="Text 33"/>
          <p:cNvSpPr/>
          <p:nvPr/>
        </p:nvSpPr>
        <p:spPr>
          <a:xfrm>
            <a:off x="6263640" y="2852928"/>
            <a:ext cx="804672" cy="219456"/>
          </a:xfrm>
          <a:prstGeom prst="rect">
            <a:avLst/>
          </a:prstGeom>
          <a:noFill/>
          <a:ln/>
        </p:spPr>
        <p:txBody>
          <a:bodyPr wrap="square"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QA Validation</a:t>
            </a:r>
            <a:endParaRPr lang="en-US" sz="500" dirty="0"/>
          </a:p>
        </p:txBody>
      </p:sp>
      <p:sp>
        <p:nvSpPr>
          <p:cNvPr id="38" name="Text 34"/>
          <p:cNvSpPr/>
          <p:nvPr/>
        </p:nvSpPr>
        <p:spPr>
          <a:xfrm>
            <a:off x="7114032" y="2852928"/>
            <a:ext cx="1920240" cy="219456"/>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Hallucination check + auto retry</a:t>
            </a:r>
            <a:endParaRPr lang="en-US" sz="600" dirty="0"/>
          </a:p>
        </p:txBody>
      </p:sp>
      <p:sp>
        <p:nvSpPr>
          <p:cNvPr id="39" name="Shape 35"/>
          <p:cNvSpPr/>
          <p:nvPr/>
        </p:nvSpPr>
        <p:spPr>
          <a:xfrm>
            <a:off x="6263640" y="3099816"/>
            <a:ext cx="804672" cy="219456"/>
          </a:xfrm>
          <a:prstGeom prst="roundRect">
            <a:avLst>
              <a:gd name="adj" fmla="val 14583"/>
            </a:avLst>
          </a:prstGeom>
          <a:solidFill>
            <a:srgbClr val="D04A02"/>
          </a:solidFill>
          <a:ln/>
          <a:effectLst>
            <a:outerShdw sx="100000" sy="100000" kx="0" ky="0" algn="bl" rotWithShape="0" blurRad="1.7868677832668018e+189" dist="5.956225944222673e+188" dir="5.613064426838642e+221">
              <a:srgbClr val="AAAAAA">
                <a:alpha val="2.5e+229"/>
              </a:srgbClr>
            </a:outerShdw>
          </a:effectLst>
        </p:spPr>
      </p:sp>
      <p:sp>
        <p:nvSpPr>
          <p:cNvPr id="40" name="Text 36"/>
          <p:cNvSpPr/>
          <p:nvPr/>
        </p:nvSpPr>
        <p:spPr>
          <a:xfrm>
            <a:off x="6263640" y="3099816"/>
            <a:ext cx="804672" cy="219456"/>
          </a:xfrm>
          <a:prstGeom prst="rect">
            <a:avLst/>
          </a:prstGeom>
          <a:noFill/>
          <a:ln/>
        </p:spPr>
        <p:txBody>
          <a:bodyPr wrap="square"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Feedback Loop</a:t>
            </a:r>
            <a:endParaRPr lang="en-US" sz="500" dirty="0"/>
          </a:p>
        </p:txBody>
      </p:sp>
      <p:sp>
        <p:nvSpPr>
          <p:cNvPr id="41" name="Text 37"/>
          <p:cNvSpPr/>
          <p:nvPr/>
        </p:nvSpPr>
        <p:spPr>
          <a:xfrm>
            <a:off x="7114032" y="3099816"/>
            <a:ext cx="1920240" cy="219456"/>
          </a:xfrm>
          <a:prstGeom prst="rect">
            <a:avLst/>
          </a:prstGeom>
          <a:noFill/>
          <a:ln/>
        </p:spPr>
        <p:txBody>
          <a:bodyPr wrap="square" rtlCol="0" anchor="ctr"/>
          <a:lstStyle/>
          <a:p>
            <a:pPr indent="0" marL="0">
              <a:buNone/>
            </a:pPr>
            <a:r>
              <a:rPr lang="en-US" sz="600" dirty="0">
                <a:solidFill>
                  <a:srgbClr val="5C5C5C"/>
                </a:solidFill>
                <a:latin typeface="Calibri" pitchFamily="34" charset="0"/>
                <a:ea typeface="Calibri" pitchFamily="34" charset="-122"/>
                <a:cs typeface="Calibri" pitchFamily="34" charset="-120"/>
              </a:rPr>
              <a:t>/feedback linked by correlation_id</a:t>
            </a:r>
            <a:endParaRPr lang="en-US" sz="600" dirty="0"/>
          </a:p>
        </p:txBody>
      </p:sp>
      <p:sp>
        <p:nvSpPr>
          <p:cNvPr id="42" name="Text 38"/>
          <p:cNvSpPr/>
          <p:nvPr/>
        </p:nvSpPr>
        <p:spPr>
          <a:xfrm>
            <a:off x="6263640" y="3419856"/>
            <a:ext cx="2286000" cy="146304"/>
          </a:xfrm>
          <a:prstGeom prst="rect">
            <a:avLst/>
          </a:prstGeom>
          <a:noFill/>
          <a:ln/>
        </p:spPr>
        <p:txBody>
          <a:bodyPr wrap="square" lIns="0" tIns="0" rIns="0" bIns="0" rtlCol="0" anchor="ctr"/>
          <a:lstStyle/>
          <a:p>
            <a:pPr indent="0" marL="0">
              <a:buNone/>
            </a:pPr>
            <a:r>
              <a:rPr lang="en-US" sz="700" b="1" dirty="0">
                <a:solidFill>
                  <a:srgbClr val="D04A02"/>
                </a:solidFill>
                <a:latin typeface="Arial" pitchFamily="34" charset="0"/>
                <a:ea typeface="Arial" pitchFamily="34" charset="-122"/>
                <a:cs typeface="Arial" pitchFamily="34" charset="-120"/>
              </a:rPr>
              <a:t>Data Sources</a:t>
            </a:r>
            <a:endParaRPr lang="en-US" sz="700" dirty="0"/>
          </a:p>
        </p:txBody>
      </p:sp>
      <p:pic>
        <p:nvPicPr>
          <p:cNvPr id="43" name="Image 2" descr="preencoded.png">    </p:cNvPr>
          <p:cNvPicPr>
            <a:picLocks noChangeAspect="1"/>
          </p:cNvPicPr>
          <p:nvPr/>
        </p:nvPicPr>
        <p:blipFill>
          <a:blip r:embed="rId3"/>
          <a:stretch>
            <a:fillRect/>
          </a:stretch>
        </p:blipFill>
        <p:spPr>
          <a:xfrm>
            <a:off x="6263640" y="3593592"/>
            <a:ext cx="91440" cy="91440"/>
          </a:xfrm>
          <a:prstGeom prst="rect">
            <a:avLst/>
          </a:prstGeom>
        </p:spPr>
      </p:pic>
      <p:sp>
        <p:nvSpPr>
          <p:cNvPr id="44" name="Text 39"/>
          <p:cNvSpPr/>
          <p:nvPr/>
        </p:nvSpPr>
        <p:spPr>
          <a:xfrm>
            <a:off x="6391656" y="3579876"/>
            <a:ext cx="2011680" cy="128016"/>
          </a:xfrm>
          <a:prstGeom prst="rect">
            <a:avLst/>
          </a:prstGeom>
          <a:noFill/>
          <a:ln/>
        </p:spPr>
        <p:txBody>
          <a:bodyPr wrap="square" lIns="0" tIns="0" rIns="0" bIns="0" rtlCol="0" anchor="ctr"/>
          <a:lstStyle/>
          <a:p>
            <a:pPr indent="0" marL="0">
              <a:buNone/>
            </a:pPr>
            <a:r>
              <a:rPr lang="en-US" sz="600" dirty="0">
                <a:solidFill>
                  <a:srgbClr val="5C5C5C"/>
                </a:solidFill>
                <a:latin typeface="Calibri" pitchFamily="34" charset="0"/>
                <a:ea typeface="Calibri" pitchFamily="34" charset="-122"/>
                <a:cs typeface="Calibri" pitchFamily="34" charset="-120"/>
              </a:rPr>
              <a:t>SharePoint Sites</a:t>
            </a:r>
            <a:endParaRPr lang="en-US" sz="600" dirty="0"/>
          </a:p>
        </p:txBody>
      </p:sp>
      <p:pic>
        <p:nvPicPr>
          <p:cNvPr id="45" name="Image 3" descr="preencoded.png">    </p:cNvPr>
          <p:cNvPicPr>
            <a:picLocks noChangeAspect="1"/>
          </p:cNvPicPr>
          <p:nvPr/>
        </p:nvPicPr>
        <p:blipFill>
          <a:blip r:embed="rId4"/>
          <a:stretch>
            <a:fillRect/>
          </a:stretch>
        </p:blipFill>
        <p:spPr>
          <a:xfrm>
            <a:off x="6263640" y="3735324"/>
            <a:ext cx="91440" cy="91440"/>
          </a:xfrm>
          <a:prstGeom prst="rect">
            <a:avLst/>
          </a:prstGeom>
        </p:spPr>
      </p:pic>
      <p:sp>
        <p:nvSpPr>
          <p:cNvPr id="46" name="Text 40"/>
          <p:cNvSpPr/>
          <p:nvPr/>
        </p:nvSpPr>
        <p:spPr>
          <a:xfrm>
            <a:off x="6391656" y="3721608"/>
            <a:ext cx="2011680" cy="128016"/>
          </a:xfrm>
          <a:prstGeom prst="rect">
            <a:avLst/>
          </a:prstGeom>
          <a:noFill/>
          <a:ln/>
        </p:spPr>
        <p:txBody>
          <a:bodyPr wrap="square" lIns="0" tIns="0" rIns="0" bIns="0" rtlCol="0" anchor="ctr"/>
          <a:lstStyle/>
          <a:p>
            <a:pPr indent="0" marL="0">
              <a:buNone/>
            </a:pPr>
            <a:r>
              <a:rPr lang="en-US" sz="600" dirty="0">
                <a:solidFill>
                  <a:srgbClr val="5C5C5C"/>
                </a:solidFill>
                <a:latin typeface="Calibri" pitchFamily="34" charset="0"/>
                <a:ea typeface="Calibri" pitchFamily="34" charset="-122"/>
                <a:cs typeface="Calibri" pitchFamily="34" charset="-120"/>
              </a:rPr>
              <a:t>OneDrive Files</a:t>
            </a:r>
            <a:endParaRPr lang="en-US" sz="600" dirty="0"/>
          </a:p>
        </p:txBody>
      </p:sp>
      <p:pic>
        <p:nvPicPr>
          <p:cNvPr id="47" name="Image 4" descr="preencoded.png">    </p:cNvPr>
          <p:cNvPicPr>
            <a:picLocks noChangeAspect="1"/>
          </p:cNvPicPr>
          <p:nvPr/>
        </p:nvPicPr>
        <p:blipFill>
          <a:blip r:embed="rId5"/>
          <a:stretch>
            <a:fillRect/>
          </a:stretch>
        </p:blipFill>
        <p:spPr>
          <a:xfrm>
            <a:off x="6263640" y="3877056"/>
            <a:ext cx="91440" cy="91440"/>
          </a:xfrm>
          <a:prstGeom prst="rect">
            <a:avLst/>
          </a:prstGeom>
        </p:spPr>
      </p:pic>
      <p:sp>
        <p:nvSpPr>
          <p:cNvPr id="48" name="Text 41"/>
          <p:cNvSpPr/>
          <p:nvPr/>
        </p:nvSpPr>
        <p:spPr>
          <a:xfrm>
            <a:off x="6391656" y="3863340"/>
            <a:ext cx="2011680" cy="128016"/>
          </a:xfrm>
          <a:prstGeom prst="rect">
            <a:avLst/>
          </a:prstGeom>
          <a:noFill/>
          <a:ln/>
        </p:spPr>
        <p:txBody>
          <a:bodyPr wrap="square" lIns="0" tIns="0" rIns="0" bIns="0" rtlCol="0" anchor="ctr"/>
          <a:lstStyle/>
          <a:p>
            <a:pPr indent="0" marL="0">
              <a:buNone/>
            </a:pPr>
            <a:r>
              <a:rPr lang="en-US" sz="600" dirty="0">
                <a:solidFill>
                  <a:srgbClr val="5C5C5C"/>
                </a:solidFill>
                <a:latin typeface="Calibri" pitchFamily="34" charset="0"/>
                <a:ea typeface="Calibri" pitchFamily="34" charset="-122"/>
                <a:cs typeface="Calibri" pitchFamily="34" charset="-120"/>
              </a:rPr>
              <a:t>Session Store</a:t>
            </a:r>
            <a:endParaRPr lang="en-US" sz="600" dirty="0"/>
          </a:p>
        </p:txBody>
      </p:sp>
      <p:pic>
        <p:nvPicPr>
          <p:cNvPr id="49" name="Image 5" descr="preencoded.png">    </p:cNvPr>
          <p:cNvPicPr>
            <a:picLocks noChangeAspect="1"/>
          </p:cNvPicPr>
          <p:nvPr/>
        </p:nvPicPr>
        <p:blipFill>
          <a:blip r:embed="rId6"/>
          <a:stretch>
            <a:fillRect/>
          </a:stretch>
        </p:blipFill>
        <p:spPr>
          <a:xfrm>
            <a:off x="6263640" y="4018788"/>
            <a:ext cx="91440" cy="91440"/>
          </a:xfrm>
          <a:prstGeom prst="rect">
            <a:avLst/>
          </a:prstGeom>
        </p:spPr>
      </p:pic>
      <p:sp>
        <p:nvSpPr>
          <p:cNvPr id="50" name="Text 42"/>
          <p:cNvSpPr/>
          <p:nvPr/>
        </p:nvSpPr>
        <p:spPr>
          <a:xfrm>
            <a:off x="6391656" y="4005072"/>
            <a:ext cx="2011680" cy="128016"/>
          </a:xfrm>
          <a:prstGeom prst="rect">
            <a:avLst/>
          </a:prstGeom>
          <a:noFill/>
          <a:ln/>
        </p:spPr>
        <p:txBody>
          <a:bodyPr wrap="square" lIns="0" tIns="0" rIns="0" bIns="0" rtlCol="0" anchor="ctr"/>
          <a:lstStyle/>
          <a:p>
            <a:pPr indent="0" marL="0">
              <a:buNone/>
            </a:pPr>
            <a:r>
              <a:rPr lang="en-US" sz="600" dirty="0">
                <a:solidFill>
                  <a:srgbClr val="5C5C5C"/>
                </a:solidFill>
                <a:latin typeface="Calibri" pitchFamily="34" charset="0"/>
                <a:ea typeface="Calibri" pitchFamily="34" charset="-122"/>
                <a:cs typeface="Calibri" pitchFamily="34" charset="-120"/>
              </a:rPr>
              <a:t>Chat History</a:t>
            </a:r>
            <a:endParaRPr lang="en-US" sz="600" dirty="0"/>
          </a:p>
        </p:txBody>
      </p:sp>
      <p:pic>
        <p:nvPicPr>
          <p:cNvPr id="51" name="Image 6" descr="preencoded.png">    </p:cNvPr>
          <p:cNvPicPr>
            <a:picLocks noChangeAspect="1"/>
          </p:cNvPicPr>
          <p:nvPr/>
        </p:nvPicPr>
        <p:blipFill>
          <a:blip r:embed="rId7"/>
          <a:stretch>
            <a:fillRect/>
          </a:stretch>
        </p:blipFill>
        <p:spPr>
          <a:xfrm>
            <a:off x="6263640" y="4160520"/>
            <a:ext cx="91440" cy="91440"/>
          </a:xfrm>
          <a:prstGeom prst="rect">
            <a:avLst/>
          </a:prstGeom>
        </p:spPr>
      </p:pic>
      <p:sp>
        <p:nvSpPr>
          <p:cNvPr id="52" name="Text 43"/>
          <p:cNvSpPr/>
          <p:nvPr/>
        </p:nvSpPr>
        <p:spPr>
          <a:xfrm>
            <a:off x="6391656" y="4146804"/>
            <a:ext cx="2011680" cy="128016"/>
          </a:xfrm>
          <a:prstGeom prst="rect">
            <a:avLst/>
          </a:prstGeom>
          <a:noFill/>
          <a:ln/>
        </p:spPr>
        <p:txBody>
          <a:bodyPr wrap="square" lIns="0" tIns="0" rIns="0" bIns="0" rtlCol="0" anchor="ctr"/>
          <a:lstStyle/>
          <a:p>
            <a:pPr indent="0" marL="0">
              <a:buNone/>
            </a:pPr>
            <a:r>
              <a:rPr lang="en-US" sz="600" dirty="0">
                <a:solidFill>
                  <a:srgbClr val="5C5C5C"/>
                </a:solidFill>
                <a:latin typeface="Calibri" pitchFamily="34" charset="0"/>
                <a:ea typeface="Calibri" pitchFamily="34" charset="-122"/>
                <a:cs typeface="Calibri" pitchFamily="34" charset="-120"/>
              </a:rPr>
              <a:t>User Feedback</a:t>
            </a:r>
            <a:endParaRPr lang="en-US" sz="600" dirty="0"/>
          </a:p>
        </p:txBody>
      </p:sp>
      <p:sp>
        <p:nvSpPr>
          <p:cNvPr id="53" name="Shape 44"/>
          <p:cNvSpPr/>
          <p:nvPr/>
        </p:nvSpPr>
        <p:spPr>
          <a:xfrm>
            <a:off x="274320" y="3246120"/>
            <a:ext cx="2286000" cy="201168"/>
          </a:xfrm>
          <a:prstGeom prst="roundRect">
            <a:avLst>
              <a:gd name="adj" fmla="val 13636"/>
            </a:avLst>
          </a:prstGeom>
          <a:solidFill>
            <a:srgbClr val="E8713A"/>
          </a:solidFill>
          <a:ln/>
          <a:effectLst>
            <a:outerShdw sx="100000" sy="100000" kx="0" ky="0" algn="bl" rotWithShape="0" blurRad="2.2693220847488382e+193" dist="7.564406949162794e+192" dir="3.367838656103185e+226">
              <a:srgbClr val="AAAAAA">
                <a:alpha val="2.5e+234"/>
              </a:srgbClr>
            </a:outerShdw>
          </a:effectLst>
        </p:spPr>
      </p:sp>
      <p:sp>
        <p:nvSpPr>
          <p:cNvPr id="54" name="Text 45"/>
          <p:cNvSpPr/>
          <p:nvPr/>
        </p:nvSpPr>
        <p:spPr>
          <a:xfrm>
            <a:off x="347472" y="3246120"/>
            <a:ext cx="2194560" cy="20116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Qualitative Impact</a:t>
            </a:r>
            <a:endParaRPr lang="en-US" sz="800" dirty="0"/>
          </a:p>
        </p:txBody>
      </p:sp>
      <p:sp>
        <p:nvSpPr>
          <p:cNvPr id="55" name="Text 46"/>
          <p:cNvSpPr/>
          <p:nvPr/>
        </p:nvSpPr>
        <p:spPr>
          <a:xfrm>
            <a:off x="274320" y="3474720"/>
            <a:ext cx="2286000" cy="1097280"/>
          </a:xfrm>
          <a:prstGeom prst="rect">
            <a:avLst/>
          </a:prstGeom>
          <a:noFill/>
          <a:ln/>
        </p:spPr>
        <p:txBody>
          <a:bodyPr wrap="square" rtlCol="0" anchor="t"/>
          <a:lstStyle/>
          <a:p>
            <a:pPr indent="0" marL="0">
              <a:buNone/>
            </a:pPr>
            <a:r>
              <a:rPr lang="en-US" sz="650" b="1" dirty="0">
                <a:solidFill>
                  <a:srgbClr val="5C5C5C"/>
                </a:solidFill>
                <a:latin typeface="Calibri" pitchFamily="34" charset="0"/>
                <a:ea typeface="Calibri" pitchFamily="34" charset="-122"/>
                <a:cs typeface="Calibri" pitchFamily="34" charset="-120"/>
              </a:rPr>
              <a:t>Permission-Aware: </a:t>
            </a:r>
            <a:pPr indent="0" marL="0">
              <a:buNone/>
            </a:pPr>
            <a:r>
              <a:rPr lang="en-US" sz="650" dirty="0">
                <a:solidFill>
                  <a:srgbClr val="5C5C5C"/>
                </a:solidFill>
                <a:latin typeface="Calibri" pitchFamily="34" charset="0"/>
                <a:ea typeface="Calibri" pitchFamily="34" charset="-122"/>
                <a:cs typeface="Calibri" pitchFamily="34" charset="-120"/>
              </a:rPr>
              <a:t>OBO ensures users see only what they can access</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Trust: </a:t>
            </a:r>
            <a:pPr indent="0" marL="0">
              <a:buNone/>
            </a:pPr>
            <a:r>
              <a:rPr lang="en-US" sz="650" dirty="0">
                <a:solidFill>
                  <a:srgbClr val="5C5C5C"/>
                </a:solidFill>
                <a:latin typeface="Calibri" pitchFamily="34" charset="0"/>
                <a:ea typeface="Calibri" pitchFamily="34" charset="-122"/>
                <a:cs typeface="Calibri" pitchFamily="34" charset="-120"/>
              </a:rPr>
              <a:t>Every answer carries citations, QA-validated</a:t>
            </a:r>
            <a:endParaRPr lang="en-US" sz="650" dirty="0"/>
          </a:p>
          <a:p>
            <a:pPr indent="0" marL="0">
              <a:buNone/>
            </a:pPr>
            <a:r>
              <a:rPr lang="en-US" sz="650" b="1" dirty="0">
                <a:solidFill>
                  <a:srgbClr val="5C5C5C"/>
                </a:solidFill>
                <a:latin typeface="Calibri" pitchFamily="34" charset="0"/>
                <a:ea typeface="Calibri" pitchFamily="34" charset="-122"/>
                <a:cs typeface="Calibri" pitchFamily="34" charset="-120"/>
              </a:rPr>
              <a:t>Adoption: </a:t>
            </a:r>
            <a:pPr indent="0" marL="0">
              <a:buNone/>
            </a:pPr>
            <a:r>
              <a:rPr lang="en-US" sz="650" dirty="0">
                <a:solidFill>
                  <a:srgbClr val="5C5C5C"/>
                </a:solidFill>
                <a:latin typeface="Calibri" pitchFamily="34" charset="0"/>
                <a:ea typeface="Calibri" pitchFamily="34" charset="-122"/>
                <a:cs typeface="Calibri" pitchFamily="34" charset="-120"/>
              </a:rPr>
              <a:t>Answers inside Teams - no new tool to learn</a:t>
            </a:r>
            <a:endParaRPr lang="en-US" sz="650" dirty="0"/>
          </a:p>
        </p:txBody>
      </p:sp>
      <p:sp>
        <p:nvSpPr>
          <p:cNvPr id="56" name="Shape 47"/>
          <p:cNvSpPr/>
          <p:nvPr/>
        </p:nvSpPr>
        <p:spPr>
          <a:xfrm>
            <a:off x="2651760" y="3246120"/>
            <a:ext cx="1005840" cy="201168"/>
          </a:xfrm>
          <a:prstGeom prst="roundRect">
            <a:avLst>
              <a:gd name="adj" fmla="val 13636"/>
            </a:avLst>
          </a:prstGeom>
          <a:solidFill>
            <a:srgbClr val="E8713A"/>
          </a:solidFill>
          <a:ln/>
          <a:effectLst>
            <a:outerShdw sx="100000" sy="100000" kx="0" ky="0" algn="bl" rotWithShape="0" blurRad="2.8820390476310245e+197" dist="9.606796825436748e+196" dir="2.020703193661911e+231">
              <a:srgbClr val="AAAAAA">
                <a:alpha val="2.5e+239"/>
              </a:srgbClr>
            </a:outerShdw>
          </a:effectLst>
        </p:spPr>
      </p:sp>
      <p:sp>
        <p:nvSpPr>
          <p:cNvPr id="57" name="Text 48"/>
          <p:cNvSpPr/>
          <p:nvPr/>
        </p:nvSpPr>
        <p:spPr>
          <a:xfrm>
            <a:off x="2697480" y="3246120"/>
            <a:ext cx="960120" cy="201168"/>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By the Numbers</a:t>
            </a:r>
            <a:endParaRPr lang="en-US" sz="800" dirty="0"/>
          </a:p>
        </p:txBody>
      </p:sp>
      <p:sp>
        <p:nvSpPr>
          <p:cNvPr id="58" name="Shape 49"/>
          <p:cNvSpPr/>
          <p:nvPr/>
        </p:nvSpPr>
        <p:spPr>
          <a:xfrm>
            <a:off x="2651760" y="3520440"/>
            <a:ext cx="868680" cy="1051560"/>
          </a:xfrm>
          <a:prstGeom prst="roundRect">
            <a:avLst>
              <a:gd name="adj" fmla="val 5263"/>
            </a:avLst>
          </a:prstGeom>
          <a:solidFill>
            <a:srgbClr val="2E8B57"/>
          </a:solidFill>
          <a:ln/>
          <a:effectLst>
            <a:outerShdw sx="100000" sy="100000" kx="0" ky="0" algn="bl" rotWithShape="0" blurRad="1.1179396942800187e+54" dist="4.471758777120074e+53" dir="1.1754624614400003e+64">
              <a:srgbClr val="9E9E9E">
                <a:alpha val="2.9999999999999996e+64"/>
              </a:srgbClr>
            </a:outerShdw>
          </a:effectLst>
        </p:spPr>
      </p:sp>
      <p:sp>
        <p:nvSpPr>
          <p:cNvPr id="59" name="Text 50"/>
          <p:cNvSpPr/>
          <p:nvPr/>
        </p:nvSpPr>
        <p:spPr>
          <a:xfrm>
            <a:off x="2651760" y="3602736"/>
            <a:ext cx="86868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60" name="Shape 51"/>
          <p:cNvSpPr/>
          <p:nvPr/>
        </p:nvSpPr>
        <p:spPr>
          <a:xfrm>
            <a:off x="2907792" y="3950208"/>
            <a:ext cx="356616" cy="12802"/>
          </a:xfrm>
          <a:prstGeom prst="rect">
            <a:avLst/>
          </a:prstGeom>
          <a:solidFill>
            <a:srgbClr val="FFFFFF"/>
          </a:solidFill>
          <a:ln/>
        </p:spPr>
      </p:sp>
      <p:sp>
        <p:nvSpPr>
          <p:cNvPr id="61" name="Text 52"/>
          <p:cNvSpPr/>
          <p:nvPr/>
        </p:nvSpPr>
        <p:spPr>
          <a:xfrm>
            <a:off x="2697480" y="4005072"/>
            <a:ext cx="777240" cy="530352"/>
          </a:xfrm>
          <a:prstGeom prst="rect">
            <a:avLst/>
          </a:prstGeom>
          <a:noFill/>
          <a:ln/>
        </p:spPr>
        <p:txBody>
          <a:bodyPr wrap="square"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specialized</a:t>
            </a:r>
            <a:endParaRPr lang="en-US" sz="600" dirty="0"/>
          </a:p>
          <a:p>
            <a:pPr algn="ctr" indent="0" marL="0">
              <a:buNone/>
            </a:pPr>
            <a:r>
              <a:rPr lang="en-US" sz="600" dirty="0">
                <a:solidFill>
                  <a:srgbClr val="FFFFFF"/>
                </a:solidFill>
                <a:latin typeface="Calibri" pitchFamily="34" charset="0"/>
                <a:ea typeface="Calibri" pitchFamily="34" charset="-122"/>
                <a:cs typeface="Calibri" pitchFamily="34" charset="-120"/>
              </a:rPr>
              <a:t>AI agents</a:t>
            </a:r>
            <a:endParaRPr lang="en-US" sz="600" dirty="0"/>
          </a:p>
        </p:txBody>
      </p:sp>
      <p:sp>
        <p:nvSpPr>
          <p:cNvPr id="62" name="Shape 53"/>
          <p:cNvSpPr/>
          <p:nvPr/>
        </p:nvSpPr>
        <p:spPr>
          <a:xfrm>
            <a:off x="3566160" y="3520440"/>
            <a:ext cx="868680" cy="1051560"/>
          </a:xfrm>
          <a:prstGeom prst="roundRect">
            <a:avLst>
              <a:gd name="adj" fmla="val 5263"/>
            </a:avLst>
          </a:prstGeom>
          <a:solidFill>
            <a:srgbClr val="2E8B57"/>
          </a:solidFill>
          <a:ln/>
          <a:effectLst>
            <a:outerShdw sx="100000" sy="100000" kx="0" ky="0" algn="bl" rotWithShape="0" blurRad="1.419783411735624e+58" dist="5.679133646942494e+57" dir="7.052774768640002e+68">
              <a:srgbClr val="9E9E9E">
                <a:alpha val="2.9999999999999995e+69"/>
              </a:srgbClr>
            </a:outerShdw>
          </a:effectLst>
        </p:spPr>
      </p:sp>
      <p:sp>
        <p:nvSpPr>
          <p:cNvPr id="63" name="Text 54"/>
          <p:cNvSpPr/>
          <p:nvPr/>
        </p:nvSpPr>
        <p:spPr>
          <a:xfrm>
            <a:off x="3566160" y="3602736"/>
            <a:ext cx="86868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OBO</a:t>
            </a:r>
            <a:endParaRPr lang="en-US" sz="1400" dirty="0"/>
          </a:p>
        </p:txBody>
      </p:sp>
      <p:sp>
        <p:nvSpPr>
          <p:cNvPr id="64" name="Shape 55"/>
          <p:cNvSpPr/>
          <p:nvPr/>
        </p:nvSpPr>
        <p:spPr>
          <a:xfrm>
            <a:off x="3822192" y="3950208"/>
            <a:ext cx="356616" cy="12802"/>
          </a:xfrm>
          <a:prstGeom prst="rect">
            <a:avLst/>
          </a:prstGeom>
          <a:solidFill>
            <a:srgbClr val="FFFFFF"/>
          </a:solidFill>
          <a:ln/>
        </p:spPr>
      </p:sp>
      <p:sp>
        <p:nvSpPr>
          <p:cNvPr id="65" name="Text 56"/>
          <p:cNvSpPr/>
          <p:nvPr/>
        </p:nvSpPr>
        <p:spPr>
          <a:xfrm>
            <a:off x="3611880" y="4005072"/>
            <a:ext cx="777240" cy="530352"/>
          </a:xfrm>
          <a:prstGeom prst="rect">
            <a:avLst/>
          </a:prstGeom>
          <a:noFill/>
          <a:ln/>
        </p:spPr>
        <p:txBody>
          <a:bodyPr wrap="square"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permission-aware</a:t>
            </a:r>
            <a:endParaRPr lang="en-US" sz="600" dirty="0"/>
          </a:p>
          <a:p>
            <a:pPr algn="ctr" indent="0" marL="0">
              <a:buNone/>
            </a:pPr>
            <a:r>
              <a:rPr lang="en-US" sz="600" dirty="0">
                <a:solidFill>
                  <a:srgbClr val="FFFFFF"/>
                </a:solidFill>
                <a:latin typeface="Calibri" pitchFamily="34" charset="0"/>
                <a:ea typeface="Calibri" pitchFamily="34" charset="-122"/>
                <a:cs typeface="Calibri" pitchFamily="34" charset="-120"/>
              </a:rPr>
              <a:t>search</a:t>
            </a:r>
            <a:endParaRPr lang="en-US" sz="600" dirty="0"/>
          </a:p>
        </p:txBody>
      </p:sp>
      <p:sp>
        <p:nvSpPr>
          <p:cNvPr id="66" name="Shape 57"/>
          <p:cNvSpPr/>
          <p:nvPr/>
        </p:nvSpPr>
        <p:spPr>
          <a:xfrm>
            <a:off x="4480560" y="3520440"/>
            <a:ext cx="868680" cy="1051560"/>
          </a:xfrm>
          <a:prstGeom prst="roundRect">
            <a:avLst>
              <a:gd name="adj" fmla="val 5263"/>
            </a:avLst>
          </a:prstGeom>
          <a:solidFill>
            <a:srgbClr val="2E8B57"/>
          </a:solidFill>
          <a:ln/>
          <a:effectLst>
            <a:outerShdw sx="100000" sy="100000" kx="0" ky="0" algn="bl" rotWithShape="0" blurRad="1.8031249329042424e+62" dist="7.212499731616968e+61" dir="4.2316648611840007e+73">
              <a:srgbClr val="9E9E9E">
                <a:alpha val="2.9999999999999995e+74"/>
              </a:srgbClr>
            </a:outerShdw>
          </a:effectLst>
        </p:spPr>
      </p:sp>
      <p:sp>
        <p:nvSpPr>
          <p:cNvPr id="67" name="Text 58"/>
          <p:cNvSpPr/>
          <p:nvPr/>
        </p:nvSpPr>
        <p:spPr>
          <a:xfrm>
            <a:off x="4480560" y="3602736"/>
            <a:ext cx="86868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100%</a:t>
            </a:r>
            <a:endParaRPr lang="en-US" sz="1400" dirty="0"/>
          </a:p>
        </p:txBody>
      </p:sp>
      <p:sp>
        <p:nvSpPr>
          <p:cNvPr id="68" name="Shape 59"/>
          <p:cNvSpPr/>
          <p:nvPr/>
        </p:nvSpPr>
        <p:spPr>
          <a:xfrm>
            <a:off x="4736592" y="3950208"/>
            <a:ext cx="356616" cy="12802"/>
          </a:xfrm>
          <a:prstGeom prst="rect">
            <a:avLst/>
          </a:prstGeom>
          <a:solidFill>
            <a:srgbClr val="FFFFFF"/>
          </a:solidFill>
          <a:ln/>
        </p:spPr>
      </p:sp>
      <p:sp>
        <p:nvSpPr>
          <p:cNvPr id="69" name="Text 60"/>
          <p:cNvSpPr/>
          <p:nvPr/>
        </p:nvSpPr>
        <p:spPr>
          <a:xfrm>
            <a:off x="4526280" y="4005072"/>
            <a:ext cx="777240" cy="530352"/>
          </a:xfrm>
          <a:prstGeom prst="rect">
            <a:avLst/>
          </a:prstGeom>
          <a:noFill/>
          <a:ln/>
        </p:spPr>
        <p:txBody>
          <a:bodyPr wrap="square"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cited</a:t>
            </a:r>
            <a:endParaRPr lang="en-US" sz="600" dirty="0"/>
          </a:p>
          <a:p>
            <a:pPr algn="ctr" indent="0" marL="0">
              <a:buNone/>
            </a:pPr>
            <a:r>
              <a:rPr lang="en-US" sz="600" dirty="0">
                <a:solidFill>
                  <a:srgbClr val="FFFFFF"/>
                </a:solidFill>
                <a:latin typeface="Calibri" pitchFamily="34" charset="0"/>
                <a:ea typeface="Calibri" pitchFamily="34" charset="-122"/>
                <a:cs typeface="Calibri" pitchFamily="34" charset="-120"/>
              </a:rPr>
              <a:t>answers</a:t>
            </a:r>
            <a:endParaRPr lang="en-US" sz="600" dirty="0"/>
          </a:p>
        </p:txBody>
      </p:sp>
      <p:sp>
        <p:nvSpPr>
          <p:cNvPr id="70" name="Shape 61"/>
          <p:cNvSpPr/>
          <p:nvPr/>
        </p:nvSpPr>
        <p:spPr>
          <a:xfrm>
            <a:off x="5394960" y="3520440"/>
            <a:ext cx="868680" cy="1051560"/>
          </a:xfrm>
          <a:prstGeom prst="roundRect">
            <a:avLst>
              <a:gd name="adj" fmla="val 5263"/>
            </a:avLst>
          </a:prstGeom>
          <a:solidFill>
            <a:srgbClr val="2E8B57"/>
          </a:solidFill>
          <a:ln/>
          <a:effectLst>
            <a:outerShdw sx="100000" sy="100000" kx="0" ky="0" algn="bl" rotWithShape="0" blurRad="2.289968664788388e+66" dist="9.15987465915355e+65" dir="2.5389989167104004e+78">
              <a:srgbClr val="9E9E9E">
                <a:alpha val="3e+79"/>
              </a:srgbClr>
            </a:outerShdw>
          </a:effectLst>
        </p:spPr>
      </p:sp>
      <p:sp>
        <p:nvSpPr>
          <p:cNvPr id="71" name="Text 62"/>
          <p:cNvSpPr/>
          <p:nvPr/>
        </p:nvSpPr>
        <p:spPr>
          <a:xfrm>
            <a:off x="5394960" y="3602736"/>
            <a:ext cx="86868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2" name="Shape 63"/>
          <p:cNvSpPr/>
          <p:nvPr/>
        </p:nvSpPr>
        <p:spPr>
          <a:xfrm>
            <a:off x="5650992" y="3950208"/>
            <a:ext cx="356616" cy="12802"/>
          </a:xfrm>
          <a:prstGeom prst="rect">
            <a:avLst/>
          </a:prstGeom>
          <a:solidFill>
            <a:srgbClr val="FFFFFF"/>
          </a:solidFill>
          <a:ln/>
        </p:spPr>
      </p:sp>
      <p:sp>
        <p:nvSpPr>
          <p:cNvPr id="73" name="Text 64"/>
          <p:cNvSpPr/>
          <p:nvPr/>
        </p:nvSpPr>
        <p:spPr>
          <a:xfrm>
            <a:off x="5440680" y="4005072"/>
            <a:ext cx="777240" cy="530352"/>
          </a:xfrm>
          <a:prstGeom prst="rect">
            <a:avLst/>
          </a:prstGeom>
          <a:noFill/>
          <a:ln/>
        </p:spPr>
        <p:txBody>
          <a:bodyPr wrap="square"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Lambda entry</a:t>
            </a:r>
            <a:endParaRPr lang="en-US" sz="600" dirty="0"/>
          </a:p>
          <a:p>
            <a:pPr algn="ctr" indent="0" marL="0">
              <a:buNone/>
            </a:pPr>
            <a:r>
              <a:rPr lang="en-US" sz="600" dirty="0">
                <a:solidFill>
                  <a:srgbClr val="FFFFFF"/>
                </a:solidFill>
                <a:latin typeface="Calibri" pitchFamily="34" charset="0"/>
                <a:ea typeface="Calibri" pitchFamily="34" charset="-122"/>
                <a:cs typeface="Calibri" pitchFamily="34" charset="-120"/>
              </a:rPr>
              <a:t>point</a:t>
            </a:r>
            <a:endParaRPr lang="en-US" sz="600" dirty="0"/>
          </a:p>
        </p:txBody>
      </p:sp>
      <p:sp>
        <p:nvSpPr>
          <p:cNvPr id="74" name="Shape 65"/>
          <p:cNvSpPr/>
          <p:nvPr/>
        </p:nvSpPr>
        <p:spPr>
          <a:xfrm>
            <a:off x="274320" y="4846320"/>
            <a:ext cx="8595360" cy="7315"/>
          </a:xfrm>
          <a:prstGeom prst="rect">
            <a:avLst/>
          </a:prstGeom>
          <a:solidFill>
            <a:srgbClr val="D9D9D9"/>
          </a:solidFill>
          <a:ln/>
        </p:spPr>
      </p:sp>
      <p:sp>
        <p:nvSpPr>
          <p:cNvPr id="75" name="Shape 66"/>
          <p:cNvSpPr/>
          <p:nvPr/>
        </p:nvSpPr>
        <p:spPr>
          <a:xfrm>
            <a:off x="274320" y="4919472"/>
            <a:ext cx="82296" cy="82296"/>
          </a:xfrm>
          <a:prstGeom prst="rect">
            <a:avLst/>
          </a:prstGeom>
          <a:solidFill>
            <a:srgbClr val="D04A02"/>
          </a:solidFill>
          <a:ln/>
        </p:spPr>
      </p:sp>
      <p:sp>
        <p:nvSpPr>
          <p:cNvPr id="76" name="Text 67"/>
          <p:cNvSpPr/>
          <p:nvPr/>
        </p:nvSpPr>
        <p:spPr>
          <a:xfrm>
            <a:off x="411480" y="4873752"/>
            <a:ext cx="3657600" cy="182880"/>
          </a:xfrm>
          <a:prstGeom prst="rect">
            <a:avLst/>
          </a:prstGeom>
          <a:noFill/>
          <a:ln/>
        </p:spPr>
        <p:txBody>
          <a:bodyPr wrap="square" lIns="0" tIns="0" rIns="0" bIns="0" rtlCol="0" anchor="ctr"/>
          <a:lstStyle/>
          <a:p>
            <a:pPr indent="0" marL="0">
              <a:buNone/>
            </a:pPr>
            <a:r>
              <a:rPr lang="en-US" sz="650" dirty="0">
                <a:solidFill>
                  <a:srgbClr val="5C5C5C"/>
                </a:solidFill>
                <a:latin typeface="Arial" pitchFamily="34" charset="0"/>
                <a:ea typeface="Arial" pitchFamily="34" charset="-122"/>
                <a:cs typeface="Arial" pitchFamily="34" charset="-120"/>
              </a:rPr>
              <a:t>PwC | Surge 1 Qual — GenAI Portfolio</a:t>
            </a:r>
            <a:endParaRPr lang="en-US" sz="650" dirty="0"/>
          </a:p>
        </p:txBody>
      </p:sp>
      <p:sp>
        <p:nvSpPr>
          <p:cNvPr id="77" name="Text 68"/>
          <p:cNvSpPr/>
          <p:nvPr/>
        </p:nvSpPr>
        <p:spPr>
          <a:xfrm>
            <a:off x="8412480" y="4873752"/>
            <a:ext cx="457200" cy="182880"/>
          </a:xfrm>
          <a:prstGeom prst="rect">
            <a:avLst/>
          </a:prstGeom>
          <a:noFill/>
          <a:ln/>
        </p:spPr>
        <p:txBody>
          <a:bodyPr wrap="square" lIns="0" tIns="0" rIns="0" bIns="0" rtlCol="0" anchor="ctr"/>
          <a:lstStyle/>
          <a:p>
            <a:pPr algn="r" indent="0" marL="0">
              <a:buNone/>
            </a:pPr>
            <a:r>
              <a:rPr lang="en-US" sz="650" dirty="0">
                <a:solidFill>
                  <a:srgbClr val="5C5C5C"/>
                </a:solidFill>
                <a:latin typeface="Arial" pitchFamily="34" charset="0"/>
                <a:ea typeface="Arial" pitchFamily="34" charset="-122"/>
                <a:cs typeface="Arial" pitchFamily="34" charset="-120"/>
              </a:rPr>
              <a:t>8</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PwC GenAI Portfolio - Surge 1 Qual</dc:title>
  <dc:subject>PptxGenJS Presentation</dc:subject>
  <dc:creator>PwC</dc:creator>
  <cp:lastModifiedBy>PwC</cp:lastModifiedBy>
  <cp:revision>1</cp:revision>
  <dcterms:created xsi:type="dcterms:W3CDTF">2026-07-15T09:24:08Z</dcterms:created>
  <dcterms:modified xsi:type="dcterms:W3CDTF">2026-07-15T09:24:08Z</dcterms:modified>
</cp:coreProperties>
</file>