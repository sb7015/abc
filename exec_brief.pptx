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85C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Change Monitor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Insurance Compliance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B85C1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508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volume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insurers face hundreds of regulatory changes monthly across federal agencies, 50+ state insurance departments, and international sanctions lists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591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313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bottleneck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14400" y="2542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spend weeks manually reviewing each change against every policy form — a process that doesn't scale with regulatory volume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6382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1181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 complexity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914400" y="33467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has unique requirements for the same product — domestic partner rules, free look periods, nonforfeiture standards all differ by jurisdiction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6849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922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exposure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914400" y="41513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delayed responses to regulatory changes lead to late filings, non-compliant policy language, regulatory sanctions, and market conduct findings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434840" y="1097280"/>
            <a:ext cx="13716" cy="34747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0" name="Text 14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709160" y="1581912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Text 16"/>
          <p:cNvSpPr/>
          <p:nvPr/>
        </p:nvSpPr>
        <p:spPr>
          <a:xfrm>
            <a:off x="4709160" y="15819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02920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multi-source monitoring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02920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continuously scrape federal registers, state department of insurance bulletins, OFAC sanctions lists, and other regulatory sources across all applicable jurisdictions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709160" y="2386584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6" name="Text 20"/>
          <p:cNvSpPr/>
          <p:nvPr/>
        </p:nvSpPr>
        <p:spPr>
          <a:xfrm>
            <a:off x="4709160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02920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relevance classification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9200" y="25420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regulation is read and analyzed by AI agents that determine relevance to the carrier's specific product lines, assign severity, and identify affected states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4709160" y="3191256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0" name="Text 24"/>
          <p:cNvSpPr/>
          <p:nvPr/>
        </p:nvSpPr>
        <p:spPr>
          <a:xfrm>
            <a:off x="4709160" y="3191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029200" y="3118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Policy-level impact mapping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029200" y="33467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identifies which specific policy forms and clauses are affected — then AI confirms the match and describes the compliance impact per jurisdiction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4709160" y="3995928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4" name="Text 28"/>
          <p:cNvSpPr/>
          <p:nvPr/>
        </p:nvSpPr>
        <p:spPr>
          <a:xfrm>
            <a:off x="4709160" y="3995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029200" y="3922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compliance memos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029200" y="41513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impacted regulation, the system generates structured memos with state-specific action items, compliance deadlines, and recommended next steps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B85C14"/>
          </a:solidFill>
          <a:ln/>
        </p:spPr>
      </p:sp>
      <p:sp>
        <p:nvSpPr>
          <p:cNvPr id="38" name="Text 32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manual compliance work → minutes of automated intelligence. Scalable to any carrier, any state, any line of business.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85C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Multi-Agent AI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working in sequence — each performs one task exceptionally well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B85C1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1993392" cy="292608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1993392" cy="5029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15568"/>
            <a:ext cx="365760" cy="365760"/>
          </a:xfrm>
          <a:prstGeom prst="ellipse">
            <a:avLst/>
          </a:prstGeom>
          <a:solidFill>
            <a:srgbClr val="2D2D2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069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307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4048" y="1618488"/>
            <a:ext cx="868680" cy="292608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66420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1344168" y="1618488"/>
            <a:ext cx="868680" cy="292608"/>
          </a:xfrm>
          <a:prstGeom prst="rect">
            <a:avLst/>
          </a:prstGeom>
          <a:solidFill>
            <a:srgbClr val="55555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66420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365760" y="2011680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4"/>
          <p:cNvSpPr/>
          <p:nvPr/>
        </p:nvSpPr>
        <p:spPr>
          <a:xfrm>
            <a:off x="438912" y="20299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Federal Register API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65760" y="2359152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6"/>
          <p:cNvSpPr/>
          <p:nvPr/>
        </p:nvSpPr>
        <p:spPr>
          <a:xfrm>
            <a:off x="438912" y="23774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 DOI bulletins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65760" y="2706624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438912" y="2724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OFAC sanctions lists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65760" y="3054096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0"/>
          <p:cNvSpPr/>
          <p:nvPr/>
        </p:nvSpPr>
        <p:spPr>
          <a:xfrm>
            <a:off x="438912" y="30723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Any additional sources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11480" y="3520440"/>
            <a:ext cx="1719072" cy="3200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7" name="Text 22"/>
          <p:cNvSpPr/>
          <p:nvPr/>
        </p:nvSpPr>
        <p:spPr>
          <a:xfrm>
            <a:off x="411480" y="3520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captured</a:t>
            </a:r>
            <a:endParaRPr lang="en-US" sz="9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240280"/>
            <a:ext cx="182880" cy="1828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2487168" y="1051560"/>
            <a:ext cx="1993392" cy="292608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2487168" y="1051560"/>
            <a:ext cx="1993392" cy="502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1" name="Shape 25"/>
          <p:cNvSpPr/>
          <p:nvPr/>
        </p:nvSpPr>
        <p:spPr>
          <a:xfrm>
            <a:off x="2578608" y="1115568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048" y="1207008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990088" y="1069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2990088" y="1307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2596896" y="1618488"/>
            <a:ext cx="868680" cy="292608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2616" y="1664208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852928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700" dirty="0"/>
          </a:p>
        </p:txBody>
      </p:sp>
      <p:sp>
        <p:nvSpPr>
          <p:cNvPr id="38" name="Shape 30"/>
          <p:cNvSpPr/>
          <p:nvPr/>
        </p:nvSpPr>
        <p:spPr>
          <a:xfrm>
            <a:off x="3557016" y="1618488"/>
            <a:ext cx="868680" cy="292608"/>
          </a:xfrm>
          <a:prstGeom prst="rect">
            <a:avLst/>
          </a:prstGeom>
          <a:solidFill>
            <a:srgbClr val="4A7FC1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736" y="1664208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813048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700" dirty="0"/>
          </a:p>
        </p:txBody>
      </p:sp>
      <p:sp>
        <p:nvSpPr>
          <p:cNvPr id="41" name="Shape 32"/>
          <p:cNvSpPr/>
          <p:nvPr/>
        </p:nvSpPr>
        <p:spPr>
          <a:xfrm>
            <a:off x="2578608" y="2011680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3"/>
          <p:cNvSpPr/>
          <p:nvPr/>
        </p:nvSpPr>
        <p:spPr>
          <a:xfrm>
            <a:off x="2651760" y="20299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Reads each regulation</a:t>
            </a:r>
            <a:endParaRPr lang="en-US" sz="850" dirty="0"/>
          </a:p>
        </p:txBody>
      </p:sp>
      <p:sp>
        <p:nvSpPr>
          <p:cNvPr id="43" name="Shape 34"/>
          <p:cNvSpPr/>
          <p:nvPr/>
        </p:nvSpPr>
        <p:spPr>
          <a:xfrm>
            <a:off x="2578608" y="2359152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5"/>
          <p:cNvSpPr/>
          <p:nvPr/>
        </p:nvSpPr>
        <p:spPr>
          <a:xfrm>
            <a:off x="2651760" y="23774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Life insurance relevant?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2578608" y="2706624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37"/>
          <p:cNvSpPr/>
          <p:nvPr/>
        </p:nvSpPr>
        <p:spPr>
          <a:xfrm>
            <a:off x="2651760" y="2724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Assigns severity level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2578608" y="3054096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39"/>
          <p:cNvSpPr/>
          <p:nvPr/>
        </p:nvSpPr>
        <p:spPr>
          <a:xfrm>
            <a:off x="2651760" y="30723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Identifies affected states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2624328" y="3520440"/>
            <a:ext cx="1719072" cy="3200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0" name="Text 41"/>
          <p:cNvSpPr/>
          <p:nvPr/>
        </p:nvSpPr>
        <p:spPr>
          <a:xfrm>
            <a:off x="2624328" y="3520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relevant items</a:t>
            </a:r>
            <a:endParaRPr lang="en-US" sz="95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848" y="2240280"/>
            <a:ext cx="182880" cy="182880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4700016" y="1051560"/>
            <a:ext cx="1993392" cy="292608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4700016" y="1051560"/>
            <a:ext cx="1993392" cy="502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4" name="Shape 44"/>
          <p:cNvSpPr/>
          <p:nvPr/>
        </p:nvSpPr>
        <p:spPr>
          <a:xfrm>
            <a:off x="4791456" y="111556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2896" y="1207008"/>
            <a:ext cx="182880" cy="182880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5202936" y="1069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57" name="Text 46"/>
          <p:cNvSpPr/>
          <p:nvPr/>
        </p:nvSpPr>
        <p:spPr>
          <a:xfrm>
            <a:off x="5202936" y="1307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4809744" y="1618488"/>
            <a:ext cx="868680" cy="292608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5464" y="1664208"/>
            <a:ext cx="182880" cy="182880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5065776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700" dirty="0"/>
          </a:p>
        </p:txBody>
      </p:sp>
      <p:sp>
        <p:nvSpPr>
          <p:cNvPr id="61" name="Shape 49"/>
          <p:cNvSpPr/>
          <p:nvPr/>
        </p:nvSpPr>
        <p:spPr>
          <a:xfrm>
            <a:off x="5769864" y="1618488"/>
            <a:ext cx="868680" cy="292608"/>
          </a:xfrm>
          <a:prstGeom prst="rect">
            <a:avLst/>
          </a:prstGeom>
          <a:solidFill>
            <a:srgbClr val="3DA06E"/>
          </a:solidFill>
          <a:ln/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5584" y="1664208"/>
            <a:ext cx="182880" cy="18288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6025896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</a:t>
            </a:r>
            <a:endParaRPr lang="en-US" sz="700" dirty="0"/>
          </a:p>
        </p:txBody>
      </p:sp>
      <p:sp>
        <p:nvSpPr>
          <p:cNvPr id="64" name="Shape 51"/>
          <p:cNvSpPr/>
          <p:nvPr/>
        </p:nvSpPr>
        <p:spPr>
          <a:xfrm>
            <a:off x="4791456" y="2011680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52"/>
          <p:cNvSpPr/>
          <p:nvPr/>
        </p:nvSpPr>
        <p:spPr>
          <a:xfrm>
            <a:off x="4864608" y="20299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Searches policy vector DB</a:t>
            </a:r>
            <a:endParaRPr lang="en-US" sz="850" dirty="0"/>
          </a:p>
        </p:txBody>
      </p:sp>
      <p:sp>
        <p:nvSpPr>
          <p:cNvPr id="66" name="Shape 53"/>
          <p:cNvSpPr/>
          <p:nvPr/>
        </p:nvSpPr>
        <p:spPr>
          <a:xfrm>
            <a:off x="4791456" y="2359152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54"/>
          <p:cNvSpPr/>
          <p:nvPr/>
        </p:nvSpPr>
        <p:spPr>
          <a:xfrm>
            <a:off x="4864608" y="23774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Finds matching clauses</a:t>
            </a:r>
            <a:endParaRPr lang="en-US" sz="850" dirty="0"/>
          </a:p>
        </p:txBody>
      </p:sp>
      <p:sp>
        <p:nvSpPr>
          <p:cNvPr id="68" name="Shape 55"/>
          <p:cNvSpPr/>
          <p:nvPr/>
        </p:nvSpPr>
        <p:spPr>
          <a:xfrm>
            <a:off x="4791456" y="2706624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56"/>
          <p:cNvSpPr/>
          <p:nvPr/>
        </p:nvSpPr>
        <p:spPr>
          <a:xfrm>
            <a:off x="4864608" y="2724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confirms true impacts</a:t>
            </a:r>
            <a:endParaRPr lang="en-US" sz="850" dirty="0"/>
          </a:p>
        </p:txBody>
      </p:sp>
      <p:sp>
        <p:nvSpPr>
          <p:cNvPr id="70" name="Shape 57"/>
          <p:cNvSpPr/>
          <p:nvPr/>
        </p:nvSpPr>
        <p:spPr>
          <a:xfrm>
            <a:off x="4791456" y="3054096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58"/>
          <p:cNvSpPr/>
          <p:nvPr/>
        </p:nvSpPr>
        <p:spPr>
          <a:xfrm>
            <a:off x="4864608" y="30723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Per-state breakdown</a:t>
            </a:r>
            <a:endParaRPr lang="en-US" sz="850" dirty="0"/>
          </a:p>
        </p:txBody>
      </p:sp>
      <p:sp>
        <p:nvSpPr>
          <p:cNvPr id="72" name="Shape 59"/>
          <p:cNvSpPr/>
          <p:nvPr/>
        </p:nvSpPr>
        <p:spPr>
          <a:xfrm>
            <a:off x="4837176" y="3520440"/>
            <a:ext cx="1719072" cy="3200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3" name="Text 60"/>
          <p:cNvSpPr/>
          <p:nvPr/>
        </p:nvSpPr>
        <p:spPr>
          <a:xfrm>
            <a:off x="4837176" y="3520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Policy-level impacts</a:t>
            </a:r>
            <a:endParaRPr lang="en-US" sz="950" dirty="0"/>
          </a:p>
        </p:txBody>
      </p:sp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11696" y="2240280"/>
            <a:ext cx="182880" cy="182880"/>
          </a:xfrm>
          <a:prstGeom prst="rect">
            <a:avLst/>
          </a:prstGeom>
        </p:spPr>
      </p:pic>
      <p:sp>
        <p:nvSpPr>
          <p:cNvPr id="75" name="Shape 61"/>
          <p:cNvSpPr/>
          <p:nvPr/>
        </p:nvSpPr>
        <p:spPr>
          <a:xfrm>
            <a:off x="6912864" y="1051560"/>
            <a:ext cx="1993392" cy="292608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6" name="Shape 62"/>
          <p:cNvSpPr/>
          <p:nvPr/>
        </p:nvSpPr>
        <p:spPr>
          <a:xfrm>
            <a:off x="6912864" y="1051560"/>
            <a:ext cx="1993392" cy="50292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77" name="Shape 63"/>
          <p:cNvSpPr/>
          <p:nvPr/>
        </p:nvSpPr>
        <p:spPr>
          <a:xfrm>
            <a:off x="7004304" y="1115568"/>
            <a:ext cx="365760" cy="365760"/>
          </a:xfrm>
          <a:prstGeom prst="ellipse">
            <a:avLst/>
          </a:prstGeom>
          <a:solidFill>
            <a:srgbClr val="6B46C1"/>
          </a:solidFill>
          <a:ln/>
        </p:spPr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95744" y="1207008"/>
            <a:ext cx="182880" cy="182880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7415784" y="1069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80" name="Text 65"/>
          <p:cNvSpPr/>
          <p:nvPr/>
        </p:nvSpPr>
        <p:spPr>
          <a:xfrm>
            <a:off x="7415784" y="1307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81" name="Shape 66"/>
          <p:cNvSpPr/>
          <p:nvPr/>
        </p:nvSpPr>
        <p:spPr>
          <a:xfrm>
            <a:off x="7022592" y="1618488"/>
            <a:ext cx="868680" cy="292608"/>
          </a:xfrm>
          <a:prstGeom prst="rect">
            <a:avLst/>
          </a:prstGeom>
          <a:solidFill>
            <a:srgbClr val="6B46C1"/>
          </a:solidFill>
          <a:ln/>
        </p:spPr>
      </p:sp>
      <p:pic>
        <p:nvPicPr>
          <p:cNvPr id="8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8312" y="1664208"/>
            <a:ext cx="182880" cy="182880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7278624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700" dirty="0"/>
          </a:p>
        </p:txBody>
      </p:sp>
      <p:sp>
        <p:nvSpPr>
          <p:cNvPr id="84" name="Shape 68"/>
          <p:cNvSpPr/>
          <p:nvPr/>
        </p:nvSpPr>
        <p:spPr>
          <a:xfrm>
            <a:off x="7982712" y="1618488"/>
            <a:ext cx="868680" cy="292608"/>
          </a:xfrm>
          <a:prstGeom prst="rect">
            <a:avLst/>
          </a:prstGeom>
          <a:solidFill>
            <a:srgbClr val="8259D4"/>
          </a:solidFill>
          <a:ln/>
        </p:spPr>
      </p:sp>
      <p:pic>
        <p:nvPicPr>
          <p:cNvPr id="8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8432" y="1664208"/>
            <a:ext cx="182880" cy="182880"/>
          </a:xfrm>
          <a:prstGeom prst="rect">
            <a:avLst/>
          </a:prstGeom>
        </p:spPr>
      </p:pic>
      <p:sp>
        <p:nvSpPr>
          <p:cNvPr id="86" name="Text 69"/>
          <p:cNvSpPr/>
          <p:nvPr/>
        </p:nvSpPr>
        <p:spPr>
          <a:xfrm>
            <a:off x="8238744" y="16367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writing</a:t>
            </a:r>
            <a:endParaRPr lang="en-US" sz="700" dirty="0"/>
          </a:p>
        </p:txBody>
      </p:sp>
      <p:sp>
        <p:nvSpPr>
          <p:cNvPr id="87" name="Shape 70"/>
          <p:cNvSpPr/>
          <p:nvPr/>
        </p:nvSpPr>
        <p:spPr>
          <a:xfrm>
            <a:off x="7004304" y="2011680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71"/>
          <p:cNvSpPr/>
          <p:nvPr/>
        </p:nvSpPr>
        <p:spPr>
          <a:xfrm>
            <a:off x="7077456" y="20299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Regulation summary</a:t>
            </a:r>
            <a:endParaRPr lang="en-US" sz="850" dirty="0"/>
          </a:p>
        </p:txBody>
      </p:sp>
      <p:sp>
        <p:nvSpPr>
          <p:cNvPr id="89" name="Shape 72"/>
          <p:cNvSpPr/>
          <p:nvPr/>
        </p:nvSpPr>
        <p:spPr>
          <a:xfrm>
            <a:off x="7004304" y="2359152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73"/>
          <p:cNvSpPr/>
          <p:nvPr/>
        </p:nvSpPr>
        <p:spPr>
          <a:xfrm>
            <a:off x="7077456" y="23774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Affected policies list</a:t>
            </a:r>
            <a:endParaRPr lang="en-US" sz="850" dirty="0"/>
          </a:p>
        </p:txBody>
      </p:sp>
      <p:sp>
        <p:nvSpPr>
          <p:cNvPr id="91" name="Shape 74"/>
          <p:cNvSpPr/>
          <p:nvPr/>
        </p:nvSpPr>
        <p:spPr>
          <a:xfrm>
            <a:off x="7004304" y="2706624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75"/>
          <p:cNvSpPr/>
          <p:nvPr/>
        </p:nvSpPr>
        <p:spPr>
          <a:xfrm>
            <a:off x="7077456" y="27249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State-specific action items</a:t>
            </a:r>
            <a:endParaRPr lang="en-US" sz="850" dirty="0"/>
          </a:p>
        </p:txBody>
      </p:sp>
      <p:sp>
        <p:nvSpPr>
          <p:cNvPr id="93" name="Shape 76"/>
          <p:cNvSpPr/>
          <p:nvPr/>
        </p:nvSpPr>
        <p:spPr>
          <a:xfrm>
            <a:off x="7004304" y="3054096"/>
            <a:ext cx="181051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77"/>
          <p:cNvSpPr/>
          <p:nvPr/>
        </p:nvSpPr>
        <p:spPr>
          <a:xfrm>
            <a:off x="7077456" y="30723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Deadlines &amp; next steps</a:t>
            </a:r>
            <a:endParaRPr lang="en-US" sz="850" dirty="0"/>
          </a:p>
        </p:txBody>
      </p:sp>
      <p:sp>
        <p:nvSpPr>
          <p:cNvPr id="95" name="Shape 78"/>
          <p:cNvSpPr/>
          <p:nvPr/>
        </p:nvSpPr>
        <p:spPr>
          <a:xfrm>
            <a:off x="7050024" y="3520440"/>
            <a:ext cx="1719072" cy="32004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96" name="Text 79"/>
          <p:cNvSpPr/>
          <p:nvPr/>
        </p:nvSpPr>
        <p:spPr>
          <a:xfrm>
            <a:off x="7050024" y="3520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memos</a:t>
            </a:r>
            <a:endParaRPr lang="en-US" sz="950" dirty="0"/>
          </a:p>
        </p:txBody>
      </p:sp>
      <p:sp>
        <p:nvSpPr>
          <p:cNvPr id="97" name="Shape 80"/>
          <p:cNvSpPr/>
          <p:nvPr/>
        </p:nvSpPr>
        <p:spPr>
          <a:xfrm>
            <a:off x="0" y="4114800"/>
            <a:ext cx="9144000" cy="36576"/>
          </a:xfrm>
          <a:prstGeom prst="rect">
            <a:avLst/>
          </a:prstGeom>
          <a:solidFill>
            <a:srgbClr val="B85C14"/>
          </a:solidFill>
          <a:ln/>
        </p:spPr>
      </p:sp>
      <p:sp>
        <p:nvSpPr>
          <p:cNvPr id="98" name="Shape 81"/>
          <p:cNvSpPr/>
          <p:nvPr/>
        </p:nvSpPr>
        <p:spPr>
          <a:xfrm>
            <a:off x="274320" y="4251960"/>
            <a:ext cx="8595360" cy="822960"/>
          </a:xfrm>
          <a:prstGeom prst="rect">
            <a:avLst/>
          </a:prstGeom>
          <a:solidFill>
            <a:srgbClr val="FDF8F3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9" name="Shape 82"/>
          <p:cNvSpPr/>
          <p:nvPr/>
        </p:nvSpPr>
        <p:spPr>
          <a:xfrm>
            <a:off x="274320" y="4251960"/>
            <a:ext cx="54864" cy="822960"/>
          </a:xfrm>
          <a:prstGeom prst="rect">
            <a:avLst/>
          </a:prstGeom>
          <a:solidFill>
            <a:srgbClr val="B85C14"/>
          </a:solidFill>
          <a:ln/>
        </p:spPr>
      </p:sp>
      <p:sp>
        <p:nvSpPr>
          <p:cNvPr id="100" name="Text 83"/>
          <p:cNvSpPr/>
          <p:nvPr/>
        </p:nvSpPr>
        <p:spPr>
          <a:xfrm>
            <a:off x="502920" y="42793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 architecture?</a:t>
            </a:r>
            <a:endParaRPr lang="en-US" sz="1100" dirty="0"/>
          </a:p>
        </p:txBody>
      </p:sp>
      <p:sp>
        <p:nvSpPr>
          <p:cNvPr id="101" name="Text 84"/>
          <p:cNvSpPr/>
          <p:nvPr/>
        </p:nvSpPr>
        <p:spPr>
          <a:xfrm>
            <a:off x="502920" y="4498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independently testable, improvable, and scalable.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state, data source, or product line requires updating only the relevant agent — not the entire system. </a:t>
            </a:r>
            <a:pPr indent="0" marL="0">
              <a:buNone/>
            </a:pPr>
            <a:r>
              <a:rPr lang="en-US" sz="1100" b="1" dirty="0">
                <a:solidFill>
                  <a:srgbClr val="B85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modular design enables rapid deployment across carriers and jurisdictions.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85C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Benefits of Implementation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backed by industry data and POC results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B85C1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169164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3487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170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30–50%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5156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compliance workload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926080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Speed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17556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McKinsey's 2025 analysis confirms agentic AI reduces manual workloads by 30–50% in financial services compliance. Our POC processed 3,533 regulatory items in 201 minutes — work that would take a compliance team several weeks.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2920" y="24688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McKinsey, Dec 2025 — Agentic AI in Financial Services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663440" y="1097280"/>
            <a:ext cx="4023360" cy="169164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123444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134874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1170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757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534924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changes tracked in the US in 2025 alone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223760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Coverage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00600" y="17556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Vertafore tracked 757 regulatory changes across the US in 2025 — the highest volume in a single year. Manual monitoring cannot keep pace. Automated agents ensure zero missed changes across all sources and jurisdictions.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800600" y="24688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Vertafore / Coverager, March 2026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>
            <a:off x="365760" y="2926080"/>
            <a:ext cx="4023360" cy="169164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02920" y="3063240"/>
            <a:ext cx="457200" cy="457200"/>
          </a:xfrm>
          <a:prstGeom prst="ellipse">
            <a:avLst/>
          </a:prstGeom>
          <a:solidFill>
            <a:srgbClr val="6B46C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17754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1560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1051560" y="33101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jurisdictions coverable without architectural change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292608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02920" y="35844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modular agent architecture scales from 2 states (POC) to all 50+ jurisdictions by adding data sources to the Crawl Agent. No changes needed to Filter, Impact, or Draft agents. Same architecture supports any carrier or line of business.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502920" y="4297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POC architecture validation</a:t>
            </a:r>
            <a:endParaRPr lang="en-US" sz="650" dirty="0"/>
          </a:p>
        </p:txBody>
      </p:sp>
      <p:sp>
        <p:nvSpPr>
          <p:cNvPr id="30" name="Shape 25"/>
          <p:cNvSpPr/>
          <p:nvPr/>
        </p:nvSpPr>
        <p:spPr>
          <a:xfrm>
            <a:off x="4663440" y="2926080"/>
            <a:ext cx="4023360" cy="1691640"/>
          </a:xfrm>
          <a:prstGeom prst="rect">
            <a:avLst/>
          </a:prstGeom>
          <a:solidFill>
            <a:srgbClr val="F7F5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B85C14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3177540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49240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2400" dirty="0"/>
          </a:p>
        </p:txBody>
      </p:sp>
      <p:sp>
        <p:nvSpPr>
          <p:cNvPr id="34" name="Text 28"/>
          <p:cNvSpPr/>
          <p:nvPr/>
        </p:nvSpPr>
        <p:spPr>
          <a:xfrm>
            <a:off x="5349240" y="33101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auto insurers already using AI — life insurance is next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722376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800600" y="35844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NAIC's 2025 survey found 92% of health and 88% of auto insurers use AI, but only 58% of life insurers. Early adopters in regulatory AI gain competitive advantage. Non-compliance penalties, market conduct findings, and late filings are the costs avoided.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4800600" y="4297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NAIC AI Survey, 2025</a:t>
            </a:r>
            <a:endParaRPr lang="en-US" sz="650" dirty="0"/>
          </a:p>
        </p:txBody>
      </p:sp>
      <p:sp>
        <p:nvSpPr>
          <p:cNvPr id="38" name="Shape 32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B85C14"/>
          </a:solidFill>
          <a:ln/>
        </p:spPr>
      </p:sp>
      <p:sp>
        <p:nvSpPr>
          <p:cNvPr id="39" name="Text 3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are sourced from published industry reports (McKinsey, NAIC, Vertafore) and validated POC results. No projected or estimated figures are used.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Regulatory Change Monitor — Executive Brief</dc:title>
  <dc:subject>PptxGenJS Presentation</dc:subject>
  <dc:creator>Sanjib</dc:creator>
  <cp:lastModifiedBy>Sanjib</cp:lastModifiedBy>
  <cp:revision>1</cp:revision>
  <dcterms:created xsi:type="dcterms:W3CDTF">2026-03-28T20:07:52Z</dcterms:created>
  <dcterms:modified xsi:type="dcterms:W3CDTF">2026-03-28T20:07:52Z</dcterms:modified>
</cp:coreProperties>
</file>