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900000">
            <a:off x="5943600" y="-457200"/>
            <a:ext cx="4114800" cy="2286000"/>
          </a:xfrm>
          <a:prstGeom prst="rect">
            <a:avLst/>
          </a:prstGeom>
          <a:solidFill>
            <a:srgbClr val="1A4A6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600000">
            <a:off x="6858000" y="-914400"/>
            <a:ext cx="3657600" cy="1828800"/>
          </a:xfrm>
          <a:prstGeom prst="rect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KM Solution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Flow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Knowledge Management for Operations Associates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Copilot  •  AWS Strands Agent  •  Amazon Bedrock  •  Microsoft Graph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system do?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1188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173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associates ask natural language questions via M365 Copilot. A single AWS Strands agent classifies intent, enhances the query, retrieves documents from SharePoint (using user's own permissions), and returns a concise answer with citations — all within one Lambda invocation.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306324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3172968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30632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 Agent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3749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Lambda invocation per question — stateless &amp; scalable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283464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66160" y="306324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3172968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06240" y="30632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OBO Security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566160" y="3749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SharePoint as the user — permissions enforced automatically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26480" y="283464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00800" y="306324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3172968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040880" y="30632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Q&amp;A Logging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400800" y="3749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queries &amp; answers stored in MemoryDB for audit trail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Asks Question on M365 Copilot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73152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234440"/>
            <a:ext cx="594360" cy="59436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3716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01168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Ops Associate logs into M365 Copilot via SSO authentication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runs in a sandbox environment for security isolation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a natural language question (e.g., "What is the SOP for claim denial appeals?")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Copilot UI is chosen for adoption, familiarity, and Microsoft's built-in security model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adaptive feedback card is included with every response for user feedback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solidFill>
            <a:srgbClr val="0891B2">
              <a:alpha val="1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4617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isolation ensures the Copilot app cannot access resources outside its permitted scope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 Travels Through Kong API Gateway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73152" cy="3474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234440"/>
            <a:ext cx="594360" cy="59436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3716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01168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User's query leaves M365 Copilot and hits the Kong API Gateway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 authenticates the request — validates OAuth tokens from Azure AD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User's identity and AD group memberships are passed forward as context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 acts as the single entry point — all traffic (queries + feedback) routes through it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rate limiting, request logging, and API management capabilities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4617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 ensures no unauthenticated request ever reaches the AWS backend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Lambda /chat Endpoint — Input Processing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73152" cy="3474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234440"/>
            <a:ext cx="594360" cy="59436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3716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01168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request from Kong triggers the AWS Lambda /chat endpoint inside the VPC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filtering and validation is performed (rules-based)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correlation ID is generated and logged with session ID and actor ID for traceability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 is initialized or retrieved from MemoryDB (stores Q&amp;A pairs for audit)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purely logging — memory does NOT feed back into the agent for reasoning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4617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processing happens within a single Lambda invocation — stateless and scalable to 800+ users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Strands Agent — Tool Selection &amp; Reasoning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decides which tools to call based on the user's query. LLM: Amazon Bedrock (Claude Sonnet)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1051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554480"/>
            <a:ext cx="82296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5544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Intent Classification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19202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the query type — SOP, policy, Salesforce knowledge, SOR context — using a Bedrock LLM call. This helps tune the quality of retrieval by adding business context.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606040"/>
            <a:ext cx="73152" cy="10515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2743200"/>
            <a:ext cx="822960" cy="320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7432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 Enhancement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31089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Rewrites the user's raw question into a Copilot Retrieval-friendly format. Extracts key information, summarizes intent, and improves search precision.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794760"/>
            <a:ext cx="73152" cy="10515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3931920"/>
            <a:ext cx="822960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9319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886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SharePoint Doc Search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42976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the actual document search via Microsoft Graph Search / Copilot Retrieval API. Returns relevant documents and text portions matching the enhanced query.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logs its inputs/outputs to CloudWatch. Intermediate agent reasoning is also logged.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Retrieval via OBO Delegation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73152" cy="3474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23444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3716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01168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retrieves documents from SharePoint using On Behalf Of (OBO) delegated authentication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searches as the user — only documents the user has permission to access are returned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Microsoft Graph Search or Copilot Retrieval API for document fetching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Management System handles the OBO token exchange securely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access control layer needed — SharePoint permissions are automatically enforced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4617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OBO delegation is the most critical integration — expect debugging time on the OAuth token chain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Synthesizes Answer with Citations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73152" cy="3474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234440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3716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01168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combines retrieved document content and synthesizes a concise answer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references and citation links are included in the response JSON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is formatted as a structured JSON with citations and an adaptive feedback card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is logged to CloudWatch (forwarded to Splunk) and SNS alerts for errors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+ Answer pair is stored in MemoryDB with session ID, chat ID, and actor ID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solidFill>
            <a:srgbClr val="00B4D8">
              <a:alpha val="1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4617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ensure traceability — users can click through to verify source documents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02920" cy="502920"/>
          </a:xfrm>
          <a:prstGeom prst="ellipse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 Returned to User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73152" cy="347472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234440"/>
            <a:ext cx="594360" cy="594360"/>
          </a:xfrm>
          <a:prstGeom prst="ellipse">
            <a:avLst/>
          </a:prstGeom>
          <a:solidFill>
            <a:srgbClr val="0F2B4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3716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01168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response travels back: Lambda → Kong → M365 Copilot → User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sees the concise answer along with document citations and links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adaptive feedback card is attached for optional user feedback (thumbs up/down)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round-trip completes within a single Lambda invocation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multi-turn memory — each question is independent (user asks fresh complete questions)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02920" cy="5029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Feedback Loop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73152" cy="3474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234440"/>
            <a:ext cx="594360" cy="59436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3716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01168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optionally provides feedback via the adaptive card in Copilot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triggers an authenticated API call via Kong to a separate Lambda /feedback endpoint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is stored in MemoryDB with the user's session ID, chat ID, and actor ID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quality tracking, model improvement insights, and user satisfaction analytics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ID links feedback to the exact question-answer pair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4617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data is critical for continuous improvement and demonstrating ROI to stakeholders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Choices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15568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00584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68880" y="100584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Copilot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0" y="100584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Adoption, familiarity, Microsoft security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8229600" cy="475488"/>
          </a:xfrm>
          <a:prstGeom prst="rect">
            <a:avLst/>
          </a:prstGeom>
          <a:solidFill>
            <a:srgbClr val="F8FBFD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682496"/>
            <a:ext cx="256032" cy="25603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157276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157276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Strands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157276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orchestration framework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39696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2249424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213969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213969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(Claude Sonnet)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0" y="213969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reasoning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706624"/>
            <a:ext cx="8229600" cy="475488"/>
          </a:xfrm>
          <a:prstGeom prst="rect">
            <a:avLst/>
          </a:prstGeom>
          <a:solidFill>
            <a:srgbClr val="F8FBFD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2816352"/>
            <a:ext cx="256032" cy="25603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270662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Gateway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68880" y="270662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0" y="270662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API call management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273552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3383280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1051560" y="327355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68880" y="327355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0" y="327355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800+ users, stateless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840480"/>
            <a:ext cx="8229600" cy="475488"/>
          </a:xfrm>
          <a:prstGeom prst="rect">
            <a:avLst/>
          </a:prstGeom>
          <a:solidFill>
            <a:srgbClr val="F8FBFD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" y="3950208"/>
            <a:ext cx="256032" cy="256032"/>
          </a:xfrm>
          <a:prstGeom prst="ellipse">
            <a:avLst/>
          </a:prstGeom>
          <a:solidFill>
            <a:srgbClr val="0F2B46"/>
          </a:solidFill>
          <a:ln/>
        </p:spPr>
      </p:sp>
      <p:sp>
        <p:nvSpPr>
          <p:cNvPr id="30" name="Text 28"/>
          <p:cNvSpPr/>
          <p:nvPr/>
        </p:nvSpPr>
        <p:spPr>
          <a:xfrm>
            <a:off x="1051560" y="384048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468880" y="384048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MemoryDB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0" y="384048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persistence &amp; audit logging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407408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640080" y="4517136"/>
            <a:ext cx="256032" cy="25603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1051560" y="440740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468880" y="440740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→ Splunk + SNS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0" y="440740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dashboards, error alerts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Design Decisions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1737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2588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43560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325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Sandbox Copilot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19659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runs in an isolated sandbox for security — cannot access resources outside its permitted scope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109728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1097280"/>
            <a:ext cx="73152" cy="1737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Shape 8"/>
          <p:cNvSpPr/>
          <p:nvPr/>
        </p:nvSpPr>
        <p:spPr>
          <a:xfrm>
            <a:off x="4983480" y="132588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08" y="143560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1325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OBO Delegation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983480" y="19659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searches SharePoint as the user. No separate ACL layer needed — permissions enforced by Microsoft Graph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306324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3063240"/>
            <a:ext cx="73152" cy="17373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Shape 13"/>
          <p:cNvSpPr/>
          <p:nvPr/>
        </p:nvSpPr>
        <p:spPr>
          <a:xfrm>
            <a:off x="731520" y="329184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401568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291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Stateless Lambda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731520" y="39319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invocation per question. No multi-turn memory in the agent — each query is fully independent and self-contained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709160" y="306324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09160" y="3063240"/>
            <a:ext cx="73152" cy="1737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Shape 18"/>
          <p:cNvSpPr/>
          <p:nvPr/>
        </p:nvSpPr>
        <p:spPr>
          <a:xfrm>
            <a:off x="4983480" y="329184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8" y="3401568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623560" y="3291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Q&amp;A Audit Logging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4983480" y="39319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MemoryDB stores questions + answers for compliance audit, analytics, and feedback correlation — not for agent context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900000">
            <a:off x="5943600" y="3200400"/>
            <a:ext cx="4114800" cy="2286000"/>
          </a:xfrm>
          <a:prstGeom prst="rect">
            <a:avLst/>
          </a:prstGeom>
          <a:solidFill>
            <a:srgbClr val="1A4A6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KM Solution — Architecture Flow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KM Solution - Architecture Flow</dc:title>
  <dc:subject>PptxGenJS Presentation</dc:subject>
  <dc:creator>Sanjib</dc:creator>
  <cp:lastModifiedBy>Sanjib</cp:lastModifiedBy>
  <cp:revision>1</cp:revision>
  <dcterms:created xsi:type="dcterms:W3CDTF">2026-02-13T09:56:17Z</dcterms:created>
  <dcterms:modified xsi:type="dcterms:W3CDTF">2026-02-13T09:56:17Z</dcterms:modified>
</cp:coreProperties>
</file>