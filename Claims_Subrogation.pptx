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64" y="-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70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Subrogation: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AI for Automated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Subrogation Recovery Workflow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15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AWS-powered agentic framework for end-to-end subrogation detection, evidence structuring &amp; negotiation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3200400" cy="36576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0" y="4206240"/>
            <a:ext cx="3200400" cy="365760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GenAI-Enabled – 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86000" y="109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Subrogation Multi-Agent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Insurance Recovery Automation using AWS Agentic Framework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13716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solidFill>
            <a:srgbClr val="FFF5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54864" cy="64008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772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We Addressed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9875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third party causes the loss, you pay the claim first—then pursue recovery from the responsible carrier. But this subrogation process is manual, inconsistent, and resource-intensive. Adjusters spend hours on document review, evidence compilation, and demand letter drafting—leaving millions in recoverable dollars on the table.</a:t>
            </a:r>
            <a:endParaRPr lang="en-US" sz="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4173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Architecture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74320" y="16459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specialized AI agents orchestrated via AWS: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Subrogation Potential Detection - classifies viable/not viable per state rules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Triage &amp; QC - checks missing fields, prompts adjuster for gaps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Referral Recommendation - generates Refer/Do Not Refer with rationale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4: Evidence Structuring - summarizes facts, liability, jurisdiction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5: Drafting Support - generates demand letters &amp; arbitration contentions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6: Negotiation Strategy - settle vs arbitrate with win/loss probability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65176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Technology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651760" y="176479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ECC: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source system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Hyland: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storage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extraction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LLM: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for RAG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SQL: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conversation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438912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Data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Pipeline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389120" y="1764792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Trigger: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reaches 'Investigation Complete' in ECC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Ingest: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+ unstructured docs from Hyland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OCR: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 extracts text from PDFs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Chunk: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 for context windows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Embed: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creates vector embeddings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Store: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vector store for RAG retrieval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6263640" y="1417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and Workflow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63640" y="1618488"/>
            <a:ext cx="77724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263640" y="161848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Trigger</a:t>
            </a:r>
            <a:endParaRPr lang="en-US" sz="500" dirty="0"/>
          </a:p>
        </p:txBody>
      </p:sp>
      <p:sp>
        <p:nvSpPr>
          <p:cNvPr id="21" name="Text 17"/>
          <p:cNvSpPr/>
          <p:nvPr/>
        </p:nvSpPr>
        <p:spPr>
          <a:xfrm>
            <a:off x="7086600" y="1618488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status triggers AI scan</a:t>
            </a:r>
            <a:endParaRPr lang="en-US" sz="550" dirty="0"/>
          </a:p>
        </p:txBody>
      </p:sp>
      <p:sp>
        <p:nvSpPr>
          <p:cNvPr id="22" name="Shape 18"/>
          <p:cNvSpPr/>
          <p:nvPr/>
        </p:nvSpPr>
        <p:spPr>
          <a:xfrm>
            <a:off x="6263640" y="1865376"/>
            <a:ext cx="77724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6263640" y="186537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Subro Detection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7086600" y="186537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% liability, police reports</a:t>
            </a:r>
            <a:endParaRPr lang="en-US" sz="550" dirty="0"/>
          </a:p>
        </p:txBody>
      </p:sp>
      <p:sp>
        <p:nvSpPr>
          <p:cNvPr id="25" name="Shape 21"/>
          <p:cNvSpPr/>
          <p:nvPr/>
        </p:nvSpPr>
        <p:spPr>
          <a:xfrm>
            <a:off x="6263640" y="2112264"/>
            <a:ext cx="77724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6263640" y="211226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&amp; QC</a:t>
            </a:r>
            <a:endParaRPr lang="en-US" sz="500" dirty="0"/>
          </a:p>
        </p:txBody>
      </p:sp>
      <p:sp>
        <p:nvSpPr>
          <p:cNvPr id="27" name="Text 23"/>
          <p:cNvSpPr/>
          <p:nvPr/>
        </p:nvSpPr>
        <p:spPr>
          <a:xfrm>
            <a:off x="7086600" y="2112264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fields, prompt adjuster</a:t>
            </a:r>
            <a:endParaRPr lang="en-US" sz="550" dirty="0"/>
          </a:p>
        </p:txBody>
      </p:sp>
      <p:sp>
        <p:nvSpPr>
          <p:cNvPr id="28" name="Shape 24"/>
          <p:cNvSpPr/>
          <p:nvPr/>
        </p:nvSpPr>
        <p:spPr>
          <a:xfrm>
            <a:off x="6263640" y="2359152"/>
            <a:ext cx="77724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6263640" y="235915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Decision</a:t>
            </a:r>
            <a:endParaRPr lang="en-US" sz="500" dirty="0"/>
          </a:p>
        </p:txBody>
      </p:sp>
      <p:sp>
        <p:nvSpPr>
          <p:cNvPr id="30" name="Text 26"/>
          <p:cNvSpPr/>
          <p:nvPr/>
        </p:nvSpPr>
        <p:spPr>
          <a:xfrm>
            <a:off x="7086600" y="2359152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Refer/Do Not Refer with rationale</a:t>
            </a:r>
            <a:endParaRPr lang="en-US" sz="550" dirty="0"/>
          </a:p>
        </p:txBody>
      </p:sp>
      <p:sp>
        <p:nvSpPr>
          <p:cNvPr id="31" name="Shape 27"/>
          <p:cNvSpPr/>
          <p:nvPr/>
        </p:nvSpPr>
        <p:spPr>
          <a:xfrm>
            <a:off x="6263640" y="2606040"/>
            <a:ext cx="77724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6263640" y="260604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</a:t>
            </a:r>
            <a:endParaRPr lang="en-US" sz="500" dirty="0"/>
          </a:p>
        </p:txBody>
      </p:sp>
      <p:sp>
        <p:nvSpPr>
          <p:cNvPr id="33" name="Text 29"/>
          <p:cNvSpPr/>
          <p:nvPr/>
        </p:nvSpPr>
        <p:spPr>
          <a:xfrm>
            <a:off x="7086600" y="260604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 &amp; liability args</a:t>
            </a:r>
            <a:endParaRPr lang="en-US" sz="550" dirty="0"/>
          </a:p>
        </p:txBody>
      </p:sp>
      <p:sp>
        <p:nvSpPr>
          <p:cNvPr id="34" name="Shape 30"/>
          <p:cNvSpPr/>
          <p:nvPr/>
        </p:nvSpPr>
        <p:spPr>
          <a:xfrm>
            <a:off x="6263640" y="2852928"/>
            <a:ext cx="77724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263640" y="285292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Drafting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7086600" y="2852928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demand letters</a:t>
            </a:r>
            <a:endParaRPr lang="en-US" sz="550" dirty="0"/>
          </a:p>
        </p:txBody>
      </p:sp>
      <p:sp>
        <p:nvSpPr>
          <p:cNvPr id="37" name="Shape 33"/>
          <p:cNvSpPr/>
          <p:nvPr/>
        </p:nvSpPr>
        <p:spPr>
          <a:xfrm>
            <a:off x="6263640" y="3099816"/>
            <a:ext cx="77724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6263640" y="309981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AI</a:t>
            </a:r>
            <a:endParaRPr lang="en-US" sz="500" dirty="0"/>
          </a:p>
        </p:txBody>
      </p:sp>
      <p:sp>
        <p:nvSpPr>
          <p:cNvPr id="39" name="Text 35"/>
          <p:cNvSpPr/>
          <p:nvPr/>
        </p:nvSpPr>
        <p:spPr>
          <a:xfrm>
            <a:off x="7086600" y="309981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vs arbitrate strategy</a:t>
            </a:r>
            <a:endParaRPr lang="en-US" sz="550" dirty="0"/>
          </a:p>
        </p:txBody>
      </p:sp>
      <p:sp>
        <p:nvSpPr>
          <p:cNvPr id="40" name="Text 36"/>
          <p:cNvSpPr/>
          <p:nvPr/>
        </p:nvSpPr>
        <p:spPr>
          <a:xfrm>
            <a:off x="6263640" y="3200400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70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364992"/>
            <a:ext cx="91440" cy="9144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382512" y="3364992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Reports</a:t>
            </a:r>
            <a:endParaRPr lang="en-US" sz="6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502152"/>
            <a:ext cx="91440" cy="9144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382512" y="3502152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Details</a:t>
            </a:r>
            <a:endParaRPr lang="en-US" sz="6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639312"/>
            <a:ext cx="91440" cy="9144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382512" y="3639312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%</a:t>
            </a:r>
            <a:endParaRPr lang="en-US" sz="6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76472"/>
            <a:ext cx="91440" cy="9144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382512" y="3776472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Rules</a:t>
            </a:r>
            <a:endParaRPr lang="en-US" sz="6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13632"/>
            <a:ext cx="91440" cy="9144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382512" y="3913632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Cases</a:t>
            </a:r>
            <a:endParaRPr lang="en-US" sz="600" dirty="0"/>
          </a:p>
        </p:txBody>
      </p:sp>
      <p:sp>
        <p:nvSpPr>
          <p:cNvPr id="51" name="Shape 42"/>
          <p:cNvSpPr/>
          <p:nvPr/>
        </p:nvSpPr>
        <p:spPr>
          <a:xfrm>
            <a:off x="274320" y="3246120"/>
            <a:ext cx="2286000" cy="201168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3"/>
          <p:cNvSpPr/>
          <p:nvPr/>
        </p:nvSpPr>
        <p:spPr>
          <a:xfrm>
            <a:off x="320040" y="32461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Impact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27432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'at bats' - fewer missed opportunities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evidence &amp; demand letters</a:t>
            </a:r>
            <a:endParaRPr lang="en-US" sz="650" dirty="0"/>
          </a:p>
          <a:p>
            <a:pPr marL="0" indent="0">
              <a:buNone/>
            </a:pPr>
            <a:r>
              <a:rPr lang="en-US" sz="6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Adjuster Focus: </a:t>
            </a:r>
            <a:r>
              <a:rPr lang="en-US" sz="6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on complex negotiations</a:t>
            </a:r>
            <a:endParaRPr lang="en-US" sz="650" dirty="0"/>
          </a:p>
        </p:txBody>
      </p:sp>
      <p:sp>
        <p:nvSpPr>
          <p:cNvPr id="54" name="Shape 45"/>
          <p:cNvSpPr/>
          <p:nvPr/>
        </p:nvSpPr>
        <p:spPr>
          <a:xfrm>
            <a:off x="2651760" y="3246120"/>
            <a:ext cx="1005840" cy="201168"/>
          </a:xfrm>
          <a:prstGeom prst="rect">
            <a:avLst/>
          </a:prstGeom>
          <a:solidFill>
            <a:srgbClr val="E871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46"/>
          <p:cNvSpPr/>
          <p:nvPr/>
        </p:nvSpPr>
        <p:spPr>
          <a:xfrm>
            <a:off x="2697480" y="32461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>
            <a:off x="2651760" y="3520440"/>
            <a:ext cx="86868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48"/>
          <p:cNvSpPr/>
          <p:nvPr/>
        </p:nvSpPr>
        <p:spPr>
          <a:xfrm>
            <a:off x="2651760" y="35844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8" name="Text 49"/>
          <p:cNvSpPr/>
          <p:nvPr/>
        </p:nvSpPr>
        <p:spPr>
          <a:xfrm>
            <a:off x="2697480" y="391363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600" dirty="0"/>
          </a:p>
        </p:txBody>
      </p:sp>
      <p:sp>
        <p:nvSpPr>
          <p:cNvPr id="59" name="Shape 50"/>
          <p:cNvSpPr/>
          <p:nvPr/>
        </p:nvSpPr>
        <p:spPr>
          <a:xfrm>
            <a:off x="3566160" y="3520440"/>
            <a:ext cx="86868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1"/>
          <p:cNvSpPr/>
          <p:nvPr/>
        </p:nvSpPr>
        <p:spPr>
          <a:xfrm>
            <a:off x="3566160" y="35844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400" dirty="0"/>
          </a:p>
        </p:txBody>
      </p:sp>
      <p:sp>
        <p:nvSpPr>
          <p:cNvPr id="61" name="Text 52"/>
          <p:cNvSpPr/>
          <p:nvPr/>
        </p:nvSpPr>
        <p:spPr>
          <a:xfrm>
            <a:off x="3611880" y="391363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600" dirty="0"/>
          </a:p>
        </p:txBody>
      </p:sp>
      <p:sp>
        <p:nvSpPr>
          <p:cNvPr id="62" name="Shape 53"/>
          <p:cNvSpPr/>
          <p:nvPr/>
        </p:nvSpPr>
        <p:spPr>
          <a:xfrm>
            <a:off x="4480560" y="3520440"/>
            <a:ext cx="86868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4"/>
          <p:cNvSpPr/>
          <p:nvPr/>
        </p:nvSpPr>
        <p:spPr>
          <a:xfrm>
            <a:off x="4480560" y="35844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400" dirty="0"/>
          </a:p>
        </p:txBody>
      </p:sp>
      <p:sp>
        <p:nvSpPr>
          <p:cNvPr id="64" name="Text 55"/>
          <p:cNvSpPr/>
          <p:nvPr/>
        </p:nvSpPr>
        <p:spPr>
          <a:xfrm>
            <a:off x="4526280" y="391363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letter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600" dirty="0"/>
          </a:p>
        </p:txBody>
      </p:sp>
      <p:sp>
        <p:nvSpPr>
          <p:cNvPr id="65" name="Shape 56"/>
          <p:cNvSpPr/>
          <p:nvPr/>
        </p:nvSpPr>
        <p:spPr>
          <a:xfrm>
            <a:off x="5394960" y="3520440"/>
            <a:ext cx="868680" cy="105156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57"/>
          <p:cNvSpPr/>
          <p:nvPr/>
        </p:nvSpPr>
        <p:spPr>
          <a:xfrm>
            <a:off x="5394960" y="35844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400" dirty="0"/>
          </a:p>
        </p:txBody>
      </p:sp>
      <p:sp>
        <p:nvSpPr>
          <p:cNvPr id="67" name="Text 58"/>
          <p:cNvSpPr/>
          <p:nvPr/>
        </p:nvSpPr>
        <p:spPr>
          <a:xfrm>
            <a:off x="5440680" y="391363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415</Words>
  <Application>Microsoft Office PowerPoint</Application>
  <PresentationFormat>On-screen Show (16:9)</PresentationFormat>
  <Paragraphs>76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 Subrogation - Multi-Agent AI</dc:title>
  <dc:subject>PptxGenJS Presentation</dc:subject>
  <dc:creator>PwC</dc:creator>
  <cp:lastModifiedBy>Office</cp:lastModifiedBy>
  <cp:revision>2</cp:revision>
  <dcterms:created xsi:type="dcterms:W3CDTF">2026-01-30T10:24:00Z</dcterms:created>
  <dcterms:modified xsi:type="dcterms:W3CDTF">2026-01-30T10:26:23Z</dcterms:modified>
</cp:coreProperties>
</file>