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80" d="100"/>
          <a:sy n="80" d="100"/>
        </p:scale>
        <p:origin x="880" y="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1554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0" cy="320040"/>
          </a:xfrm>
          <a:prstGeom prst="rect">
            <a:avLst/>
          </a:prstGeom>
          <a:solidFill>
            <a:srgbClr val="D04A0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pwc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UW Evaluation: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D04A0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Proving Faster, More Consistent Informal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D04A0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Underwriting with GenAI Decision Support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underwriter-guided journey from concept to validated decision support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828800" y="3840480"/>
            <a:ext cx="3200400" cy="365760"/>
          </a:xfrm>
          <a:prstGeom prst="rect">
            <a:avLst/>
          </a:prstGeom>
          <a:solidFill>
            <a:srgbClr val="D04A0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114800" y="4206240"/>
            <a:ext cx="3200400" cy="365760"/>
          </a:xfrm>
          <a:prstGeom prst="rect">
            <a:avLst/>
          </a:prstGeom>
          <a:solidFill>
            <a:srgbClr val="E8713A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GenAI-Enabled – 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286000" y="137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04A0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Automated Underwriting Risk Classification System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8595360" cy="18288"/>
          </a:xfrm>
          <a:prstGeom prst="rect">
            <a:avLst/>
          </a:prstGeom>
          <a:solidFill>
            <a:srgbClr val="E8713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68680"/>
            <a:ext cx="228600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8686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Accomplished  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74320" y="12344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closely collaborating with underwriter SMEs, we: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 powerful GenAI-enabled underwriting decision support solution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92% risk class alignment with underwriter validation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human-in-the-loop model preserving underwriter authority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274320" y="2194560"/>
            <a:ext cx="25603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274320" y="228600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Leveraged AWS Bedrock Knowledge Base for underwriting guidelines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APS data extraction with rule comparison engine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automated risk bucketing with explainable outputs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3108960" y="868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 Reusable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108960" y="128016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00" b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Bedrock: </a:t>
            </a:r>
            <a:r>
              <a:rPr lang="en-US" sz="7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 for underwriting rules and guidelines storage</a:t>
            </a:r>
            <a:endParaRPr lang="en-US" sz="700" dirty="0"/>
          </a:p>
          <a:p>
            <a:pPr marL="0" indent="0">
              <a:buNone/>
            </a:pPr>
            <a:r>
              <a:rPr lang="en-US" sz="700" b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pipelines: </a:t>
            </a:r>
            <a:r>
              <a:rPr lang="en-US" sz="7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for document storage, extraction pipelines</a:t>
            </a:r>
            <a:endParaRPr lang="en-US" sz="700" dirty="0"/>
          </a:p>
          <a:p>
            <a:pPr marL="0" indent="0">
              <a:buNone/>
            </a:pPr>
            <a:r>
              <a:rPr lang="en-US" sz="700" b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Framework: </a:t>
            </a:r>
            <a:r>
              <a:rPr lang="en-US" sz="7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for context-aware decisions</a:t>
            </a:r>
            <a:endParaRPr lang="en-US" sz="700" dirty="0"/>
          </a:p>
          <a:p>
            <a:pPr marL="0" indent="0">
              <a:buNone/>
            </a:pPr>
            <a:r>
              <a:rPr lang="en-US" sz="700" b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Functions: </a:t>
            </a:r>
            <a:r>
              <a:rPr lang="en-US" sz="7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orchestration for Ingest→Extract→Classify→Review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5029200" y="868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Human-in-the-Loop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Support UI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029200" y="128016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Underwriters review AI-generated risk classifications</a:t>
            </a:r>
            <a:endParaRPr lang="en-US" sz="700" dirty="0"/>
          </a:p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recommendations with rule citations</a:t>
            </a:r>
            <a:endParaRPr lang="en-US" sz="700" dirty="0"/>
          </a:p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decision authority remains with underwriter SMEs</a:t>
            </a:r>
            <a:endParaRPr lang="en-US" sz="700" dirty="0"/>
          </a:p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evaluation format for consistency</a:t>
            </a:r>
            <a:endParaRPr lang="en-US" sz="700" dirty="0"/>
          </a:p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Traceable audit trail for compliance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6949440" y="86868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 and Workflow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949440" y="1143000"/>
            <a:ext cx="822960" cy="292608"/>
          </a:xfrm>
          <a:prstGeom prst="rect">
            <a:avLst/>
          </a:prstGeom>
          <a:solidFill>
            <a:srgbClr val="D04A0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6949440" y="114300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Upload</a:t>
            </a:r>
            <a:endParaRPr lang="en-US" sz="600" dirty="0"/>
          </a:p>
        </p:txBody>
      </p:sp>
      <p:sp>
        <p:nvSpPr>
          <p:cNvPr id="18" name="Text 15"/>
          <p:cNvSpPr/>
          <p:nvPr/>
        </p:nvSpPr>
        <p:spPr>
          <a:xfrm>
            <a:off x="7818120" y="114300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uploads application form to system</a:t>
            </a:r>
            <a:endParaRPr lang="en-US" sz="600" dirty="0"/>
          </a:p>
        </p:txBody>
      </p:sp>
      <p:sp>
        <p:nvSpPr>
          <p:cNvPr id="19" name="Shape 16"/>
          <p:cNvSpPr/>
          <p:nvPr/>
        </p:nvSpPr>
        <p:spPr>
          <a:xfrm>
            <a:off x="6949440" y="1508760"/>
            <a:ext cx="822960" cy="292608"/>
          </a:xfrm>
          <a:prstGeom prst="rect">
            <a:avLst/>
          </a:prstGeom>
          <a:solidFill>
            <a:srgbClr val="D04A0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6949440" y="150876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Extraction</a:t>
            </a:r>
            <a:endParaRPr lang="en-US" sz="600" dirty="0"/>
          </a:p>
        </p:txBody>
      </p:sp>
      <p:sp>
        <p:nvSpPr>
          <p:cNvPr id="21" name="Text 18"/>
          <p:cNvSpPr/>
          <p:nvPr/>
        </p:nvSpPr>
        <p:spPr>
          <a:xfrm>
            <a:off x="7818120" y="150876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extracts medical history, conditions, lifestyle factors</a:t>
            </a:r>
            <a:endParaRPr lang="en-US" sz="600" dirty="0"/>
          </a:p>
        </p:txBody>
      </p:sp>
      <p:sp>
        <p:nvSpPr>
          <p:cNvPr id="22" name="Shape 19"/>
          <p:cNvSpPr/>
          <p:nvPr/>
        </p:nvSpPr>
        <p:spPr>
          <a:xfrm>
            <a:off x="6949440" y="1874520"/>
            <a:ext cx="822960" cy="292608"/>
          </a:xfrm>
          <a:prstGeom prst="rect">
            <a:avLst/>
          </a:prstGeom>
          <a:solidFill>
            <a:srgbClr val="D04A0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6949440" y="187452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Comparison</a:t>
            </a:r>
            <a:endParaRPr lang="en-US" sz="600" dirty="0"/>
          </a:p>
        </p:txBody>
      </p:sp>
      <p:sp>
        <p:nvSpPr>
          <p:cNvPr id="24" name="Text 21"/>
          <p:cNvSpPr/>
          <p:nvPr/>
        </p:nvSpPr>
        <p:spPr>
          <a:xfrm>
            <a:off x="7818120" y="187452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data compared against predefined UW rules</a:t>
            </a:r>
            <a:endParaRPr lang="en-US" sz="600" dirty="0"/>
          </a:p>
        </p:txBody>
      </p:sp>
      <p:sp>
        <p:nvSpPr>
          <p:cNvPr id="25" name="Shape 22"/>
          <p:cNvSpPr/>
          <p:nvPr/>
        </p:nvSpPr>
        <p:spPr>
          <a:xfrm>
            <a:off x="6949440" y="2240280"/>
            <a:ext cx="822960" cy="292608"/>
          </a:xfrm>
          <a:prstGeom prst="rect">
            <a:avLst/>
          </a:prstGeom>
          <a:solidFill>
            <a:srgbClr val="D04A0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6949440" y="224028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Bucketing</a:t>
            </a:r>
            <a:endParaRPr lang="en-US" sz="600" dirty="0"/>
          </a:p>
        </p:txBody>
      </p:sp>
      <p:sp>
        <p:nvSpPr>
          <p:cNvPr id="27" name="Text 24"/>
          <p:cNvSpPr/>
          <p:nvPr/>
        </p:nvSpPr>
        <p:spPr>
          <a:xfrm>
            <a:off x="7818120" y="224028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classification into risk categories</a:t>
            </a:r>
            <a:endParaRPr lang="en-US" sz="600" dirty="0"/>
          </a:p>
        </p:txBody>
      </p:sp>
      <p:sp>
        <p:nvSpPr>
          <p:cNvPr id="28" name="Shape 25"/>
          <p:cNvSpPr/>
          <p:nvPr/>
        </p:nvSpPr>
        <p:spPr>
          <a:xfrm>
            <a:off x="6949440" y="2606040"/>
            <a:ext cx="822960" cy="292608"/>
          </a:xfrm>
          <a:prstGeom prst="rect">
            <a:avLst/>
          </a:prstGeom>
          <a:solidFill>
            <a:srgbClr val="D04A0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/>
          <p:nvPr/>
        </p:nvSpPr>
        <p:spPr>
          <a:xfrm>
            <a:off x="6949440" y="260604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UW Review</a:t>
            </a:r>
            <a:endParaRPr lang="en-US" sz="600" dirty="0"/>
          </a:p>
        </p:txBody>
      </p:sp>
      <p:sp>
        <p:nvSpPr>
          <p:cNvPr id="30" name="Text 27"/>
          <p:cNvSpPr/>
          <p:nvPr/>
        </p:nvSpPr>
        <p:spPr>
          <a:xfrm>
            <a:off x="7818120" y="260604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Underwriter validates and finalizes decision</a:t>
            </a:r>
            <a:endParaRPr lang="en-US" sz="600" dirty="0"/>
          </a:p>
        </p:txBody>
      </p:sp>
      <p:sp>
        <p:nvSpPr>
          <p:cNvPr id="31" name="Text 28"/>
          <p:cNvSpPr/>
          <p:nvPr/>
        </p:nvSpPr>
        <p:spPr>
          <a:xfrm>
            <a:off x="6949440" y="31089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Base with</a:t>
            </a:r>
            <a:endParaRPr lang="en-US" sz="800" dirty="0"/>
          </a:p>
          <a:p>
            <a:pPr marL="0" indent="0">
              <a:buNone/>
            </a:pPr>
            <a:r>
              <a:rPr lang="en-US" sz="800" b="1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Data Pipelines</a:t>
            </a:r>
            <a:endParaRPr lang="en-US" sz="800" dirty="0"/>
          </a:p>
        </p:txBody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3474720"/>
            <a:ext cx="137160" cy="137160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7132320" y="3474720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Underwriting Guidelines</a:t>
            </a:r>
            <a:endParaRPr lang="en-US" sz="700" dirty="0"/>
          </a:p>
        </p:txBody>
      </p:sp>
      <p:pic>
        <p:nvPicPr>
          <p:cNvPr id="3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3675888"/>
            <a:ext cx="137160" cy="137160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7132320" y="3675888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Classification Rules</a:t>
            </a:r>
            <a:endParaRPr lang="en-US" sz="700" dirty="0"/>
          </a:p>
        </p:txBody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3877056"/>
            <a:ext cx="137160" cy="137160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7132320" y="3877056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Condition Tables</a:t>
            </a:r>
            <a:endParaRPr lang="en-US" sz="700" dirty="0"/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4078224"/>
            <a:ext cx="137160" cy="137160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7132320" y="4078224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APS Data Standards</a:t>
            </a:r>
            <a:endParaRPr lang="en-US" sz="700" dirty="0"/>
          </a:p>
        </p:txBody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4279392"/>
            <a:ext cx="137160" cy="137160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7132320" y="4279392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Requirements</a:t>
            </a:r>
            <a:endParaRPr lang="en-US" sz="700" dirty="0"/>
          </a:p>
        </p:txBody>
      </p:sp>
      <p:sp>
        <p:nvSpPr>
          <p:cNvPr id="42" name="Shape 34"/>
          <p:cNvSpPr/>
          <p:nvPr/>
        </p:nvSpPr>
        <p:spPr>
          <a:xfrm>
            <a:off x="274320" y="3200400"/>
            <a:ext cx="2743200" cy="228600"/>
          </a:xfrm>
          <a:prstGeom prst="rect">
            <a:avLst/>
          </a:prstGeom>
          <a:solidFill>
            <a:srgbClr val="E871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35"/>
          <p:cNvSpPr/>
          <p:nvPr/>
        </p:nvSpPr>
        <p:spPr>
          <a:xfrm>
            <a:off x="320040" y="320040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Qualitative Impact</a:t>
            </a:r>
            <a:endParaRPr lang="en-US" sz="900" dirty="0"/>
          </a:p>
        </p:txBody>
      </p:sp>
      <p:sp>
        <p:nvSpPr>
          <p:cNvPr id="44" name="Text 36"/>
          <p:cNvSpPr/>
          <p:nvPr/>
        </p:nvSpPr>
        <p:spPr>
          <a:xfrm>
            <a:off x="274320" y="347472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00" b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Preparedness: </a:t>
            </a:r>
            <a:r>
              <a:rPr lang="en-US" sz="7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Repeatable evaluations improve consistency in risk assessment</a:t>
            </a:r>
            <a:endParaRPr lang="en-US" sz="700" dirty="0"/>
          </a:p>
          <a:p>
            <a:pPr marL="0" indent="0">
              <a:buNone/>
            </a:pPr>
            <a:r>
              <a:rPr lang="en-US" sz="700" b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control: </a:t>
            </a:r>
            <a:r>
              <a:rPr lang="en-US" sz="7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outputs emphasize compliance and audit readiness</a:t>
            </a:r>
            <a:endParaRPr lang="en-US" sz="700" dirty="0"/>
          </a:p>
          <a:p>
            <a:pPr marL="0" indent="0">
              <a:buNone/>
            </a:pPr>
            <a:r>
              <a:rPr lang="en-US" sz="700" b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Scalability: </a:t>
            </a:r>
            <a:r>
              <a:rPr lang="en-US" sz="7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for future underwriting GenAI use cases</a:t>
            </a:r>
            <a:endParaRPr lang="en-US" sz="700" dirty="0"/>
          </a:p>
        </p:txBody>
      </p:sp>
      <p:sp>
        <p:nvSpPr>
          <p:cNvPr id="45" name="Shape 37"/>
          <p:cNvSpPr/>
          <p:nvPr/>
        </p:nvSpPr>
        <p:spPr>
          <a:xfrm>
            <a:off x="3108960" y="3200400"/>
            <a:ext cx="3749040" cy="256032"/>
          </a:xfrm>
          <a:prstGeom prst="rect">
            <a:avLst/>
          </a:prstGeom>
          <a:solidFill>
            <a:srgbClr val="E871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38"/>
          <p:cNvSpPr/>
          <p:nvPr/>
        </p:nvSpPr>
        <p:spPr>
          <a:xfrm>
            <a:off x="4320540" y="3217199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 Numbers</a:t>
            </a:r>
            <a:endParaRPr lang="en-US" sz="900" dirty="0"/>
          </a:p>
        </p:txBody>
      </p:sp>
      <p:sp>
        <p:nvSpPr>
          <p:cNvPr id="47" name="Shape 39"/>
          <p:cNvSpPr/>
          <p:nvPr/>
        </p:nvSpPr>
        <p:spPr>
          <a:xfrm>
            <a:off x="3108960" y="3520440"/>
            <a:ext cx="914400" cy="1051560"/>
          </a:xfrm>
          <a:prstGeom prst="rect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Text 40"/>
          <p:cNvSpPr/>
          <p:nvPr/>
        </p:nvSpPr>
        <p:spPr>
          <a:xfrm>
            <a:off x="3108960" y="3566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1600" dirty="0"/>
          </a:p>
        </p:txBody>
      </p:sp>
      <p:sp>
        <p:nvSpPr>
          <p:cNvPr id="49" name="Text 41"/>
          <p:cNvSpPr/>
          <p:nvPr/>
        </p:nvSpPr>
        <p:spPr>
          <a:xfrm>
            <a:off x="3154680" y="388620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class alignment</a:t>
            </a:r>
            <a:endParaRPr lang="en-US" sz="600" dirty="0"/>
          </a:p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underwriter</a:t>
            </a:r>
            <a:endParaRPr lang="en-US" sz="600" dirty="0"/>
          </a:p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600" dirty="0"/>
          </a:p>
        </p:txBody>
      </p:sp>
      <p:sp>
        <p:nvSpPr>
          <p:cNvPr id="50" name="Shape 42"/>
          <p:cNvSpPr/>
          <p:nvPr/>
        </p:nvSpPr>
        <p:spPr>
          <a:xfrm>
            <a:off x="4069080" y="3520440"/>
            <a:ext cx="914400" cy="1051560"/>
          </a:xfrm>
          <a:prstGeom prst="rect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Text 43"/>
          <p:cNvSpPr/>
          <p:nvPr/>
        </p:nvSpPr>
        <p:spPr>
          <a:xfrm>
            <a:off x="4069080" y="3566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40-80%</a:t>
            </a:r>
            <a:endParaRPr lang="en-US" sz="1600" dirty="0"/>
          </a:p>
        </p:txBody>
      </p:sp>
      <p:sp>
        <p:nvSpPr>
          <p:cNvPr id="52" name="Text 44"/>
          <p:cNvSpPr/>
          <p:nvPr/>
        </p:nvSpPr>
        <p:spPr>
          <a:xfrm>
            <a:off x="4114800" y="388620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reduction</a:t>
            </a:r>
            <a:endParaRPr lang="en-US" sz="600" dirty="0"/>
          </a:p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informal case</a:t>
            </a:r>
            <a:endParaRPr lang="en-US" sz="600" dirty="0"/>
          </a:p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time</a:t>
            </a:r>
            <a:endParaRPr lang="en-US" sz="600" dirty="0"/>
          </a:p>
        </p:txBody>
      </p:sp>
      <p:sp>
        <p:nvSpPr>
          <p:cNvPr id="53" name="Shape 45"/>
          <p:cNvSpPr/>
          <p:nvPr/>
        </p:nvSpPr>
        <p:spPr>
          <a:xfrm>
            <a:off x="5029200" y="3520440"/>
            <a:ext cx="914400" cy="1051560"/>
          </a:xfrm>
          <a:prstGeom prst="rect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Text 46"/>
          <p:cNvSpPr/>
          <p:nvPr/>
        </p:nvSpPr>
        <p:spPr>
          <a:xfrm>
            <a:off x="5029200" y="3566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2x</a:t>
            </a:r>
            <a:endParaRPr lang="en-US" sz="1600" dirty="0"/>
          </a:p>
        </p:txBody>
      </p:sp>
      <p:sp>
        <p:nvSpPr>
          <p:cNvPr id="55" name="Text 47"/>
          <p:cNvSpPr/>
          <p:nvPr/>
        </p:nvSpPr>
        <p:spPr>
          <a:xfrm>
            <a:off x="5074920" y="388620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informal</a:t>
            </a:r>
            <a:endParaRPr lang="en-US" sz="600" dirty="0"/>
          </a:p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volume</a:t>
            </a:r>
            <a:endParaRPr lang="en-US" sz="600" dirty="0"/>
          </a:p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</a:t>
            </a:r>
            <a:endParaRPr lang="en-US" sz="600" dirty="0"/>
          </a:p>
        </p:txBody>
      </p:sp>
      <p:sp>
        <p:nvSpPr>
          <p:cNvPr id="56" name="Shape 48"/>
          <p:cNvSpPr/>
          <p:nvPr/>
        </p:nvSpPr>
        <p:spPr>
          <a:xfrm>
            <a:off x="5989320" y="3520440"/>
            <a:ext cx="914400" cy="1051560"/>
          </a:xfrm>
          <a:prstGeom prst="rect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Text 49"/>
          <p:cNvSpPr/>
          <p:nvPr/>
        </p:nvSpPr>
        <p:spPr>
          <a:xfrm>
            <a:off x="5989320" y="3566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600" dirty="0"/>
          </a:p>
        </p:txBody>
      </p:sp>
      <p:sp>
        <p:nvSpPr>
          <p:cNvPr id="58" name="Text 50"/>
          <p:cNvSpPr/>
          <p:nvPr/>
        </p:nvSpPr>
        <p:spPr>
          <a:xfrm>
            <a:off x="6035040" y="388620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from</a:t>
            </a:r>
            <a:endParaRPr lang="en-US" sz="600" dirty="0"/>
          </a:p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to validated</a:t>
            </a:r>
            <a:endParaRPr lang="en-US" sz="600" dirty="0"/>
          </a:p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support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0" cy="320040"/>
          </a:xfrm>
          <a:prstGeom prst="rect">
            <a:avLst/>
          </a:prstGeom>
          <a:solidFill>
            <a:srgbClr val="D04A0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pwc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Medical Document Intelligence: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D04A0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AI-Powered Medical Record Analysis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720× faster processing with $872K annual savings through Azure AI automation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828800" y="3840480"/>
            <a:ext cx="3200400" cy="365760"/>
          </a:xfrm>
          <a:prstGeom prst="rect">
            <a:avLst/>
          </a:prstGeom>
          <a:solidFill>
            <a:srgbClr val="D04A0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114800" y="4206240"/>
            <a:ext cx="3200400" cy="365760"/>
          </a:xfrm>
          <a:prstGeom prst="rect">
            <a:avLst/>
          </a:prstGeom>
          <a:solidFill>
            <a:srgbClr val="E8713A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GenAI-Enabled – 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286000" y="137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04A0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Medical Document Intelligence System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8595360" cy="18288"/>
          </a:xfrm>
          <a:prstGeom prst="rect">
            <a:avLst/>
          </a:prstGeom>
          <a:solidFill>
            <a:srgbClr val="E8713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68680"/>
            <a:ext cx="228600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8686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Accomplished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74320" y="118872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enterprise-grade AI solution for medical record review: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extraction &amp; analysis of 1000+ page medical records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Q&amp;A with precise citations (PDF, page, line)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 application vs medical record discrepancies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compliant audit trails for regulatory compliance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274320" y="2331720"/>
            <a:ext cx="25603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274320" y="23774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 operations: 2 analysts now process 500+ cases/month vs 10 analysts for ~10 cases/month previously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turnaround from 2-3 weeks to same-day delivery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3108960" y="868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AI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108960" y="1280160"/>
            <a:ext cx="18288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00" b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Doc Intelligence: </a:t>
            </a:r>
            <a:r>
              <a:rPr lang="en-US" sz="7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with layout extraction (1000 pages)</a:t>
            </a:r>
            <a:endParaRPr lang="en-US" sz="700" dirty="0"/>
          </a:p>
          <a:p>
            <a:pPr marL="0" indent="0">
              <a:buNone/>
            </a:pPr>
            <a:r>
              <a:rPr lang="en-US" sz="700" b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 GPT-5: </a:t>
            </a:r>
            <a:r>
              <a:rPr lang="en-US" sz="7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Summarization, Q&amp;A, analysis engine</a:t>
            </a:r>
            <a:endParaRPr lang="en-US" sz="700" dirty="0"/>
          </a:p>
          <a:p>
            <a:pPr marL="0" indent="0">
              <a:buNone/>
            </a:pPr>
            <a:r>
              <a:rPr lang="en-US" sz="700" b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HNSW Index: </a:t>
            </a:r>
            <a:r>
              <a:rPr lang="en-US" sz="7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O(log n) semantic vector search</a:t>
            </a:r>
            <a:endParaRPr lang="en-US" sz="700" dirty="0"/>
          </a:p>
          <a:p>
            <a:pPr marL="0" indent="0">
              <a:buNone/>
            </a:pPr>
            <a:r>
              <a:rPr lang="en-US" sz="700" b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text-embedding-3-large: </a:t>
            </a:r>
            <a:r>
              <a:rPr lang="en-US" sz="7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3072-dim vectors for RAG retrieval</a:t>
            </a:r>
            <a:endParaRPr lang="en-US" sz="700" dirty="0"/>
          </a:p>
          <a:p>
            <a:pPr marL="0" indent="0">
              <a:buNone/>
            </a:pPr>
            <a:r>
              <a:rPr lang="en-US" sz="700" b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Blob Storage: </a:t>
            </a:r>
            <a:r>
              <a:rPr lang="en-US" sz="7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PDFs, indexes, audit trails</a:t>
            </a:r>
            <a:endParaRPr lang="en-US" sz="700" dirty="0"/>
          </a:p>
          <a:p>
            <a:pPr marL="0" indent="0">
              <a:buNone/>
            </a:pPr>
            <a:r>
              <a:rPr lang="en-US" sz="700" b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Streamlit: </a:t>
            </a:r>
            <a:r>
              <a:rPr lang="en-US" sz="7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underwriter dashboard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5029200" y="868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12-Minute Processing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029200" y="1280160"/>
            <a:ext cx="18288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00" b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Ingestion &amp; OCR: </a:t>
            </a:r>
            <a:r>
              <a:rPr lang="en-US" sz="7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 min (parallel 4 workers)</a:t>
            </a:r>
            <a:endParaRPr lang="en-US" sz="700" dirty="0"/>
          </a:p>
          <a:p>
            <a:pPr marL="0" indent="0">
              <a:buNone/>
            </a:pPr>
            <a:r>
              <a:rPr lang="en-US" sz="700" b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Chunking: </a:t>
            </a:r>
            <a:r>
              <a:rPr lang="en-US" sz="7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min (50K token window)</a:t>
            </a:r>
            <a:endParaRPr lang="en-US" sz="700" dirty="0"/>
          </a:p>
          <a:p>
            <a:pPr marL="0" indent="0">
              <a:buNone/>
            </a:pPr>
            <a:r>
              <a:rPr lang="en-US" sz="700" b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Summarization: </a:t>
            </a:r>
            <a:r>
              <a:rPr lang="en-US" sz="7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min (prompt caching)</a:t>
            </a:r>
            <a:endParaRPr lang="en-US" sz="700" dirty="0"/>
          </a:p>
          <a:p>
            <a:pPr marL="0" indent="0">
              <a:buNone/>
            </a:pPr>
            <a:r>
              <a:rPr lang="en-US" sz="700" b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Index Building: </a:t>
            </a:r>
            <a:r>
              <a:rPr lang="en-US" sz="7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min (FAISS HNSW)</a:t>
            </a:r>
            <a:endParaRPr lang="en-US" sz="700" dirty="0"/>
          </a:p>
          <a:p>
            <a:pPr marL="0" indent="0">
              <a:buNone/>
            </a:pPr>
            <a:r>
              <a:rPr lang="en-US" sz="700" b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Analysis: </a:t>
            </a:r>
            <a:r>
              <a:rPr lang="en-US" sz="7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min (batch RAG)</a:t>
            </a:r>
            <a:endParaRPr lang="en-US" sz="700" dirty="0"/>
          </a:p>
          <a:p>
            <a:pPr marL="0" indent="0">
              <a:buNone/>
            </a:pPr>
            <a:r>
              <a:rPr lang="en-US" sz="700" b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Overhead/Buffer: </a:t>
            </a:r>
            <a:r>
              <a:rPr lang="en-US" sz="7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6949440" y="86868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 and Workflow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949440" y="1143000"/>
            <a:ext cx="868680" cy="292608"/>
          </a:xfrm>
          <a:prstGeom prst="rect">
            <a:avLst/>
          </a:prstGeom>
          <a:solidFill>
            <a:srgbClr val="D04A0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6949440" y="1143000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Record Upload</a:t>
            </a:r>
            <a:endParaRPr lang="en-US" sz="550" dirty="0"/>
          </a:p>
        </p:txBody>
      </p:sp>
      <p:sp>
        <p:nvSpPr>
          <p:cNvPr id="18" name="Text 15"/>
          <p:cNvSpPr/>
          <p:nvPr/>
        </p:nvSpPr>
        <p:spPr>
          <a:xfrm>
            <a:off x="7863840" y="114300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1000+ page PDFs ingested</a:t>
            </a:r>
            <a:endParaRPr lang="en-US" sz="600" dirty="0"/>
          </a:p>
        </p:txBody>
      </p:sp>
      <p:sp>
        <p:nvSpPr>
          <p:cNvPr id="19" name="Shape 16"/>
          <p:cNvSpPr/>
          <p:nvPr/>
        </p:nvSpPr>
        <p:spPr>
          <a:xfrm>
            <a:off x="6949440" y="1508760"/>
            <a:ext cx="868680" cy="292608"/>
          </a:xfrm>
          <a:prstGeom prst="rect">
            <a:avLst/>
          </a:prstGeom>
          <a:solidFill>
            <a:srgbClr val="D04A0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6949440" y="1508760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Extraction</a:t>
            </a:r>
            <a:endParaRPr lang="en-US" sz="550" dirty="0"/>
          </a:p>
        </p:txBody>
      </p:sp>
      <p:sp>
        <p:nvSpPr>
          <p:cNvPr id="21" name="Text 18"/>
          <p:cNvSpPr/>
          <p:nvPr/>
        </p:nvSpPr>
        <p:spPr>
          <a:xfrm>
            <a:off x="7863840" y="150876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Doc Intelligence parallel processing</a:t>
            </a:r>
            <a:endParaRPr lang="en-US" sz="600" dirty="0"/>
          </a:p>
        </p:txBody>
      </p:sp>
      <p:sp>
        <p:nvSpPr>
          <p:cNvPr id="22" name="Shape 19"/>
          <p:cNvSpPr/>
          <p:nvPr/>
        </p:nvSpPr>
        <p:spPr>
          <a:xfrm>
            <a:off x="6949440" y="1874520"/>
            <a:ext cx="868680" cy="292608"/>
          </a:xfrm>
          <a:prstGeom prst="rect">
            <a:avLst/>
          </a:prstGeom>
          <a:solidFill>
            <a:srgbClr val="D04A0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6949440" y="1874520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Summarization</a:t>
            </a:r>
            <a:endParaRPr lang="en-US" sz="550" dirty="0"/>
          </a:p>
        </p:txBody>
      </p:sp>
      <p:sp>
        <p:nvSpPr>
          <p:cNvPr id="24" name="Text 21"/>
          <p:cNvSpPr/>
          <p:nvPr/>
        </p:nvSpPr>
        <p:spPr>
          <a:xfrm>
            <a:off x="7863840" y="187452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 generates medical summaries</a:t>
            </a:r>
            <a:endParaRPr lang="en-US" sz="600" dirty="0"/>
          </a:p>
        </p:txBody>
      </p:sp>
      <p:sp>
        <p:nvSpPr>
          <p:cNvPr id="25" name="Shape 22"/>
          <p:cNvSpPr/>
          <p:nvPr/>
        </p:nvSpPr>
        <p:spPr>
          <a:xfrm>
            <a:off x="6949440" y="2240280"/>
            <a:ext cx="868680" cy="292608"/>
          </a:xfrm>
          <a:prstGeom prst="rect">
            <a:avLst/>
          </a:prstGeom>
          <a:solidFill>
            <a:srgbClr val="D04A0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6949440" y="2240280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Discrepancy Detection</a:t>
            </a:r>
            <a:endParaRPr lang="en-US" sz="550" dirty="0"/>
          </a:p>
        </p:txBody>
      </p:sp>
      <p:sp>
        <p:nvSpPr>
          <p:cNvPr id="27" name="Text 24"/>
          <p:cNvSpPr/>
          <p:nvPr/>
        </p:nvSpPr>
        <p:spPr>
          <a:xfrm>
            <a:off x="7863840" y="224028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application vs records</a:t>
            </a:r>
            <a:endParaRPr lang="en-US" sz="600" dirty="0"/>
          </a:p>
        </p:txBody>
      </p:sp>
      <p:sp>
        <p:nvSpPr>
          <p:cNvPr id="28" name="Shape 25"/>
          <p:cNvSpPr/>
          <p:nvPr/>
        </p:nvSpPr>
        <p:spPr>
          <a:xfrm>
            <a:off x="6949440" y="2606040"/>
            <a:ext cx="868680" cy="292608"/>
          </a:xfrm>
          <a:prstGeom prst="rect">
            <a:avLst/>
          </a:prstGeom>
          <a:solidFill>
            <a:srgbClr val="D04A0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/>
          <p:nvPr/>
        </p:nvSpPr>
        <p:spPr>
          <a:xfrm>
            <a:off x="6949440" y="2606040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 with Citations</a:t>
            </a:r>
            <a:endParaRPr lang="en-US" sz="550" dirty="0"/>
          </a:p>
        </p:txBody>
      </p:sp>
      <p:sp>
        <p:nvSpPr>
          <p:cNvPr id="30" name="Text 27"/>
          <p:cNvSpPr/>
          <p:nvPr/>
        </p:nvSpPr>
        <p:spPr>
          <a:xfrm>
            <a:off x="7863840" y="260604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queries with page refs</a:t>
            </a:r>
            <a:endParaRPr lang="en-US" sz="600" dirty="0"/>
          </a:p>
        </p:txBody>
      </p:sp>
      <p:sp>
        <p:nvSpPr>
          <p:cNvPr id="31" name="Text 28"/>
          <p:cNvSpPr/>
          <p:nvPr/>
        </p:nvSpPr>
        <p:spPr>
          <a:xfrm>
            <a:off x="6949440" y="306324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Cost per Case</a:t>
            </a:r>
            <a:endParaRPr lang="en-US" sz="800" dirty="0"/>
          </a:p>
        </p:txBody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3291840"/>
            <a:ext cx="109728" cy="109728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7086600" y="3291840"/>
            <a:ext cx="1828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Intelligence: $1.50</a:t>
            </a:r>
            <a:endParaRPr lang="en-US" sz="650" dirty="0"/>
          </a:p>
        </p:txBody>
      </p:sp>
      <p:pic>
        <p:nvPicPr>
          <p:cNvPr id="3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3465576"/>
            <a:ext cx="109728" cy="109728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7086600" y="3465576"/>
            <a:ext cx="1828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 Tokens: $1.13</a:t>
            </a:r>
            <a:endParaRPr lang="en-US" sz="650" dirty="0"/>
          </a:p>
        </p:txBody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3639312"/>
            <a:ext cx="109728" cy="109728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7086600" y="3639312"/>
            <a:ext cx="1828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Embeddings: $0.065</a:t>
            </a:r>
            <a:endParaRPr lang="en-US" sz="650" dirty="0"/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3813048"/>
            <a:ext cx="109728" cy="109728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7086600" y="3813048"/>
            <a:ext cx="1828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+ Compute: $1.22</a:t>
            </a:r>
            <a:endParaRPr lang="en-US" sz="650" dirty="0"/>
          </a:p>
        </p:txBody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3986784"/>
            <a:ext cx="109728" cy="109728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7086600" y="3986784"/>
            <a:ext cx="1828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$3.91/case</a:t>
            </a:r>
            <a:endParaRPr lang="en-US" sz="650" dirty="0"/>
          </a:p>
        </p:txBody>
      </p:sp>
      <p:sp>
        <p:nvSpPr>
          <p:cNvPr id="42" name="Shape 34"/>
          <p:cNvSpPr/>
          <p:nvPr/>
        </p:nvSpPr>
        <p:spPr>
          <a:xfrm>
            <a:off x="274320" y="3108960"/>
            <a:ext cx="2743200" cy="228600"/>
          </a:xfrm>
          <a:prstGeom prst="rect">
            <a:avLst/>
          </a:prstGeom>
          <a:solidFill>
            <a:srgbClr val="E871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35"/>
          <p:cNvSpPr/>
          <p:nvPr/>
        </p:nvSpPr>
        <p:spPr>
          <a:xfrm>
            <a:off x="320040" y="310896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Qualitative Impact</a:t>
            </a:r>
            <a:endParaRPr lang="en-US" sz="900" dirty="0"/>
          </a:p>
        </p:txBody>
      </p:sp>
      <p:sp>
        <p:nvSpPr>
          <p:cNvPr id="44" name="Text 36"/>
          <p:cNvSpPr/>
          <p:nvPr/>
        </p:nvSpPr>
        <p:spPr>
          <a:xfrm>
            <a:off x="274320" y="338328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00" b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Consistency: </a:t>
            </a:r>
            <a:r>
              <a:rPr lang="en-US" sz="7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reviewer variability in risk assessments</a:t>
            </a:r>
            <a:endParaRPr lang="en-US" sz="700" dirty="0"/>
          </a:p>
          <a:p>
            <a:pPr marL="0" indent="0">
              <a:buNone/>
            </a:pPr>
            <a:r>
              <a:rPr lang="en-US" sz="700" b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Compliance: </a:t>
            </a:r>
            <a:r>
              <a:rPr lang="en-US" sz="7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audit trails with source citations for HIPAA</a:t>
            </a:r>
            <a:endParaRPr lang="en-US" sz="700" dirty="0"/>
          </a:p>
          <a:p>
            <a:pPr marL="0" indent="0">
              <a:buNone/>
            </a:pPr>
            <a:r>
              <a:rPr lang="en-US" sz="700" b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Experience: </a:t>
            </a:r>
            <a:r>
              <a:rPr lang="en-US" sz="7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Same-day turnaround vs 2-3 weeks</a:t>
            </a:r>
            <a:endParaRPr lang="en-US" sz="700" dirty="0"/>
          </a:p>
        </p:txBody>
      </p:sp>
      <p:sp>
        <p:nvSpPr>
          <p:cNvPr id="45" name="Shape 37"/>
          <p:cNvSpPr/>
          <p:nvPr/>
        </p:nvSpPr>
        <p:spPr>
          <a:xfrm>
            <a:off x="3063240" y="3108960"/>
            <a:ext cx="3749040" cy="228600"/>
          </a:xfrm>
          <a:prstGeom prst="rect">
            <a:avLst/>
          </a:prstGeom>
          <a:solidFill>
            <a:srgbClr val="E871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38"/>
          <p:cNvSpPr/>
          <p:nvPr/>
        </p:nvSpPr>
        <p:spPr>
          <a:xfrm>
            <a:off x="4449726" y="3108960"/>
            <a:ext cx="118021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Numbers</a:t>
            </a:r>
            <a:endParaRPr lang="en-US" sz="900" dirty="0"/>
          </a:p>
        </p:txBody>
      </p:sp>
      <p:sp>
        <p:nvSpPr>
          <p:cNvPr id="47" name="Shape 39"/>
          <p:cNvSpPr/>
          <p:nvPr/>
        </p:nvSpPr>
        <p:spPr>
          <a:xfrm>
            <a:off x="3108960" y="3429000"/>
            <a:ext cx="914400" cy="1143000"/>
          </a:xfrm>
          <a:prstGeom prst="rect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Text 40"/>
          <p:cNvSpPr/>
          <p:nvPr/>
        </p:nvSpPr>
        <p:spPr>
          <a:xfrm>
            <a:off x="3108960" y="34747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720×</a:t>
            </a:r>
            <a:endParaRPr lang="en-US" sz="1600" dirty="0"/>
          </a:p>
        </p:txBody>
      </p:sp>
      <p:sp>
        <p:nvSpPr>
          <p:cNvPr id="49" name="Text 41"/>
          <p:cNvSpPr/>
          <p:nvPr/>
        </p:nvSpPr>
        <p:spPr>
          <a:xfrm>
            <a:off x="3154680" y="3840480"/>
            <a:ext cx="822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processing</a:t>
            </a:r>
            <a:endParaRPr lang="en-US" sz="600" dirty="0"/>
          </a:p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(144 hrs → 12 min)</a:t>
            </a:r>
            <a:endParaRPr lang="en-US" sz="600" dirty="0"/>
          </a:p>
        </p:txBody>
      </p:sp>
      <p:sp>
        <p:nvSpPr>
          <p:cNvPr id="50" name="Shape 42"/>
          <p:cNvSpPr/>
          <p:nvPr/>
        </p:nvSpPr>
        <p:spPr>
          <a:xfrm>
            <a:off x="4069080" y="3429000"/>
            <a:ext cx="914400" cy="1143000"/>
          </a:xfrm>
          <a:prstGeom prst="rect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Text 43"/>
          <p:cNvSpPr/>
          <p:nvPr/>
        </p:nvSpPr>
        <p:spPr>
          <a:xfrm>
            <a:off x="4069080" y="34747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$872K</a:t>
            </a:r>
            <a:endParaRPr lang="en-US" sz="1600" dirty="0"/>
          </a:p>
        </p:txBody>
      </p:sp>
      <p:sp>
        <p:nvSpPr>
          <p:cNvPr id="52" name="Text 44"/>
          <p:cNvSpPr/>
          <p:nvPr/>
        </p:nvSpPr>
        <p:spPr>
          <a:xfrm>
            <a:off x="4114800" y="3840480"/>
            <a:ext cx="822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savings</a:t>
            </a:r>
            <a:endParaRPr lang="en-US" sz="600" dirty="0"/>
          </a:p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($1.12M → $247K)</a:t>
            </a:r>
            <a:endParaRPr lang="en-US" sz="600" dirty="0"/>
          </a:p>
        </p:txBody>
      </p:sp>
      <p:sp>
        <p:nvSpPr>
          <p:cNvPr id="53" name="Shape 45"/>
          <p:cNvSpPr/>
          <p:nvPr/>
        </p:nvSpPr>
        <p:spPr>
          <a:xfrm>
            <a:off x="5029200" y="3429000"/>
            <a:ext cx="914400" cy="1143000"/>
          </a:xfrm>
          <a:prstGeom prst="rect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Text 46"/>
          <p:cNvSpPr/>
          <p:nvPr/>
        </p:nvSpPr>
        <p:spPr>
          <a:xfrm>
            <a:off x="5029200" y="34747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235×</a:t>
            </a:r>
            <a:endParaRPr lang="en-US" sz="1600" dirty="0"/>
          </a:p>
        </p:txBody>
      </p:sp>
      <p:sp>
        <p:nvSpPr>
          <p:cNvPr id="55" name="Text 47"/>
          <p:cNvSpPr/>
          <p:nvPr/>
        </p:nvSpPr>
        <p:spPr>
          <a:xfrm>
            <a:off x="5074920" y="3840480"/>
            <a:ext cx="822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cheaper per case</a:t>
            </a:r>
            <a:endParaRPr lang="en-US" sz="600" dirty="0"/>
          </a:p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($9,692 → $41)</a:t>
            </a:r>
            <a:endParaRPr lang="en-US" sz="600" dirty="0"/>
          </a:p>
        </p:txBody>
      </p:sp>
      <p:sp>
        <p:nvSpPr>
          <p:cNvPr id="56" name="Shape 48"/>
          <p:cNvSpPr/>
          <p:nvPr/>
        </p:nvSpPr>
        <p:spPr>
          <a:xfrm>
            <a:off x="5989320" y="3429000"/>
            <a:ext cx="914400" cy="1143000"/>
          </a:xfrm>
          <a:prstGeom prst="rect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Text 49"/>
          <p:cNvSpPr/>
          <p:nvPr/>
        </p:nvSpPr>
        <p:spPr>
          <a:xfrm>
            <a:off x="5989320" y="34747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52×</a:t>
            </a:r>
            <a:endParaRPr lang="en-US" sz="1600" dirty="0"/>
          </a:p>
        </p:txBody>
      </p:sp>
      <p:sp>
        <p:nvSpPr>
          <p:cNvPr id="58" name="Text 50"/>
          <p:cNvSpPr/>
          <p:nvPr/>
        </p:nvSpPr>
        <p:spPr>
          <a:xfrm>
            <a:off x="6035040" y="3840480"/>
            <a:ext cx="822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capacity</a:t>
            </a:r>
            <a:endParaRPr lang="en-US" sz="600" dirty="0"/>
          </a:p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 → 500 cases/mo)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671</Words>
  <Application>Microsoft Office PowerPoint</Application>
  <PresentationFormat>On-screen Show (16:9)</PresentationFormat>
  <Paragraphs>135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GenAI Projects - PwC Surge 1 Qual</dc:title>
  <dc:subject>PptxGenJS Presentation</dc:subject>
  <dc:creator>PwC</dc:creator>
  <cp:lastModifiedBy>Office</cp:lastModifiedBy>
  <cp:revision>2</cp:revision>
  <dcterms:created xsi:type="dcterms:W3CDTF">2026-01-28T11:43:42Z</dcterms:created>
  <dcterms:modified xsi:type="dcterms:W3CDTF">2026-01-28T13:11:06Z</dcterms:modified>
</cp:coreProperties>
</file>