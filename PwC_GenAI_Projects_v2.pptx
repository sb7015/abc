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30" d="100"/>
          <a:sy n="130" d="100"/>
        </p:scale>
        <p:origin x="6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1539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731520" cy="320040"/>
          </a:xfrm>
          <a:prstGeom prst="rect">
            <a:avLst/>
          </a:prstGeom>
          <a:solidFill>
            <a:srgbClr val="D04A02"/>
          </a:solidFill>
          <a:ln/>
        </p:spPr>
        <p:txBody>
          <a:bodyPr/>
          <a:lstStyle/>
          <a:p>
            <a:endParaRPr lang="en-IN"/>
          </a:p>
        </p:txBody>
      </p:sp>
      <p:sp>
        <p:nvSpPr>
          <p:cNvPr id="3" name="Text 1"/>
          <p:cNvSpPr/>
          <p:nvPr/>
        </p:nvSpPr>
        <p:spPr>
          <a:xfrm>
            <a:off x="457200" y="365760"/>
            <a:ext cx="731520" cy="32004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pwc</a:t>
            </a:r>
            <a:endParaRPr lang="en-US" sz="1400" dirty="0"/>
          </a:p>
        </p:txBody>
      </p:sp>
      <p:sp>
        <p:nvSpPr>
          <p:cNvPr id="5" name="Text 3"/>
          <p:cNvSpPr/>
          <p:nvPr/>
        </p:nvSpPr>
        <p:spPr>
          <a:xfrm>
            <a:off x="457200" y="1371600"/>
            <a:ext cx="8229600" cy="640080"/>
          </a:xfrm>
          <a:prstGeom prst="rect">
            <a:avLst/>
          </a:prstGeom>
          <a:noFill/>
          <a:ln/>
        </p:spPr>
        <p:txBody>
          <a:bodyPr wrap="square" rtlCol="0" anchor="ctr"/>
          <a:lstStyle/>
          <a:p>
            <a:pPr marL="0" indent="0">
              <a:buNone/>
            </a:pPr>
            <a:r>
              <a:rPr lang="en-US" sz="3600" b="1" dirty="0">
                <a:solidFill>
                  <a:srgbClr val="2D2D2D"/>
                </a:solidFill>
                <a:latin typeface="Georgia" pitchFamily="34" charset="0"/>
                <a:ea typeface="Georgia" pitchFamily="34" charset="-122"/>
                <a:cs typeface="Georgia" pitchFamily="34" charset="-120"/>
              </a:rPr>
              <a:t>UW Evaluation:</a:t>
            </a:r>
            <a:endParaRPr lang="en-US" sz="3600" dirty="0"/>
          </a:p>
        </p:txBody>
      </p:sp>
      <p:sp>
        <p:nvSpPr>
          <p:cNvPr id="6" name="Text 4"/>
          <p:cNvSpPr/>
          <p:nvPr/>
        </p:nvSpPr>
        <p:spPr>
          <a:xfrm>
            <a:off x="457200" y="2011680"/>
            <a:ext cx="8229600" cy="1097280"/>
          </a:xfrm>
          <a:prstGeom prst="rect">
            <a:avLst/>
          </a:prstGeom>
          <a:noFill/>
          <a:ln/>
        </p:spPr>
        <p:txBody>
          <a:bodyPr wrap="square" rtlCol="0" anchor="ctr"/>
          <a:lstStyle/>
          <a:p>
            <a:pPr marL="0" indent="0">
              <a:buNone/>
            </a:pPr>
            <a:r>
              <a:rPr lang="en-US" sz="2800" dirty="0">
                <a:solidFill>
                  <a:srgbClr val="D04A02"/>
                </a:solidFill>
                <a:latin typeface="Georgia" pitchFamily="34" charset="0"/>
                <a:ea typeface="Georgia" pitchFamily="34" charset="-122"/>
                <a:cs typeface="Georgia" pitchFamily="34" charset="-120"/>
              </a:rPr>
              <a:t>Proving Faster, More Consistent Informal</a:t>
            </a:r>
            <a:endParaRPr lang="en-US" sz="2800" dirty="0"/>
          </a:p>
          <a:p>
            <a:pPr marL="0" indent="0">
              <a:buNone/>
            </a:pPr>
            <a:r>
              <a:rPr lang="en-US" sz="2800" dirty="0">
                <a:solidFill>
                  <a:srgbClr val="D04A02"/>
                </a:solidFill>
                <a:latin typeface="Georgia" pitchFamily="34" charset="0"/>
                <a:ea typeface="Georgia" pitchFamily="34" charset="-122"/>
                <a:cs typeface="Georgia" pitchFamily="34" charset="-120"/>
              </a:rPr>
              <a:t>Underwriting with GenAI Decision Support</a:t>
            </a:r>
            <a:endParaRPr lang="en-US" sz="2800" dirty="0"/>
          </a:p>
        </p:txBody>
      </p:sp>
      <p:sp>
        <p:nvSpPr>
          <p:cNvPr id="7" name="Text 5"/>
          <p:cNvSpPr/>
          <p:nvPr/>
        </p:nvSpPr>
        <p:spPr>
          <a:xfrm>
            <a:off x="457200" y="3200400"/>
            <a:ext cx="7315200" cy="365760"/>
          </a:xfrm>
          <a:prstGeom prst="rect">
            <a:avLst/>
          </a:prstGeom>
          <a:noFill/>
          <a:ln/>
        </p:spPr>
        <p:txBody>
          <a:bodyPr wrap="square" rtlCol="0" anchor="ctr"/>
          <a:lstStyle/>
          <a:p>
            <a:pPr marL="0" indent="0">
              <a:buNone/>
            </a:pPr>
            <a:r>
              <a:rPr lang="en-US" sz="1400" i="1" dirty="0">
                <a:solidFill>
                  <a:srgbClr val="5C5C5C"/>
                </a:solidFill>
                <a:latin typeface="Calibri" pitchFamily="34" charset="0"/>
                <a:ea typeface="Calibri" pitchFamily="34" charset="-122"/>
                <a:cs typeface="Calibri" pitchFamily="34" charset="-120"/>
              </a:rPr>
              <a:t>underwriter-guided journey from concept to validated decision support</a:t>
            </a:r>
            <a:endParaRPr lang="en-US" sz="1400" dirty="0"/>
          </a:p>
        </p:txBody>
      </p:sp>
      <p:sp>
        <p:nvSpPr>
          <p:cNvPr id="8" name="Shape 6"/>
          <p:cNvSpPr/>
          <p:nvPr/>
        </p:nvSpPr>
        <p:spPr>
          <a:xfrm>
            <a:off x="1828800" y="3840480"/>
            <a:ext cx="3200400" cy="365760"/>
          </a:xfrm>
          <a:prstGeom prst="rect">
            <a:avLst/>
          </a:prstGeom>
          <a:solidFill>
            <a:srgbClr val="D04A02"/>
          </a:solidFill>
          <a:ln/>
        </p:spPr>
        <p:txBody>
          <a:bodyPr/>
          <a:lstStyle/>
          <a:p>
            <a:endParaRPr lang="en-IN"/>
          </a:p>
        </p:txBody>
      </p:sp>
      <p:sp>
        <p:nvSpPr>
          <p:cNvPr id="9" name="Shape 7"/>
          <p:cNvSpPr/>
          <p:nvPr/>
        </p:nvSpPr>
        <p:spPr>
          <a:xfrm>
            <a:off x="4114800" y="4206240"/>
            <a:ext cx="3200400" cy="365760"/>
          </a:xfrm>
          <a:prstGeom prst="rect">
            <a:avLst/>
          </a:prstGeom>
          <a:solidFill>
            <a:srgbClr val="E8713A"/>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109728"/>
            <a:ext cx="2011680" cy="320040"/>
          </a:xfrm>
          <a:prstGeom prst="rect">
            <a:avLst/>
          </a:prstGeom>
          <a:noFill/>
          <a:ln/>
        </p:spPr>
        <p:txBody>
          <a:bodyPr wrap="square" lIns="0" tIns="0" rIns="0" bIns="0" rtlCol="0" anchor="ctr"/>
          <a:lstStyle/>
          <a:p>
            <a:pPr marL="0" indent="0">
              <a:buNone/>
            </a:pPr>
            <a:r>
              <a:rPr lang="en-US" sz="1500" b="1" dirty="0">
                <a:solidFill>
                  <a:srgbClr val="2D2D2D"/>
                </a:solidFill>
                <a:latin typeface="Georgia" pitchFamily="34" charset="0"/>
                <a:ea typeface="Georgia" pitchFamily="34" charset="-122"/>
                <a:cs typeface="Georgia" pitchFamily="34" charset="-120"/>
              </a:rPr>
              <a:t>GenAI-Enabled – </a:t>
            </a:r>
            <a:endParaRPr lang="en-US" sz="1500" dirty="0"/>
          </a:p>
        </p:txBody>
      </p:sp>
      <p:sp>
        <p:nvSpPr>
          <p:cNvPr id="3" name="Text 1"/>
          <p:cNvSpPr/>
          <p:nvPr/>
        </p:nvSpPr>
        <p:spPr>
          <a:xfrm>
            <a:off x="2286000" y="109728"/>
            <a:ext cx="5486400" cy="320040"/>
          </a:xfrm>
          <a:prstGeom prst="rect">
            <a:avLst/>
          </a:prstGeom>
          <a:noFill/>
          <a:ln/>
        </p:spPr>
        <p:txBody>
          <a:bodyPr wrap="square" lIns="0" tIns="0" rIns="0" bIns="0" rtlCol="0" anchor="ctr"/>
          <a:lstStyle/>
          <a:p>
            <a:pPr marL="0" indent="0">
              <a:buNone/>
            </a:pPr>
            <a:r>
              <a:rPr lang="en-US" sz="1500" b="1" dirty="0">
                <a:solidFill>
                  <a:srgbClr val="D04A02"/>
                </a:solidFill>
                <a:latin typeface="Georgia" pitchFamily="34" charset="0"/>
                <a:ea typeface="Georgia" pitchFamily="34" charset="-122"/>
                <a:cs typeface="Georgia" pitchFamily="34" charset="-120"/>
              </a:rPr>
              <a:t>Automated Underwriting Risk Classification System</a:t>
            </a:r>
            <a:endParaRPr lang="en-US" sz="1500" dirty="0"/>
          </a:p>
        </p:txBody>
      </p:sp>
      <p:sp>
        <p:nvSpPr>
          <p:cNvPr id="4" name="Text 2"/>
          <p:cNvSpPr/>
          <p:nvPr/>
        </p:nvSpPr>
        <p:spPr>
          <a:xfrm>
            <a:off x="274320" y="411480"/>
            <a:ext cx="7315200" cy="228600"/>
          </a:xfrm>
          <a:prstGeom prst="rect">
            <a:avLst/>
          </a:prstGeom>
          <a:noFill/>
          <a:ln/>
        </p:spPr>
        <p:txBody>
          <a:bodyPr wrap="square" lIns="0" tIns="0" rIns="0" bIns="0" rtlCol="0" anchor="ctr"/>
          <a:lstStyle/>
          <a:p>
            <a:pPr marL="0" indent="0">
              <a:buNone/>
            </a:pPr>
            <a:r>
              <a:rPr lang="en-US" sz="1200" dirty="0">
                <a:solidFill>
                  <a:srgbClr val="2D2D2D"/>
                </a:solidFill>
                <a:latin typeface="Georgia" pitchFamily="34" charset="0"/>
                <a:ea typeface="Georgia" pitchFamily="34" charset="-122"/>
                <a:cs typeface="Georgia" pitchFamily="34" charset="-120"/>
              </a:rPr>
              <a:t>for Life Insurance Informal Underwriting</a:t>
            </a:r>
            <a:endParaRPr lang="en-US" sz="1200" dirty="0"/>
          </a:p>
        </p:txBody>
      </p:sp>
      <p:sp>
        <p:nvSpPr>
          <p:cNvPr id="5" name="Shape 3"/>
          <p:cNvSpPr/>
          <p:nvPr/>
        </p:nvSpPr>
        <p:spPr>
          <a:xfrm>
            <a:off x="274320" y="658368"/>
            <a:ext cx="8595360" cy="13716"/>
          </a:xfrm>
          <a:prstGeom prst="rect">
            <a:avLst/>
          </a:prstGeom>
          <a:solidFill>
            <a:srgbClr val="E8713A"/>
          </a:solidFill>
          <a:ln/>
        </p:spPr>
        <p:txBody>
          <a:bodyPr/>
          <a:lstStyle/>
          <a:p>
            <a:endParaRPr lang="en-IN"/>
          </a:p>
        </p:txBody>
      </p:sp>
      <p:sp>
        <p:nvSpPr>
          <p:cNvPr id="6" name="Shape 4"/>
          <p:cNvSpPr/>
          <p:nvPr/>
        </p:nvSpPr>
        <p:spPr>
          <a:xfrm>
            <a:off x="274320" y="713232"/>
            <a:ext cx="8595360" cy="640080"/>
          </a:xfrm>
          <a:prstGeom prst="rect">
            <a:avLst/>
          </a:prstGeom>
          <a:solidFill>
            <a:srgbClr val="FFF5F0"/>
          </a:solidFill>
          <a:ln/>
        </p:spPr>
        <p:txBody>
          <a:bodyPr/>
          <a:lstStyle/>
          <a:p>
            <a:endParaRPr lang="en-IN"/>
          </a:p>
        </p:txBody>
      </p:sp>
      <p:sp>
        <p:nvSpPr>
          <p:cNvPr id="7" name="Shape 5"/>
          <p:cNvSpPr/>
          <p:nvPr/>
        </p:nvSpPr>
        <p:spPr>
          <a:xfrm>
            <a:off x="274320" y="713232"/>
            <a:ext cx="54864" cy="640080"/>
          </a:xfrm>
          <a:prstGeom prst="rect">
            <a:avLst/>
          </a:prstGeom>
          <a:solidFill>
            <a:srgbClr val="C41E3A"/>
          </a:solidFill>
          <a:ln/>
        </p:spPr>
        <p:txBody>
          <a:bodyPr/>
          <a:lstStyle/>
          <a:p>
            <a:endParaRPr lang="en-IN"/>
          </a:p>
        </p:txBody>
      </p:sp>
      <p:pic>
        <p:nvPicPr>
          <p:cNvPr id="8" name="Image 0" descr="preencoded.png"/>
          <p:cNvPicPr>
            <a:picLocks noChangeAspect="1"/>
          </p:cNvPicPr>
          <p:nvPr/>
        </p:nvPicPr>
        <p:blipFill>
          <a:blip r:embed="rId3"/>
          <a:stretch>
            <a:fillRect/>
          </a:stretch>
        </p:blipFill>
        <p:spPr>
          <a:xfrm>
            <a:off x="411480" y="777240"/>
            <a:ext cx="182880" cy="182880"/>
          </a:xfrm>
          <a:prstGeom prst="rect">
            <a:avLst/>
          </a:prstGeom>
        </p:spPr>
      </p:pic>
      <p:sp>
        <p:nvSpPr>
          <p:cNvPr id="9" name="Text 6"/>
          <p:cNvSpPr/>
          <p:nvPr/>
        </p:nvSpPr>
        <p:spPr>
          <a:xfrm>
            <a:off x="640080" y="777240"/>
            <a:ext cx="2286000" cy="201168"/>
          </a:xfrm>
          <a:prstGeom prst="rect">
            <a:avLst/>
          </a:prstGeom>
          <a:noFill/>
          <a:ln/>
        </p:spPr>
        <p:txBody>
          <a:bodyPr wrap="square" lIns="0" tIns="0" rIns="0" bIns="0" rtlCol="0" anchor="ctr"/>
          <a:lstStyle/>
          <a:p>
            <a:pPr marL="0" indent="0">
              <a:buNone/>
            </a:pPr>
            <a:r>
              <a:rPr lang="en-US" sz="900" b="1" dirty="0">
                <a:solidFill>
                  <a:srgbClr val="C41E3A"/>
                </a:solidFill>
                <a:latin typeface="Arial" pitchFamily="34" charset="0"/>
                <a:ea typeface="Arial" pitchFamily="34" charset="-122"/>
                <a:cs typeface="Arial" pitchFamily="34" charset="-120"/>
              </a:rPr>
              <a:t>The Challenge We Addressed</a:t>
            </a:r>
            <a:endParaRPr lang="en-US" sz="900" dirty="0"/>
          </a:p>
        </p:txBody>
      </p:sp>
      <p:sp>
        <p:nvSpPr>
          <p:cNvPr id="10" name="Text 7"/>
          <p:cNvSpPr/>
          <p:nvPr/>
        </p:nvSpPr>
        <p:spPr>
          <a:xfrm>
            <a:off x="411480" y="987552"/>
            <a:ext cx="8321040" cy="347472"/>
          </a:xfrm>
          <a:prstGeom prst="rect">
            <a:avLst/>
          </a:prstGeom>
          <a:noFill/>
          <a:ln/>
        </p:spPr>
        <p:txBody>
          <a:bodyPr wrap="square" lIns="0" tIns="0" rIns="0" bIns="0" rtlCol="0" anchor="t"/>
          <a:lstStyle/>
          <a:p>
            <a:pPr marL="0" indent="0">
              <a:buNone/>
            </a:pPr>
            <a:r>
              <a:rPr lang="en-US" sz="700" dirty="0">
                <a:solidFill>
                  <a:srgbClr val="5C5C5C"/>
                </a:solidFill>
                <a:latin typeface="Calibri" pitchFamily="34" charset="0"/>
                <a:ea typeface="Calibri" pitchFamily="34" charset="-122"/>
                <a:cs typeface="Calibri" pitchFamily="34" charset="-120"/>
              </a:rPr>
              <a:t>Informal underwriting was constrained by highly manual processes requiring underwriters to navigate multiple systems and interpret guidelines independently. This resulted in inconsistent risk classifications, extended turnaround times, limited ability to prioritize high-value cases, and significant time spent on repetitive data reconciliation rather than applying judgment where it mattered most.</a:t>
            </a:r>
            <a:endParaRPr lang="en-US" sz="700" dirty="0"/>
          </a:p>
        </p:txBody>
      </p:sp>
      <p:pic>
        <p:nvPicPr>
          <p:cNvPr id="11" name="Image 1" descr="preencoded.png"/>
          <p:cNvPicPr>
            <a:picLocks noChangeAspect="1"/>
          </p:cNvPicPr>
          <p:nvPr/>
        </p:nvPicPr>
        <p:blipFill>
          <a:blip r:embed="rId4"/>
          <a:stretch>
            <a:fillRect/>
          </a:stretch>
        </p:blipFill>
        <p:spPr>
          <a:xfrm>
            <a:off x="274320" y="1417320"/>
            <a:ext cx="182880" cy="182880"/>
          </a:xfrm>
          <a:prstGeom prst="rect">
            <a:avLst/>
          </a:prstGeom>
        </p:spPr>
      </p:pic>
      <p:sp>
        <p:nvSpPr>
          <p:cNvPr id="12" name="Text 8"/>
          <p:cNvSpPr/>
          <p:nvPr/>
        </p:nvSpPr>
        <p:spPr>
          <a:xfrm>
            <a:off x="502920" y="1417320"/>
            <a:ext cx="1920240" cy="201168"/>
          </a:xfrm>
          <a:prstGeom prst="rect">
            <a:avLst/>
          </a:prstGeom>
          <a:noFill/>
          <a:ln/>
        </p:spPr>
        <p:txBody>
          <a:bodyPr wrap="square" lIns="0" tIns="0" rIns="0" bIns="0" rtlCol="0" anchor="ctr"/>
          <a:lstStyle/>
          <a:p>
            <a:pPr marL="0" indent="0">
              <a:buNone/>
            </a:pPr>
            <a:r>
              <a:rPr lang="en-US" sz="900" b="1" dirty="0">
                <a:solidFill>
                  <a:srgbClr val="2D2D2D"/>
                </a:solidFill>
                <a:latin typeface="Arial" pitchFamily="34" charset="0"/>
                <a:ea typeface="Arial" pitchFamily="34" charset="-122"/>
                <a:cs typeface="Arial" pitchFamily="34" charset="-120"/>
              </a:rPr>
              <a:t>What We Proved in 10 Weeks</a:t>
            </a:r>
            <a:endParaRPr lang="en-US" sz="900" dirty="0"/>
          </a:p>
        </p:txBody>
      </p:sp>
      <p:sp>
        <p:nvSpPr>
          <p:cNvPr id="13" name="Text 9"/>
          <p:cNvSpPr/>
          <p:nvPr/>
        </p:nvSpPr>
        <p:spPr>
          <a:xfrm>
            <a:off x="274320" y="1645920"/>
            <a:ext cx="2194560" cy="777240"/>
          </a:xfrm>
          <a:prstGeom prst="rect">
            <a:avLst/>
          </a:prstGeom>
          <a:noFill/>
          <a:ln/>
        </p:spPr>
        <p:txBody>
          <a:bodyPr wrap="square" rtlCol="0" anchor="t"/>
          <a:lstStyle/>
          <a:p>
            <a:pPr marL="342900" indent="-342900">
              <a:buSzPct val="100000"/>
              <a:buChar char="•"/>
            </a:pPr>
            <a:r>
              <a:rPr lang="en-US" sz="700" dirty="0">
                <a:solidFill>
                  <a:srgbClr val="5C5C5C"/>
                </a:solidFill>
                <a:latin typeface="Calibri" pitchFamily="34" charset="0"/>
                <a:ea typeface="Calibri" pitchFamily="34" charset="-122"/>
                <a:cs typeface="Calibri" pitchFamily="34" charset="-120"/>
              </a:rPr>
              <a:t>Created GenAI-powered underwriting decision support consolidating APS data with guidelines</a:t>
            </a:r>
            <a:endParaRPr lang="en-US" sz="700" dirty="0"/>
          </a:p>
          <a:p>
            <a:pPr marL="342900" indent="-342900">
              <a:buSzPct val="100000"/>
              <a:buChar char="•"/>
            </a:pPr>
            <a:r>
              <a:rPr lang="en-US" sz="700" dirty="0">
                <a:solidFill>
                  <a:srgbClr val="5C5C5C"/>
                </a:solidFill>
                <a:latin typeface="Calibri" pitchFamily="34" charset="0"/>
                <a:ea typeface="Calibri" pitchFamily="34" charset="-122"/>
                <a:cs typeface="Calibri" pitchFamily="34" charset="-120"/>
              </a:rPr>
              <a:t>Human-in-the-loop model: GenAI recommends, underwriters retain final authority</a:t>
            </a:r>
            <a:endParaRPr lang="en-US" sz="700" dirty="0"/>
          </a:p>
          <a:p>
            <a:pPr marL="342900" indent="-342900">
              <a:buSzPct val="100000"/>
              <a:buChar char="•"/>
            </a:pPr>
            <a:r>
              <a:rPr lang="en-US" sz="700" dirty="0">
                <a:solidFill>
                  <a:srgbClr val="5C5C5C"/>
                </a:solidFill>
                <a:latin typeface="Calibri" pitchFamily="34" charset="0"/>
                <a:ea typeface="Calibri" pitchFamily="34" charset="-122"/>
                <a:cs typeface="Calibri" pitchFamily="34" charset="-120"/>
              </a:rPr>
              <a:t>Achieved 92% risk class alignment with underwriter validation</a:t>
            </a:r>
            <a:endParaRPr lang="en-US" sz="700" dirty="0"/>
          </a:p>
        </p:txBody>
      </p:sp>
      <p:sp>
        <p:nvSpPr>
          <p:cNvPr id="14" name="Shape 10"/>
          <p:cNvSpPr/>
          <p:nvPr/>
        </p:nvSpPr>
        <p:spPr>
          <a:xfrm>
            <a:off x="274320" y="2423160"/>
            <a:ext cx="2103120" cy="0"/>
          </a:xfrm>
          <a:prstGeom prst="line">
            <a:avLst/>
          </a:prstGeom>
          <a:noFill/>
          <a:ln w="6350">
            <a:solidFill>
              <a:srgbClr val="CCCCCC"/>
            </a:solidFill>
            <a:prstDash val="solid"/>
          </a:ln>
        </p:spPr>
        <p:txBody>
          <a:bodyPr/>
          <a:lstStyle/>
          <a:p>
            <a:endParaRPr lang="en-IN"/>
          </a:p>
        </p:txBody>
      </p:sp>
      <p:sp>
        <p:nvSpPr>
          <p:cNvPr id="15" name="Text 11"/>
          <p:cNvSpPr/>
          <p:nvPr/>
        </p:nvSpPr>
        <p:spPr>
          <a:xfrm>
            <a:off x="274320" y="2468880"/>
            <a:ext cx="2194560" cy="548640"/>
          </a:xfrm>
          <a:prstGeom prst="rect">
            <a:avLst/>
          </a:prstGeom>
          <a:noFill/>
          <a:ln/>
        </p:spPr>
        <p:txBody>
          <a:bodyPr wrap="square" rtlCol="0" anchor="t"/>
          <a:lstStyle/>
          <a:p>
            <a:pPr marL="342900" indent="-342900">
              <a:buSzPct val="100000"/>
              <a:buChar char="•"/>
            </a:pPr>
            <a:r>
              <a:rPr lang="en-US" sz="700" dirty="0">
                <a:solidFill>
                  <a:srgbClr val="5C5C5C"/>
                </a:solidFill>
                <a:latin typeface="Calibri" pitchFamily="34" charset="0"/>
                <a:ea typeface="Calibri" pitchFamily="34" charset="-122"/>
                <a:cs typeface="Calibri" pitchFamily="34" charset="-120"/>
              </a:rPr>
              <a:t>Leveraged AWS Bedrock Knowledge Base</a:t>
            </a:r>
            <a:endParaRPr lang="en-US" sz="700" dirty="0"/>
          </a:p>
          <a:p>
            <a:pPr marL="342900" indent="-342900">
              <a:buSzPct val="100000"/>
              <a:buChar char="•"/>
            </a:pPr>
            <a:r>
              <a:rPr lang="en-US" sz="700" dirty="0">
                <a:solidFill>
                  <a:srgbClr val="5C5C5C"/>
                </a:solidFill>
                <a:latin typeface="Calibri" pitchFamily="34" charset="0"/>
                <a:ea typeface="Calibri" pitchFamily="34" charset="-122"/>
                <a:cs typeface="Calibri" pitchFamily="34" charset="-120"/>
              </a:rPr>
              <a:t>Integrated APS extraction with rule comparison</a:t>
            </a:r>
            <a:endParaRPr lang="en-US" sz="700" dirty="0"/>
          </a:p>
          <a:p>
            <a:pPr marL="342900" indent="-342900">
              <a:buSzPct val="100000"/>
              <a:buChar char="•"/>
            </a:pPr>
            <a:r>
              <a:rPr lang="en-US" sz="700" dirty="0">
                <a:solidFill>
                  <a:srgbClr val="5C5C5C"/>
                </a:solidFill>
                <a:latin typeface="Calibri" pitchFamily="34" charset="0"/>
                <a:ea typeface="Calibri" pitchFamily="34" charset="-122"/>
                <a:cs typeface="Calibri" pitchFamily="34" charset="-120"/>
              </a:rPr>
              <a:t>Built automated risk bucketing with explainable outputs</a:t>
            </a:r>
            <a:endParaRPr lang="en-US" sz="700" dirty="0"/>
          </a:p>
        </p:txBody>
      </p:sp>
      <p:sp>
        <p:nvSpPr>
          <p:cNvPr id="16" name="Text 12"/>
          <p:cNvSpPr/>
          <p:nvPr/>
        </p:nvSpPr>
        <p:spPr>
          <a:xfrm>
            <a:off x="2560320" y="1417320"/>
            <a:ext cx="1737360" cy="320040"/>
          </a:xfrm>
          <a:prstGeom prst="rect">
            <a:avLst/>
          </a:prstGeom>
          <a:noFill/>
          <a:ln/>
        </p:spPr>
        <p:txBody>
          <a:bodyPr wrap="square" rtlCol="0" anchor="ctr"/>
          <a:lstStyle/>
          <a:p>
            <a:pPr marL="0" indent="0">
              <a:buNone/>
            </a:pPr>
            <a:r>
              <a:rPr lang="en-US" sz="900" b="1" dirty="0">
                <a:solidFill>
                  <a:srgbClr val="2D2D2D"/>
                </a:solidFill>
                <a:latin typeface="Arial" pitchFamily="34" charset="0"/>
                <a:ea typeface="Arial" pitchFamily="34" charset="-122"/>
                <a:cs typeface="Arial" pitchFamily="34" charset="-120"/>
              </a:rPr>
              <a:t>GenAI Reusable</a:t>
            </a:r>
            <a:endParaRPr lang="en-US" sz="900" dirty="0"/>
          </a:p>
          <a:p>
            <a:pPr marL="0" indent="0">
              <a:buNone/>
            </a:pPr>
            <a:r>
              <a:rPr lang="en-US" sz="900" b="1" dirty="0">
                <a:solidFill>
                  <a:srgbClr val="2D2D2D"/>
                </a:solidFill>
                <a:latin typeface="Arial" pitchFamily="34" charset="0"/>
                <a:ea typeface="Arial" pitchFamily="34" charset="-122"/>
                <a:cs typeface="Arial" pitchFamily="34" charset="-120"/>
              </a:rPr>
              <a:t>Infrastructure</a:t>
            </a:r>
            <a:endParaRPr lang="en-US" sz="900" dirty="0"/>
          </a:p>
        </p:txBody>
      </p:sp>
      <p:sp>
        <p:nvSpPr>
          <p:cNvPr id="17" name="Text 13"/>
          <p:cNvSpPr/>
          <p:nvPr/>
        </p:nvSpPr>
        <p:spPr>
          <a:xfrm>
            <a:off x="2560320" y="1764792"/>
            <a:ext cx="1737360" cy="1188720"/>
          </a:xfrm>
          <a:prstGeom prst="rect">
            <a:avLst/>
          </a:prstGeom>
          <a:noFill/>
          <a:ln/>
        </p:spPr>
        <p:txBody>
          <a:bodyPr wrap="square" rtlCol="0" anchor="t"/>
          <a:lstStyle/>
          <a:p>
            <a:pPr marL="0" indent="0">
              <a:buNone/>
            </a:pPr>
            <a:r>
              <a:rPr lang="en-US" sz="650" b="1" dirty="0">
                <a:solidFill>
                  <a:srgbClr val="5C5C5C"/>
                </a:solidFill>
                <a:latin typeface="Calibri" pitchFamily="34" charset="0"/>
                <a:ea typeface="Calibri" pitchFamily="34" charset="-122"/>
                <a:cs typeface="Calibri" pitchFamily="34" charset="-120"/>
              </a:rPr>
              <a:t>AWS Bedrock: </a:t>
            </a:r>
            <a:r>
              <a:rPr lang="en-US" sz="650" dirty="0">
                <a:solidFill>
                  <a:srgbClr val="5C5C5C"/>
                </a:solidFill>
                <a:latin typeface="Calibri" pitchFamily="34" charset="0"/>
                <a:ea typeface="Calibri" pitchFamily="34" charset="-122"/>
                <a:cs typeface="Calibri" pitchFamily="34" charset="-120"/>
              </a:rPr>
              <a:t>Knowledge Base for UW rules</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Data pipelines: </a:t>
            </a:r>
            <a:r>
              <a:rPr lang="en-US" sz="650" dirty="0">
                <a:solidFill>
                  <a:srgbClr val="5C5C5C"/>
                </a:solidFill>
                <a:latin typeface="Calibri" pitchFamily="34" charset="0"/>
                <a:ea typeface="Calibri" pitchFamily="34" charset="-122"/>
                <a:cs typeface="Calibri" pitchFamily="34" charset="-120"/>
              </a:rPr>
              <a:t>S3 storage, extraction</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RAG Framework: </a:t>
            </a:r>
            <a:r>
              <a:rPr lang="en-US" sz="650" dirty="0">
                <a:solidFill>
                  <a:srgbClr val="5C5C5C"/>
                </a:solidFill>
                <a:latin typeface="Calibri" pitchFamily="34" charset="0"/>
                <a:ea typeface="Calibri" pitchFamily="34" charset="-122"/>
                <a:cs typeface="Calibri" pitchFamily="34" charset="-120"/>
              </a:rPr>
              <a:t>Context-aware decisions</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Step Functions: </a:t>
            </a:r>
            <a:r>
              <a:rPr lang="en-US" sz="650" dirty="0">
                <a:solidFill>
                  <a:srgbClr val="5C5C5C"/>
                </a:solidFill>
                <a:latin typeface="Calibri" pitchFamily="34" charset="0"/>
                <a:ea typeface="Calibri" pitchFamily="34" charset="-122"/>
                <a:cs typeface="Calibri" pitchFamily="34" charset="-120"/>
              </a:rPr>
              <a:t>Workflow orchestration</a:t>
            </a:r>
            <a:endParaRPr lang="en-US" sz="650" dirty="0"/>
          </a:p>
        </p:txBody>
      </p:sp>
      <p:sp>
        <p:nvSpPr>
          <p:cNvPr id="18" name="Text 14"/>
          <p:cNvSpPr/>
          <p:nvPr/>
        </p:nvSpPr>
        <p:spPr>
          <a:xfrm>
            <a:off x="4389120" y="1417320"/>
            <a:ext cx="1737360" cy="320040"/>
          </a:xfrm>
          <a:prstGeom prst="rect">
            <a:avLst/>
          </a:prstGeom>
          <a:noFill/>
          <a:ln/>
        </p:spPr>
        <p:txBody>
          <a:bodyPr wrap="square" rtlCol="0" anchor="ctr"/>
          <a:lstStyle/>
          <a:p>
            <a:pPr marL="0" indent="0">
              <a:buNone/>
            </a:pPr>
            <a:r>
              <a:rPr lang="en-US" sz="900" b="1" dirty="0">
                <a:solidFill>
                  <a:srgbClr val="2D2D2D"/>
                </a:solidFill>
                <a:latin typeface="Arial" pitchFamily="34" charset="0"/>
                <a:ea typeface="Arial" pitchFamily="34" charset="-122"/>
                <a:cs typeface="Arial" pitchFamily="34" charset="-120"/>
              </a:rPr>
              <a:t>Human-in-the-Loop</a:t>
            </a:r>
            <a:endParaRPr lang="en-US" sz="900" dirty="0"/>
          </a:p>
          <a:p>
            <a:pPr marL="0" indent="0">
              <a:buNone/>
            </a:pPr>
            <a:r>
              <a:rPr lang="en-US" sz="900" b="1" dirty="0">
                <a:solidFill>
                  <a:srgbClr val="2D2D2D"/>
                </a:solidFill>
                <a:latin typeface="Arial" pitchFamily="34" charset="0"/>
                <a:ea typeface="Arial" pitchFamily="34" charset="-122"/>
                <a:cs typeface="Arial" pitchFamily="34" charset="-120"/>
              </a:rPr>
              <a:t>Decision Support UI</a:t>
            </a:r>
            <a:endParaRPr lang="en-US" sz="900" dirty="0"/>
          </a:p>
        </p:txBody>
      </p:sp>
      <p:sp>
        <p:nvSpPr>
          <p:cNvPr id="19" name="Text 15"/>
          <p:cNvSpPr/>
          <p:nvPr/>
        </p:nvSpPr>
        <p:spPr>
          <a:xfrm>
            <a:off x="4389120" y="1764792"/>
            <a:ext cx="1737360" cy="1188720"/>
          </a:xfrm>
          <a:prstGeom prst="rect">
            <a:avLst/>
          </a:prstGeom>
          <a:noFill/>
          <a:ln/>
        </p:spPr>
        <p:txBody>
          <a:bodyPr wrap="square" rtlCol="0" anchor="t"/>
          <a:lstStyle/>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UW reviews AI-generated classifications</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Explainable recommendations with citations</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Final authority with underwriter SMEs</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Structured format for consistency</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Traceable audit trail</a:t>
            </a:r>
            <a:endParaRPr lang="en-US" sz="650" dirty="0"/>
          </a:p>
        </p:txBody>
      </p:sp>
      <p:sp>
        <p:nvSpPr>
          <p:cNvPr id="20" name="Text 16"/>
          <p:cNvSpPr/>
          <p:nvPr/>
        </p:nvSpPr>
        <p:spPr>
          <a:xfrm>
            <a:off x="6263640" y="1417320"/>
            <a:ext cx="2743200" cy="182880"/>
          </a:xfrm>
          <a:prstGeom prst="rect">
            <a:avLst/>
          </a:prstGeom>
          <a:noFill/>
          <a:ln/>
        </p:spPr>
        <p:txBody>
          <a:bodyPr wrap="square" rtlCol="0" anchor="ctr"/>
          <a:lstStyle/>
          <a:p>
            <a:pPr marL="0" indent="0">
              <a:buNone/>
            </a:pPr>
            <a:r>
              <a:rPr lang="en-US" sz="900" b="1" dirty="0">
                <a:solidFill>
                  <a:srgbClr val="2D2D2D"/>
                </a:solidFill>
                <a:latin typeface="Arial" pitchFamily="34" charset="0"/>
                <a:ea typeface="Arial" pitchFamily="34" charset="-122"/>
                <a:cs typeface="Arial" pitchFamily="34" charset="-120"/>
              </a:rPr>
              <a:t>Key Features and Workflow</a:t>
            </a:r>
            <a:endParaRPr lang="en-US" sz="900" dirty="0"/>
          </a:p>
        </p:txBody>
      </p:sp>
      <p:sp>
        <p:nvSpPr>
          <p:cNvPr id="21" name="Shape 17"/>
          <p:cNvSpPr/>
          <p:nvPr/>
        </p:nvSpPr>
        <p:spPr>
          <a:xfrm>
            <a:off x="6263640" y="1645920"/>
            <a:ext cx="777240" cy="256032"/>
          </a:xfrm>
          <a:prstGeom prst="rect">
            <a:avLst/>
          </a:prstGeom>
          <a:solidFill>
            <a:srgbClr val="D04A02"/>
          </a:solidFill>
          <a:ln/>
        </p:spPr>
        <p:txBody>
          <a:bodyPr/>
          <a:lstStyle/>
          <a:p>
            <a:endParaRPr lang="en-IN"/>
          </a:p>
        </p:txBody>
      </p:sp>
      <p:sp>
        <p:nvSpPr>
          <p:cNvPr id="22" name="Text 18"/>
          <p:cNvSpPr/>
          <p:nvPr/>
        </p:nvSpPr>
        <p:spPr>
          <a:xfrm>
            <a:off x="6263640" y="1645920"/>
            <a:ext cx="777240" cy="256032"/>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Application Upload</a:t>
            </a:r>
            <a:endParaRPr lang="en-US" sz="550" dirty="0"/>
          </a:p>
        </p:txBody>
      </p:sp>
      <p:sp>
        <p:nvSpPr>
          <p:cNvPr id="23" name="Text 19"/>
          <p:cNvSpPr/>
          <p:nvPr/>
        </p:nvSpPr>
        <p:spPr>
          <a:xfrm>
            <a:off x="7086600" y="1645920"/>
            <a:ext cx="1005840" cy="25603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User uploads application form</a:t>
            </a:r>
            <a:endParaRPr lang="en-US" sz="600" dirty="0"/>
          </a:p>
        </p:txBody>
      </p:sp>
      <p:sp>
        <p:nvSpPr>
          <p:cNvPr id="24" name="Shape 20"/>
          <p:cNvSpPr/>
          <p:nvPr/>
        </p:nvSpPr>
        <p:spPr>
          <a:xfrm>
            <a:off x="6263640" y="1938528"/>
            <a:ext cx="777240" cy="256032"/>
          </a:xfrm>
          <a:prstGeom prst="rect">
            <a:avLst/>
          </a:prstGeom>
          <a:solidFill>
            <a:srgbClr val="D04A02"/>
          </a:solidFill>
          <a:ln/>
        </p:spPr>
        <p:txBody>
          <a:bodyPr/>
          <a:lstStyle/>
          <a:p>
            <a:endParaRPr lang="en-IN"/>
          </a:p>
        </p:txBody>
      </p:sp>
      <p:sp>
        <p:nvSpPr>
          <p:cNvPr id="25" name="Text 21"/>
          <p:cNvSpPr/>
          <p:nvPr/>
        </p:nvSpPr>
        <p:spPr>
          <a:xfrm>
            <a:off x="6263640" y="1938528"/>
            <a:ext cx="777240" cy="256032"/>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Data Extraction</a:t>
            </a:r>
            <a:endParaRPr lang="en-US" sz="550" dirty="0"/>
          </a:p>
        </p:txBody>
      </p:sp>
      <p:sp>
        <p:nvSpPr>
          <p:cNvPr id="26" name="Text 22"/>
          <p:cNvSpPr/>
          <p:nvPr/>
        </p:nvSpPr>
        <p:spPr>
          <a:xfrm>
            <a:off x="7086600" y="1938528"/>
            <a:ext cx="1005840" cy="25603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Extract medical history, conditions</a:t>
            </a:r>
            <a:endParaRPr lang="en-US" sz="600" dirty="0"/>
          </a:p>
        </p:txBody>
      </p:sp>
      <p:sp>
        <p:nvSpPr>
          <p:cNvPr id="27" name="Shape 23"/>
          <p:cNvSpPr/>
          <p:nvPr/>
        </p:nvSpPr>
        <p:spPr>
          <a:xfrm>
            <a:off x="6263640" y="2231136"/>
            <a:ext cx="777240" cy="256032"/>
          </a:xfrm>
          <a:prstGeom prst="rect">
            <a:avLst/>
          </a:prstGeom>
          <a:solidFill>
            <a:srgbClr val="D04A02"/>
          </a:solidFill>
          <a:ln/>
        </p:spPr>
        <p:txBody>
          <a:bodyPr/>
          <a:lstStyle/>
          <a:p>
            <a:endParaRPr lang="en-IN"/>
          </a:p>
        </p:txBody>
      </p:sp>
      <p:sp>
        <p:nvSpPr>
          <p:cNvPr id="28" name="Text 24"/>
          <p:cNvSpPr/>
          <p:nvPr/>
        </p:nvSpPr>
        <p:spPr>
          <a:xfrm>
            <a:off x="6263640" y="2231136"/>
            <a:ext cx="777240" cy="256032"/>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Rule Comparison</a:t>
            </a:r>
            <a:endParaRPr lang="en-US" sz="550" dirty="0"/>
          </a:p>
        </p:txBody>
      </p:sp>
      <p:sp>
        <p:nvSpPr>
          <p:cNvPr id="29" name="Text 25"/>
          <p:cNvSpPr/>
          <p:nvPr/>
        </p:nvSpPr>
        <p:spPr>
          <a:xfrm>
            <a:off x="7086600" y="2231136"/>
            <a:ext cx="1005840" cy="25603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Compare against predefined UW rules</a:t>
            </a:r>
            <a:endParaRPr lang="en-US" sz="600" dirty="0"/>
          </a:p>
        </p:txBody>
      </p:sp>
      <p:sp>
        <p:nvSpPr>
          <p:cNvPr id="30" name="Shape 26"/>
          <p:cNvSpPr/>
          <p:nvPr/>
        </p:nvSpPr>
        <p:spPr>
          <a:xfrm>
            <a:off x="6263640" y="2523744"/>
            <a:ext cx="777240" cy="256032"/>
          </a:xfrm>
          <a:prstGeom prst="rect">
            <a:avLst/>
          </a:prstGeom>
          <a:solidFill>
            <a:srgbClr val="D04A02"/>
          </a:solidFill>
          <a:ln/>
        </p:spPr>
        <p:txBody>
          <a:bodyPr/>
          <a:lstStyle/>
          <a:p>
            <a:endParaRPr lang="en-IN"/>
          </a:p>
        </p:txBody>
      </p:sp>
      <p:sp>
        <p:nvSpPr>
          <p:cNvPr id="31" name="Text 27"/>
          <p:cNvSpPr/>
          <p:nvPr/>
        </p:nvSpPr>
        <p:spPr>
          <a:xfrm>
            <a:off x="6263640" y="2523744"/>
            <a:ext cx="777240" cy="256032"/>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Risk Bucketing</a:t>
            </a:r>
            <a:endParaRPr lang="en-US" sz="550" dirty="0"/>
          </a:p>
        </p:txBody>
      </p:sp>
      <p:sp>
        <p:nvSpPr>
          <p:cNvPr id="32" name="Text 28"/>
          <p:cNvSpPr/>
          <p:nvPr/>
        </p:nvSpPr>
        <p:spPr>
          <a:xfrm>
            <a:off x="7086600" y="2523744"/>
            <a:ext cx="1005840" cy="25603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Classify into risk categories</a:t>
            </a:r>
            <a:endParaRPr lang="en-US" sz="600" dirty="0"/>
          </a:p>
        </p:txBody>
      </p:sp>
      <p:sp>
        <p:nvSpPr>
          <p:cNvPr id="33" name="Shape 29"/>
          <p:cNvSpPr/>
          <p:nvPr/>
        </p:nvSpPr>
        <p:spPr>
          <a:xfrm>
            <a:off x="6263640" y="2816352"/>
            <a:ext cx="777240" cy="256032"/>
          </a:xfrm>
          <a:prstGeom prst="rect">
            <a:avLst/>
          </a:prstGeom>
          <a:solidFill>
            <a:srgbClr val="D04A02"/>
          </a:solidFill>
          <a:ln/>
        </p:spPr>
        <p:txBody>
          <a:bodyPr/>
          <a:lstStyle/>
          <a:p>
            <a:endParaRPr lang="en-IN"/>
          </a:p>
        </p:txBody>
      </p:sp>
      <p:sp>
        <p:nvSpPr>
          <p:cNvPr id="34" name="Text 30"/>
          <p:cNvSpPr/>
          <p:nvPr/>
        </p:nvSpPr>
        <p:spPr>
          <a:xfrm>
            <a:off x="6263640" y="2816352"/>
            <a:ext cx="777240" cy="256032"/>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UW Review</a:t>
            </a:r>
            <a:endParaRPr lang="en-US" sz="550" dirty="0"/>
          </a:p>
        </p:txBody>
      </p:sp>
      <p:sp>
        <p:nvSpPr>
          <p:cNvPr id="35" name="Text 31"/>
          <p:cNvSpPr/>
          <p:nvPr/>
        </p:nvSpPr>
        <p:spPr>
          <a:xfrm>
            <a:off x="7086600" y="2816352"/>
            <a:ext cx="1005840" cy="25603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Underwriter validates decision</a:t>
            </a:r>
            <a:endParaRPr lang="en-US" sz="600" dirty="0"/>
          </a:p>
        </p:txBody>
      </p:sp>
      <p:sp>
        <p:nvSpPr>
          <p:cNvPr id="36" name="Text 32"/>
          <p:cNvSpPr/>
          <p:nvPr/>
        </p:nvSpPr>
        <p:spPr>
          <a:xfrm>
            <a:off x="6263640" y="3154680"/>
            <a:ext cx="2743200" cy="164592"/>
          </a:xfrm>
          <a:prstGeom prst="rect">
            <a:avLst/>
          </a:prstGeom>
          <a:noFill/>
          <a:ln/>
        </p:spPr>
        <p:txBody>
          <a:bodyPr wrap="square" rtlCol="0" anchor="ctr"/>
          <a:lstStyle/>
          <a:p>
            <a:pPr marL="0" indent="0">
              <a:buNone/>
            </a:pPr>
            <a:r>
              <a:rPr lang="en-US" sz="700" b="1" dirty="0">
                <a:solidFill>
                  <a:srgbClr val="D04A02"/>
                </a:solidFill>
                <a:latin typeface="Arial" pitchFamily="34" charset="0"/>
                <a:ea typeface="Arial" pitchFamily="34" charset="-122"/>
                <a:cs typeface="Arial" pitchFamily="34" charset="-120"/>
              </a:rPr>
              <a:t>Knowledge Base Sources</a:t>
            </a:r>
            <a:endParaRPr lang="en-US" sz="700" dirty="0"/>
          </a:p>
        </p:txBody>
      </p:sp>
      <p:pic>
        <p:nvPicPr>
          <p:cNvPr id="37" name="Image 2" descr="preencoded.png"/>
          <p:cNvPicPr>
            <a:picLocks noChangeAspect="1"/>
          </p:cNvPicPr>
          <p:nvPr/>
        </p:nvPicPr>
        <p:blipFill>
          <a:blip r:embed="rId5"/>
          <a:stretch>
            <a:fillRect/>
          </a:stretch>
        </p:blipFill>
        <p:spPr>
          <a:xfrm>
            <a:off x="6263640" y="3337560"/>
            <a:ext cx="109728" cy="109728"/>
          </a:xfrm>
          <a:prstGeom prst="rect">
            <a:avLst/>
          </a:prstGeom>
        </p:spPr>
      </p:pic>
      <p:sp>
        <p:nvSpPr>
          <p:cNvPr id="38" name="Text 33"/>
          <p:cNvSpPr/>
          <p:nvPr/>
        </p:nvSpPr>
        <p:spPr>
          <a:xfrm>
            <a:off x="6400800" y="3337560"/>
            <a:ext cx="1371600" cy="128016"/>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UW Guidelines</a:t>
            </a:r>
            <a:endParaRPr lang="en-US" sz="600" dirty="0"/>
          </a:p>
        </p:txBody>
      </p:sp>
      <p:pic>
        <p:nvPicPr>
          <p:cNvPr id="39" name="Image 3" descr="preencoded.png"/>
          <p:cNvPicPr>
            <a:picLocks noChangeAspect="1"/>
          </p:cNvPicPr>
          <p:nvPr/>
        </p:nvPicPr>
        <p:blipFill>
          <a:blip r:embed="rId5"/>
          <a:stretch>
            <a:fillRect/>
          </a:stretch>
        </p:blipFill>
        <p:spPr>
          <a:xfrm>
            <a:off x="6263640" y="3493008"/>
            <a:ext cx="109728" cy="109728"/>
          </a:xfrm>
          <a:prstGeom prst="rect">
            <a:avLst/>
          </a:prstGeom>
        </p:spPr>
      </p:pic>
      <p:sp>
        <p:nvSpPr>
          <p:cNvPr id="40" name="Text 34"/>
          <p:cNvSpPr/>
          <p:nvPr/>
        </p:nvSpPr>
        <p:spPr>
          <a:xfrm>
            <a:off x="6400800" y="3493008"/>
            <a:ext cx="1371600" cy="128016"/>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Risk Rules</a:t>
            </a:r>
            <a:endParaRPr lang="en-US" sz="600" dirty="0"/>
          </a:p>
        </p:txBody>
      </p:sp>
      <p:pic>
        <p:nvPicPr>
          <p:cNvPr id="41" name="Image 4" descr="preencoded.png"/>
          <p:cNvPicPr>
            <a:picLocks noChangeAspect="1"/>
          </p:cNvPicPr>
          <p:nvPr/>
        </p:nvPicPr>
        <p:blipFill>
          <a:blip r:embed="rId5"/>
          <a:stretch>
            <a:fillRect/>
          </a:stretch>
        </p:blipFill>
        <p:spPr>
          <a:xfrm>
            <a:off x="6263640" y="3648456"/>
            <a:ext cx="109728" cy="109728"/>
          </a:xfrm>
          <a:prstGeom prst="rect">
            <a:avLst/>
          </a:prstGeom>
        </p:spPr>
      </p:pic>
      <p:sp>
        <p:nvSpPr>
          <p:cNvPr id="42" name="Text 35"/>
          <p:cNvSpPr/>
          <p:nvPr/>
        </p:nvSpPr>
        <p:spPr>
          <a:xfrm>
            <a:off x="6400800" y="3648456"/>
            <a:ext cx="1371600" cy="128016"/>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Medical Tables</a:t>
            </a:r>
            <a:endParaRPr lang="en-US" sz="600" dirty="0"/>
          </a:p>
        </p:txBody>
      </p:sp>
      <p:pic>
        <p:nvPicPr>
          <p:cNvPr id="43" name="Image 5" descr="preencoded.png"/>
          <p:cNvPicPr>
            <a:picLocks noChangeAspect="1"/>
          </p:cNvPicPr>
          <p:nvPr/>
        </p:nvPicPr>
        <p:blipFill>
          <a:blip r:embed="rId5"/>
          <a:stretch>
            <a:fillRect/>
          </a:stretch>
        </p:blipFill>
        <p:spPr>
          <a:xfrm>
            <a:off x="6263640" y="3803904"/>
            <a:ext cx="109728" cy="109728"/>
          </a:xfrm>
          <a:prstGeom prst="rect">
            <a:avLst/>
          </a:prstGeom>
        </p:spPr>
      </p:pic>
      <p:sp>
        <p:nvSpPr>
          <p:cNvPr id="44" name="Text 36"/>
          <p:cNvSpPr/>
          <p:nvPr/>
        </p:nvSpPr>
        <p:spPr>
          <a:xfrm>
            <a:off x="6400800" y="3803904"/>
            <a:ext cx="1371600" cy="128016"/>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APS Standards</a:t>
            </a:r>
            <a:endParaRPr lang="en-US" sz="600" dirty="0"/>
          </a:p>
        </p:txBody>
      </p:sp>
      <p:sp>
        <p:nvSpPr>
          <p:cNvPr id="45" name="Shape 37"/>
          <p:cNvSpPr/>
          <p:nvPr/>
        </p:nvSpPr>
        <p:spPr>
          <a:xfrm>
            <a:off x="274320" y="3246120"/>
            <a:ext cx="2194560" cy="201168"/>
          </a:xfrm>
          <a:prstGeom prst="rect">
            <a:avLst/>
          </a:prstGeom>
          <a:solidFill>
            <a:srgbClr val="E8713A"/>
          </a:solidFill>
          <a:ln/>
        </p:spPr>
        <p:txBody>
          <a:bodyPr/>
          <a:lstStyle/>
          <a:p>
            <a:endParaRPr lang="en-IN"/>
          </a:p>
        </p:txBody>
      </p:sp>
      <p:sp>
        <p:nvSpPr>
          <p:cNvPr id="46" name="Text 38"/>
          <p:cNvSpPr/>
          <p:nvPr/>
        </p:nvSpPr>
        <p:spPr>
          <a:xfrm>
            <a:off x="320040" y="3246120"/>
            <a:ext cx="2103120" cy="201168"/>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Qualitative Impact</a:t>
            </a:r>
            <a:endParaRPr lang="en-US" sz="800" dirty="0"/>
          </a:p>
        </p:txBody>
      </p:sp>
      <p:sp>
        <p:nvSpPr>
          <p:cNvPr id="47" name="Text 39"/>
          <p:cNvSpPr/>
          <p:nvPr/>
        </p:nvSpPr>
        <p:spPr>
          <a:xfrm>
            <a:off x="274320" y="3474720"/>
            <a:ext cx="2194560" cy="640080"/>
          </a:xfrm>
          <a:prstGeom prst="rect">
            <a:avLst/>
          </a:prstGeom>
          <a:noFill/>
          <a:ln/>
        </p:spPr>
        <p:txBody>
          <a:bodyPr wrap="square" rtlCol="0" anchor="t"/>
          <a:lstStyle/>
          <a:p>
            <a:pPr marL="0" indent="0">
              <a:buNone/>
            </a:pPr>
            <a:r>
              <a:rPr lang="en-US" sz="650" b="1" dirty="0">
                <a:solidFill>
                  <a:srgbClr val="5C5C5C"/>
                </a:solidFill>
                <a:latin typeface="Calibri" pitchFamily="34" charset="0"/>
                <a:ea typeface="Calibri" pitchFamily="34" charset="-122"/>
                <a:cs typeface="Calibri" pitchFamily="34" charset="-120"/>
              </a:rPr>
              <a:t>Preparedness: </a:t>
            </a:r>
            <a:r>
              <a:rPr lang="en-US" sz="650" dirty="0">
                <a:solidFill>
                  <a:srgbClr val="5C5C5C"/>
                </a:solidFill>
                <a:latin typeface="Calibri" pitchFamily="34" charset="0"/>
                <a:ea typeface="Calibri" pitchFamily="34" charset="-122"/>
                <a:cs typeface="Calibri" pitchFamily="34" charset="-120"/>
              </a:rPr>
              <a:t>Repeatable evaluations for consistency</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Risk control: </a:t>
            </a:r>
            <a:r>
              <a:rPr lang="en-US" sz="650" dirty="0">
                <a:solidFill>
                  <a:srgbClr val="5C5C5C"/>
                </a:solidFill>
                <a:latin typeface="Calibri" pitchFamily="34" charset="0"/>
                <a:ea typeface="Calibri" pitchFamily="34" charset="-122"/>
                <a:cs typeface="Calibri" pitchFamily="34" charset="-120"/>
              </a:rPr>
              <a:t>Structured outputs for compliance</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Scalability: </a:t>
            </a:r>
            <a:r>
              <a:rPr lang="en-US" sz="650" dirty="0">
                <a:solidFill>
                  <a:srgbClr val="5C5C5C"/>
                </a:solidFill>
                <a:latin typeface="Calibri" pitchFamily="34" charset="0"/>
                <a:ea typeface="Calibri" pitchFamily="34" charset="-122"/>
                <a:cs typeface="Calibri" pitchFamily="34" charset="-120"/>
              </a:rPr>
              <a:t>Foundation for future GenAI use cases</a:t>
            </a:r>
            <a:endParaRPr lang="en-US" sz="650" dirty="0"/>
          </a:p>
        </p:txBody>
      </p:sp>
      <p:sp>
        <p:nvSpPr>
          <p:cNvPr id="48" name="Shape 40"/>
          <p:cNvSpPr/>
          <p:nvPr/>
        </p:nvSpPr>
        <p:spPr>
          <a:xfrm>
            <a:off x="2560320" y="3246120"/>
            <a:ext cx="1005840" cy="201168"/>
          </a:xfrm>
          <a:prstGeom prst="rect">
            <a:avLst/>
          </a:prstGeom>
          <a:solidFill>
            <a:srgbClr val="E8713A"/>
          </a:solidFill>
          <a:ln/>
        </p:spPr>
        <p:txBody>
          <a:bodyPr/>
          <a:lstStyle/>
          <a:p>
            <a:endParaRPr lang="en-IN"/>
          </a:p>
        </p:txBody>
      </p:sp>
      <p:sp>
        <p:nvSpPr>
          <p:cNvPr id="49" name="Text 41"/>
          <p:cNvSpPr/>
          <p:nvPr/>
        </p:nvSpPr>
        <p:spPr>
          <a:xfrm>
            <a:off x="2606040" y="3246120"/>
            <a:ext cx="914400" cy="201168"/>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By the Numbers</a:t>
            </a:r>
            <a:endParaRPr lang="en-US" sz="800" dirty="0"/>
          </a:p>
        </p:txBody>
      </p:sp>
      <p:sp>
        <p:nvSpPr>
          <p:cNvPr id="50" name="Shape 42"/>
          <p:cNvSpPr/>
          <p:nvPr/>
        </p:nvSpPr>
        <p:spPr>
          <a:xfrm>
            <a:off x="2560320" y="3520440"/>
            <a:ext cx="868680" cy="1051560"/>
          </a:xfrm>
          <a:prstGeom prst="rect">
            <a:avLst/>
          </a:prstGeom>
          <a:solidFill>
            <a:srgbClr val="2E8B57"/>
          </a:solidFill>
          <a:ln/>
        </p:spPr>
        <p:txBody>
          <a:bodyPr/>
          <a:lstStyle/>
          <a:p>
            <a:endParaRPr lang="en-IN"/>
          </a:p>
        </p:txBody>
      </p:sp>
      <p:sp>
        <p:nvSpPr>
          <p:cNvPr id="51" name="Text 43"/>
          <p:cNvSpPr/>
          <p:nvPr/>
        </p:nvSpPr>
        <p:spPr>
          <a:xfrm>
            <a:off x="2560320" y="3584448"/>
            <a:ext cx="868680" cy="32004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92%</a:t>
            </a:r>
            <a:endParaRPr lang="en-US" sz="1400" dirty="0"/>
          </a:p>
        </p:txBody>
      </p:sp>
      <p:sp>
        <p:nvSpPr>
          <p:cNvPr id="52" name="Text 44"/>
          <p:cNvSpPr/>
          <p:nvPr/>
        </p:nvSpPr>
        <p:spPr>
          <a:xfrm>
            <a:off x="2606040" y="3913632"/>
            <a:ext cx="777240" cy="594360"/>
          </a:xfrm>
          <a:prstGeom prst="rect">
            <a:avLst/>
          </a:prstGeom>
          <a:noFill/>
          <a:ln/>
        </p:spPr>
        <p:txBody>
          <a:bodyPr wrap="square" rtlCol="0" anchor="t"/>
          <a:lstStyle/>
          <a:p>
            <a:pPr marL="0" indent="0" algn="ctr">
              <a:buNone/>
            </a:pPr>
            <a:r>
              <a:rPr lang="en-US" sz="600" dirty="0">
                <a:solidFill>
                  <a:srgbClr val="FFFFFF"/>
                </a:solidFill>
                <a:latin typeface="Calibri" pitchFamily="34" charset="0"/>
                <a:ea typeface="Calibri" pitchFamily="34" charset="-122"/>
                <a:cs typeface="Calibri" pitchFamily="34" charset="-120"/>
              </a:rPr>
              <a:t>risk class</a:t>
            </a:r>
            <a:endParaRPr lang="en-US" sz="600" dirty="0"/>
          </a:p>
          <a:p>
            <a:pPr marL="0" indent="0" algn="ctr">
              <a:buNone/>
            </a:pPr>
            <a:r>
              <a:rPr lang="en-US" sz="600" dirty="0">
                <a:solidFill>
                  <a:srgbClr val="FFFFFF"/>
                </a:solidFill>
                <a:latin typeface="Calibri" pitchFamily="34" charset="0"/>
                <a:ea typeface="Calibri" pitchFamily="34" charset="-122"/>
                <a:cs typeface="Calibri" pitchFamily="34" charset="-120"/>
              </a:rPr>
              <a:t>alignment</a:t>
            </a:r>
            <a:endParaRPr lang="en-US" sz="600" dirty="0"/>
          </a:p>
        </p:txBody>
      </p:sp>
      <p:sp>
        <p:nvSpPr>
          <p:cNvPr id="53" name="Shape 45"/>
          <p:cNvSpPr/>
          <p:nvPr/>
        </p:nvSpPr>
        <p:spPr>
          <a:xfrm>
            <a:off x="3474720" y="3520440"/>
            <a:ext cx="868680" cy="1051560"/>
          </a:xfrm>
          <a:prstGeom prst="rect">
            <a:avLst/>
          </a:prstGeom>
          <a:solidFill>
            <a:srgbClr val="2E8B57"/>
          </a:solidFill>
          <a:ln/>
        </p:spPr>
        <p:txBody>
          <a:bodyPr/>
          <a:lstStyle/>
          <a:p>
            <a:endParaRPr lang="en-IN"/>
          </a:p>
        </p:txBody>
      </p:sp>
      <p:sp>
        <p:nvSpPr>
          <p:cNvPr id="54" name="Text 46"/>
          <p:cNvSpPr/>
          <p:nvPr/>
        </p:nvSpPr>
        <p:spPr>
          <a:xfrm>
            <a:off x="3474720" y="3584448"/>
            <a:ext cx="868680" cy="32004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40-80%</a:t>
            </a:r>
            <a:endParaRPr lang="en-US" sz="1400" dirty="0"/>
          </a:p>
        </p:txBody>
      </p:sp>
      <p:sp>
        <p:nvSpPr>
          <p:cNvPr id="55" name="Text 47"/>
          <p:cNvSpPr/>
          <p:nvPr/>
        </p:nvSpPr>
        <p:spPr>
          <a:xfrm>
            <a:off x="3520440" y="3913632"/>
            <a:ext cx="777240" cy="594360"/>
          </a:xfrm>
          <a:prstGeom prst="rect">
            <a:avLst/>
          </a:prstGeom>
          <a:noFill/>
          <a:ln/>
        </p:spPr>
        <p:txBody>
          <a:bodyPr wrap="square" rtlCol="0" anchor="t"/>
          <a:lstStyle/>
          <a:p>
            <a:pPr marL="0" indent="0" algn="ctr">
              <a:buNone/>
            </a:pPr>
            <a:r>
              <a:rPr lang="en-US" sz="600" dirty="0">
                <a:solidFill>
                  <a:srgbClr val="FFFFFF"/>
                </a:solidFill>
                <a:latin typeface="Calibri" pitchFamily="34" charset="0"/>
                <a:ea typeface="Calibri" pitchFamily="34" charset="-122"/>
                <a:cs typeface="Calibri" pitchFamily="34" charset="-120"/>
              </a:rPr>
              <a:t>time</a:t>
            </a:r>
            <a:endParaRPr lang="en-US" sz="600" dirty="0"/>
          </a:p>
          <a:p>
            <a:pPr marL="0" indent="0" algn="ctr">
              <a:buNone/>
            </a:pPr>
            <a:r>
              <a:rPr lang="en-US" sz="600" dirty="0">
                <a:solidFill>
                  <a:srgbClr val="FFFFFF"/>
                </a:solidFill>
                <a:latin typeface="Calibri" pitchFamily="34" charset="0"/>
                <a:ea typeface="Calibri" pitchFamily="34" charset="-122"/>
                <a:cs typeface="Calibri" pitchFamily="34" charset="-120"/>
              </a:rPr>
              <a:t>reduction</a:t>
            </a:r>
            <a:endParaRPr lang="en-US" sz="600" dirty="0"/>
          </a:p>
        </p:txBody>
      </p:sp>
      <p:sp>
        <p:nvSpPr>
          <p:cNvPr id="56" name="Shape 48"/>
          <p:cNvSpPr/>
          <p:nvPr/>
        </p:nvSpPr>
        <p:spPr>
          <a:xfrm>
            <a:off x="4389120" y="3520440"/>
            <a:ext cx="868680" cy="1051560"/>
          </a:xfrm>
          <a:prstGeom prst="rect">
            <a:avLst/>
          </a:prstGeom>
          <a:solidFill>
            <a:srgbClr val="2E8B57"/>
          </a:solidFill>
          <a:ln/>
        </p:spPr>
        <p:txBody>
          <a:bodyPr/>
          <a:lstStyle/>
          <a:p>
            <a:endParaRPr lang="en-IN"/>
          </a:p>
        </p:txBody>
      </p:sp>
      <p:sp>
        <p:nvSpPr>
          <p:cNvPr id="57" name="Text 49"/>
          <p:cNvSpPr/>
          <p:nvPr/>
        </p:nvSpPr>
        <p:spPr>
          <a:xfrm>
            <a:off x="4389120" y="3584448"/>
            <a:ext cx="868680" cy="32004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2x</a:t>
            </a:r>
            <a:endParaRPr lang="en-US" sz="1400" dirty="0"/>
          </a:p>
        </p:txBody>
      </p:sp>
      <p:sp>
        <p:nvSpPr>
          <p:cNvPr id="58" name="Text 50"/>
          <p:cNvSpPr/>
          <p:nvPr/>
        </p:nvSpPr>
        <p:spPr>
          <a:xfrm>
            <a:off x="4434840" y="3913632"/>
            <a:ext cx="777240" cy="594360"/>
          </a:xfrm>
          <a:prstGeom prst="rect">
            <a:avLst/>
          </a:prstGeom>
          <a:noFill/>
          <a:ln/>
        </p:spPr>
        <p:txBody>
          <a:bodyPr wrap="square" rtlCol="0" anchor="t"/>
          <a:lstStyle/>
          <a:p>
            <a:pPr marL="0" indent="0" algn="ctr">
              <a:buNone/>
            </a:pPr>
            <a:r>
              <a:rPr lang="en-US" sz="600" dirty="0">
                <a:solidFill>
                  <a:srgbClr val="FFFFFF"/>
                </a:solidFill>
                <a:latin typeface="Calibri" pitchFamily="34" charset="0"/>
                <a:ea typeface="Calibri" pitchFamily="34" charset="-122"/>
                <a:cs typeface="Calibri" pitchFamily="34" charset="-120"/>
              </a:rPr>
              <a:t>review</a:t>
            </a:r>
            <a:endParaRPr lang="en-US" sz="600" dirty="0"/>
          </a:p>
          <a:p>
            <a:pPr marL="0" indent="0" algn="ctr">
              <a:buNone/>
            </a:pPr>
            <a:r>
              <a:rPr lang="en-US" sz="600" dirty="0">
                <a:solidFill>
                  <a:srgbClr val="FFFFFF"/>
                </a:solidFill>
                <a:latin typeface="Calibri" pitchFamily="34" charset="0"/>
                <a:ea typeface="Calibri" pitchFamily="34" charset="-122"/>
                <a:cs typeface="Calibri" pitchFamily="34" charset="-120"/>
              </a:rPr>
              <a:t>capacity</a:t>
            </a:r>
            <a:endParaRPr lang="en-US" sz="600" dirty="0"/>
          </a:p>
        </p:txBody>
      </p:sp>
      <p:sp>
        <p:nvSpPr>
          <p:cNvPr id="59" name="Shape 51"/>
          <p:cNvSpPr/>
          <p:nvPr/>
        </p:nvSpPr>
        <p:spPr>
          <a:xfrm>
            <a:off x="5303520" y="3520440"/>
            <a:ext cx="868680" cy="1051560"/>
          </a:xfrm>
          <a:prstGeom prst="rect">
            <a:avLst/>
          </a:prstGeom>
          <a:solidFill>
            <a:srgbClr val="2E8B57"/>
          </a:solidFill>
          <a:ln/>
        </p:spPr>
        <p:txBody>
          <a:bodyPr/>
          <a:lstStyle/>
          <a:p>
            <a:endParaRPr lang="en-IN"/>
          </a:p>
        </p:txBody>
      </p:sp>
      <p:sp>
        <p:nvSpPr>
          <p:cNvPr id="60" name="Text 52"/>
          <p:cNvSpPr/>
          <p:nvPr/>
        </p:nvSpPr>
        <p:spPr>
          <a:xfrm>
            <a:off x="5303520" y="3584448"/>
            <a:ext cx="868680" cy="32004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10wks</a:t>
            </a:r>
            <a:endParaRPr lang="en-US" sz="1400" dirty="0"/>
          </a:p>
        </p:txBody>
      </p:sp>
      <p:sp>
        <p:nvSpPr>
          <p:cNvPr id="61" name="Text 53"/>
          <p:cNvSpPr/>
          <p:nvPr/>
        </p:nvSpPr>
        <p:spPr>
          <a:xfrm>
            <a:off x="5349240" y="3913632"/>
            <a:ext cx="777240" cy="594360"/>
          </a:xfrm>
          <a:prstGeom prst="rect">
            <a:avLst/>
          </a:prstGeom>
          <a:noFill/>
          <a:ln/>
        </p:spPr>
        <p:txBody>
          <a:bodyPr wrap="square" rtlCol="0" anchor="t"/>
          <a:lstStyle/>
          <a:p>
            <a:pPr marL="0" indent="0" algn="ctr">
              <a:buNone/>
            </a:pPr>
            <a:r>
              <a:rPr lang="en-US" sz="600" dirty="0">
                <a:solidFill>
                  <a:srgbClr val="FFFFFF"/>
                </a:solidFill>
                <a:latin typeface="Calibri" pitchFamily="34" charset="0"/>
                <a:ea typeface="Calibri" pitchFamily="34" charset="-122"/>
                <a:cs typeface="Calibri" pitchFamily="34" charset="-120"/>
              </a:rPr>
              <a:t>concept to</a:t>
            </a:r>
            <a:endParaRPr lang="en-US" sz="600" dirty="0"/>
          </a:p>
          <a:p>
            <a:pPr marL="0" indent="0" algn="ctr">
              <a:buNone/>
            </a:pPr>
            <a:r>
              <a:rPr lang="en-US" sz="600" dirty="0">
                <a:solidFill>
                  <a:srgbClr val="FFFFFF"/>
                </a:solidFill>
                <a:latin typeface="Calibri" pitchFamily="34" charset="0"/>
                <a:ea typeface="Calibri" pitchFamily="34" charset="-122"/>
                <a:cs typeface="Calibri" pitchFamily="34" charset="-120"/>
              </a:rPr>
              <a:t>validation</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65760"/>
            <a:ext cx="731520" cy="320040"/>
          </a:xfrm>
          <a:prstGeom prst="rect">
            <a:avLst/>
          </a:prstGeom>
          <a:solidFill>
            <a:srgbClr val="D04A02"/>
          </a:solidFill>
          <a:ln/>
        </p:spPr>
        <p:txBody>
          <a:bodyPr/>
          <a:lstStyle/>
          <a:p>
            <a:endParaRPr lang="en-IN"/>
          </a:p>
        </p:txBody>
      </p:sp>
      <p:sp>
        <p:nvSpPr>
          <p:cNvPr id="3" name="Text 1"/>
          <p:cNvSpPr/>
          <p:nvPr/>
        </p:nvSpPr>
        <p:spPr>
          <a:xfrm>
            <a:off x="457200" y="365760"/>
            <a:ext cx="731520" cy="32004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pwc</a:t>
            </a:r>
            <a:endParaRPr lang="en-US" sz="1400" dirty="0"/>
          </a:p>
        </p:txBody>
      </p:sp>
      <p:sp>
        <p:nvSpPr>
          <p:cNvPr id="4" name="Text 2"/>
          <p:cNvSpPr/>
          <p:nvPr/>
        </p:nvSpPr>
        <p:spPr>
          <a:xfrm>
            <a:off x="1371600" y="365760"/>
            <a:ext cx="1828800" cy="320040"/>
          </a:xfrm>
          <a:prstGeom prst="rect">
            <a:avLst/>
          </a:prstGeom>
          <a:noFill/>
          <a:ln/>
        </p:spPr>
        <p:txBody>
          <a:bodyPr wrap="square" rtlCol="0" anchor="ctr"/>
          <a:lstStyle/>
          <a:p>
            <a:pPr marL="0" indent="0">
              <a:buNone/>
            </a:pPr>
            <a:r>
              <a:rPr lang="en-US" sz="2000" b="1" dirty="0">
                <a:solidFill>
                  <a:srgbClr val="2D2D2D"/>
                </a:solidFill>
                <a:latin typeface="Georgia" pitchFamily="34" charset="0"/>
                <a:ea typeface="Georgia" pitchFamily="34" charset="-122"/>
                <a:cs typeface="Georgia" pitchFamily="34" charset="-120"/>
              </a:rPr>
              <a:t>Surge 1 Qual</a:t>
            </a:r>
            <a:endParaRPr lang="en-US" sz="2000" dirty="0"/>
          </a:p>
        </p:txBody>
      </p:sp>
      <p:sp>
        <p:nvSpPr>
          <p:cNvPr id="5" name="Text 3"/>
          <p:cNvSpPr/>
          <p:nvPr/>
        </p:nvSpPr>
        <p:spPr>
          <a:xfrm>
            <a:off x="457200" y="1371600"/>
            <a:ext cx="8229600" cy="640080"/>
          </a:xfrm>
          <a:prstGeom prst="rect">
            <a:avLst/>
          </a:prstGeom>
          <a:noFill/>
          <a:ln/>
        </p:spPr>
        <p:txBody>
          <a:bodyPr wrap="square" rtlCol="0" anchor="ctr"/>
          <a:lstStyle/>
          <a:p>
            <a:pPr marL="0" indent="0">
              <a:buNone/>
            </a:pPr>
            <a:r>
              <a:rPr lang="en-US" sz="3600" b="1" dirty="0">
                <a:solidFill>
                  <a:srgbClr val="2D2D2D"/>
                </a:solidFill>
                <a:latin typeface="Georgia" pitchFamily="34" charset="0"/>
                <a:ea typeface="Georgia" pitchFamily="34" charset="-122"/>
                <a:cs typeface="Georgia" pitchFamily="34" charset="-120"/>
              </a:rPr>
              <a:t>Medical Document Intelligence:</a:t>
            </a:r>
            <a:endParaRPr lang="en-US" sz="3600" dirty="0"/>
          </a:p>
        </p:txBody>
      </p:sp>
      <p:sp>
        <p:nvSpPr>
          <p:cNvPr id="6" name="Text 4"/>
          <p:cNvSpPr/>
          <p:nvPr/>
        </p:nvSpPr>
        <p:spPr>
          <a:xfrm>
            <a:off x="457200" y="2011680"/>
            <a:ext cx="8229600" cy="1097280"/>
          </a:xfrm>
          <a:prstGeom prst="rect">
            <a:avLst/>
          </a:prstGeom>
          <a:noFill/>
          <a:ln/>
        </p:spPr>
        <p:txBody>
          <a:bodyPr wrap="square" rtlCol="0" anchor="ctr"/>
          <a:lstStyle/>
          <a:p>
            <a:pPr marL="0" indent="0">
              <a:buNone/>
            </a:pPr>
            <a:r>
              <a:rPr lang="en-US" sz="2800" dirty="0">
                <a:solidFill>
                  <a:srgbClr val="D04A02"/>
                </a:solidFill>
                <a:latin typeface="Georgia" pitchFamily="34" charset="0"/>
                <a:ea typeface="Georgia" pitchFamily="34" charset="-122"/>
                <a:cs typeface="Georgia" pitchFamily="34" charset="-120"/>
              </a:rPr>
              <a:t>AI-Powered Medical Record Analysis</a:t>
            </a:r>
            <a:endParaRPr lang="en-US" sz="2800" dirty="0"/>
          </a:p>
          <a:p>
            <a:pPr marL="0" indent="0">
              <a:buNone/>
            </a:pPr>
            <a:r>
              <a:rPr lang="en-US" sz="2800" dirty="0">
                <a:solidFill>
                  <a:srgbClr val="D04A02"/>
                </a:solidFill>
                <a:latin typeface="Georgia" pitchFamily="34" charset="0"/>
                <a:ea typeface="Georgia" pitchFamily="34" charset="-122"/>
                <a:cs typeface="Georgia" pitchFamily="34" charset="-120"/>
              </a:rPr>
              <a:t>for Life Insurance Underwriting</a:t>
            </a:r>
            <a:endParaRPr lang="en-US" sz="2800" dirty="0"/>
          </a:p>
        </p:txBody>
      </p:sp>
      <p:sp>
        <p:nvSpPr>
          <p:cNvPr id="7" name="Text 5"/>
          <p:cNvSpPr/>
          <p:nvPr/>
        </p:nvSpPr>
        <p:spPr>
          <a:xfrm>
            <a:off x="457200" y="3200400"/>
            <a:ext cx="7315200" cy="365760"/>
          </a:xfrm>
          <a:prstGeom prst="rect">
            <a:avLst/>
          </a:prstGeom>
          <a:noFill/>
          <a:ln/>
        </p:spPr>
        <p:txBody>
          <a:bodyPr wrap="square" rtlCol="0" anchor="ctr"/>
          <a:lstStyle/>
          <a:p>
            <a:pPr marL="0" indent="0">
              <a:buNone/>
            </a:pPr>
            <a:r>
              <a:rPr lang="en-US" sz="1400" i="1" dirty="0">
                <a:solidFill>
                  <a:srgbClr val="5C5C5C"/>
                </a:solidFill>
                <a:latin typeface="Calibri" pitchFamily="34" charset="0"/>
                <a:ea typeface="Calibri" pitchFamily="34" charset="-122"/>
                <a:cs typeface="Calibri" pitchFamily="34" charset="-120"/>
              </a:rPr>
              <a:t>720× faster processing with $872K annual savings through Azure AI automation</a:t>
            </a:r>
            <a:endParaRPr lang="en-US" sz="1400" dirty="0"/>
          </a:p>
        </p:txBody>
      </p:sp>
      <p:sp>
        <p:nvSpPr>
          <p:cNvPr id="8" name="Shape 6"/>
          <p:cNvSpPr/>
          <p:nvPr/>
        </p:nvSpPr>
        <p:spPr>
          <a:xfrm>
            <a:off x="1828800" y="3840480"/>
            <a:ext cx="3200400" cy="365760"/>
          </a:xfrm>
          <a:prstGeom prst="rect">
            <a:avLst/>
          </a:prstGeom>
          <a:solidFill>
            <a:srgbClr val="D04A02"/>
          </a:solidFill>
          <a:ln/>
        </p:spPr>
        <p:txBody>
          <a:bodyPr/>
          <a:lstStyle/>
          <a:p>
            <a:endParaRPr lang="en-IN"/>
          </a:p>
        </p:txBody>
      </p:sp>
      <p:sp>
        <p:nvSpPr>
          <p:cNvPr id="9" name="Shape 7"/>
          <p:cNvSpPr/>
          <p:nvPr/>
        </p:nvSpPr>
        <p:spPr>
          <a:xfrm>
            <a:off x="4114800" y="4206240"/>
            <a:ext cx="3200400" cy="365760"/>
          </a:xfrm>
          <a:prstGeom prst="rect">
            <a:avLst/>
          </a:prstGeom>
          <a:solidFill>
            <a:srgbClr val="E8713A"/>
          </a:solidFill>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109728"/>
            <a:ext cx="2011680" cy="320040"/>
          </a:xfrm>
          <a:prstGeom prst="rect">
            <a:avLst/>
          </a:prstGeom>
          <a:noFill/>
          <a:ln/>
        </p:spPr>
        <p:txBody>
          <a:bodyPr wrap="square" lIns="0" tIns="0" rIns="0" bIns="0" rtlCol="0" anchor="ctr"/>
          <a:lstStyle/>
          <a:p>
            <a:pPr marL="0" indent="0">
              <a:buNone/>
            </a:pPr>
            <a:r>
              <a:rPr lang="en-US" sz="1500" b="1" dirty="0">
                <a:solidFill>
                  <a:srgbClr val="2D2D2D"/>
                </a:solidFill>
                <a:latin typeface="Georgia" pitchFamily="34" charset="0"/>
                <a:ea typeface="Georgia" pitchFamily="34" charset="-122"/>
                <a:cs typeface="Georgia" pitchFamily="34" charset="-120"/>
              </a:rPr>
              <a:t>GenAI-Enabled – </a:t>
            </a:r>
            <a:endParaRPr lang="en-US" sz="1500" dirty="0"/>
          </a:p>
        </p:txBody>
      </p:sp>
      <p:sp>
        <p:nvSpPr>
          <p:cNvPr id="3" name="Text 1"/>
          <p:cNvSpPr/>
          <p:nvPr/>
        </p:nvSpPr>
        <p:spPr>
          <a:xfrm>
            <a:off x="2286000" y="109728"/>
            <a:ext cx="5486400" cy="320040"/>
          </a:xfrm>
          <a:prstGeom prst="rect">
            <a:avLst/>
          </a:prstGeom>
          <a:noFill/>
          <a:ln/>
        </p:spPr>
        <p:txBody>
          <a:bodyPr wrap="square" lIns="0" tIns="0" rIns="0" bIns="0" rtlCol="0" anchor="ctr"/>
          <a:lstStyle/>
          <a:p>
            <a:pPr marL="0" indent="0">
              <a:buNone/>
            </a:pPr>
            <a:r>
              <a:rPr lang="en-US" sz="1500" b="1" dirty="0">
                <a:solidFill>
                  <a:srgbClr val="D04A02"/>
                </a:solidFill>
                <a:latin typeface="Georgia" pitchFamily="34" charset="0"/>
                <a:ea typeface="Georgia" pitchFamily="34" charset="-122"/>
                <a:cs typeface="Georgia" pitchFamily="34" charset="-120"/>
              </a:rPr>
              <a:t>Medical Document Intelligence System</a:t>
            </a:r>
            <a:endParaRPr lang="en-US" sz="1500" dirty="0"/>
          </a:p>
        </p:txBody>
      </p:sp>
      <p:sp>
        <p:nvSpPr>
          <p:cNvPr id="4" name="Text 2"/>
          <p:cNvSpPr/>
          <p:nvPr/>
        </p:nvSpPr>
        <p:spPr>
          <a:xfrm>
            <a:off x="274320" y="411480"/>
            <a:ext cx="7315200" cy="228600"/>
          </a:xfrm>
          <a:prstGeom prst="rect">
            <a:avLst/>
          </a:prstGeom>
          <a:noFill/>
          <a:ln/>
        </p:spPr>
        <p:txBody>
          <a:bodyPr wrap="square" lIns="0" tIns="0" rIns="0" bIns="0" rtlCol="0" anchor="ctr"/>
          <a:lstStyle/>
          <a:p>
            <a:pPr marL="0" indent="0">
              <a:buNone/>
            </a:pPr>
            <a:r>
              <a:rPr lang="en-US" sz="1200" dirty="0">
                <a:solidFill>
                  <a:srgbClr val="2D2D2D"/>
                </a:solidFill>
                <a:latin typeface="Georgia" pitchFamily="34" charset="0"/>
                <a:ea typeface="Georgia" pitchFamily="34" charset="-122"/>
                <a:cs typeface="Georgia" pitchFamily="34" charset="-120"/>
              </a:rPr>
              <a:t>for Life Insurance Medical Record Analysis &amp; Underwriting</a:t>
            </a:r>
            <a:endParaRPr lang="en-US" sz="1200" dirty="0"/>
          </a:p>
        </p:txBody>
      </p:sp>
      <p:sp>
        <p:nvSpPr>
          <p:cNvPr id="5" name="Shape 3"/>
          <p:cNvSpPr/>
          <p:nvPr/>
        </p:nvSpPr>
        <p:spPr>
          <a:xfrm>
            <a:off x="274320" y="658368"/>
            <a:ext cx="8595360" cy="13716"/>
          </a:xfrm>
          <a:prstGeom prst="rect">
            <a:avLst/>
          </a:prstGeom>
          <a:solidFill>
            <a:srgbClr val="E8713A"/>
          </a:solidFill>
          <a:ln/>
        </p:spPr>
        <p:txBody>
          <a:bodyPr/>
          <a:lstStyle/>
          <a:p>
            <a:endParaRPr lang="en-IN"/>
          </a:p>
        </p:txBody>
      </p:sp>
      <p:sp>
        <p:nvSpPr>
          <p:cNvPr id="6" name="Shape 4"/>
          <p:cNvSpPr/>
          <p:nvPr/>
        </p:nvSpPr>
        <p:spPr>
          <a:xfrm>
            <a:off x="274320" y="713232"/>
            <a:ext cx="8595360" cy="640080"/>
          </a:xfrm>
          <a:prstGeom prst="rect">
            <a:avLst/>
          </a:prstGeom>
          <a:solidFill>
            <a:srgbClr val="FFF5F0"/>
          </a:solidFill>
          <a:ln/>
        </p:spPr>
        <p:txBody>
          <a:bodyPr/>
          <a:lstStyle/>
          <a:p>
            <a:endParaRPr lang="en-IN"/>
          </a:p>
        </p:txBody>
      </p:sp>
      <p:sp>
        <p:nvSpPr>
          <p:cNvPr id="7" name="Shape 5"/>
          <p:cNvSpPr/>
          <p:nvPr/>
        </p:nvSpPr>
        <p:spPr>
          <a:xfrm>
            <a:off x="274320" y="713232"/>
            <a:ext cx="54864" cy="640080"/>
          </a:xfrm>
          <a:prstGeom prst="rect">
            <a:avLst/>
          </a:prstGeom>
          <a:solidFill>
            <a:srgbClr val="C41E3A"/>
          </a:solidFill>
          <a:ln/>
        </p:spPr>
        <p:txBody>
          <a:bodyPr/>
          <a:lstStyle/>
          <a:p>
            <a:endParaRPr lang="en-IN"/>
          </a:p>
        </p:txBody>
      </p:sp>
      <p:pic>
        <p:nvPicPr>
          <p:cNvPr id="8" name="Image 0" descr="preencoded.png"/>
          <p:cNvPicPr>
            <a:picLocks noChangeAspect="1"/>
          </p:cNvPicPr>
          <p:nvPr/>
        </p:nvPicPr>
        <p:blipFill>
          <a:blip r:embed="rId3"/>
          <a:stretch>
            <a:fillRect/>
          </a:stretch>
        </p:blipFill>
        <p:spPr>
          <a:xfrm>
            <a:off x="411480" y="777240"/>
            <a:ext cx="182880" cy="182880"/>
          </a:xfrm>
          <a:prstGeom prst="rect">
            <a:avLst/>
          </a:prstGeom>
        </p:spPr>
      </p:pic>
      <p:sp>
        <p:nvSpPr>
          <p:cNvPr id="9" name="Text 6"/>
          <p:cNvSpPr/>
          <p:nvPr/>
        </p:nvSpPr>
        <p:spPr>
          <a:xfrm>
            <a:off x="640080" y="777240"/>
            <a:ext cx="2286000" cy="201168"/>
          </a:xfrm>
          <a:prstGeom prst="rect">
            <a:avLst/>
          </a:prstGeom>
          <a:noFill/>
          <a:ln/>
        </p:spPr>
        <p:txBody>
          <a:bodyPr wrap="square" lIns="0" tIns="0" rIns="0" bIns="0" rtlCol="0" anchor="ctr"/>
          <a:lstStyle/>
          <a:p>
            <a:pPr marL="0" indent="0">
              <a:buNone/>
            </a:pPr>
            <a:r>
              <a:rPr lang="en-US" sz="900" b="1" dirty="0">
                <a:solidFill>
                  <a:srgbClr val="C41E3A"/>
                </a:solidFill>
                <a:latin typeface="Arial" pitchFamily="34" charset="0"/>
                <a:ea typeface="Arial" pitchFamily="34" charset="-122"/>
                <a:cs typeface="Arial" pitchFamily="34" charset="-120"/>
              </a:rPr>
              <a:t>The Challenge We Addressed</a:t>
            </a:r>
            <a:endParaRPr lang="en-US" sz="900" dirty="0"/>
          </a:p>
        </p:txBody>
      </p:sp>
      <p:sp>
        <p:nvSpPr>
          <p:cNvPr id="10" name="Text 7"/>
          <p:cNvSpPr/>
          <p:nvPr/>
        </p:nvSpPr>
        <p:spPr>
          <a:xfrm>
            <a:off x="411480" y="987552"/>
            <a:ext cx="8321040" cy="347472"/>
          </a:xfrm>
          <a:prstGeom prst="rect">
            <a:avLst/>
          </a:prstGeom>
          <a:noFill/>
          <a:ln/>
        </p:spPr>
        <p:txBody>
          <a:bodyPr wrap="square" lIns="0" tIns="0" rIns="0" bIns="0" rtlCol="0" anchor="t"/>
          <a:lstStyle/>
          <a:p>
            <a:pPr marL="0" indent="0">
              <a:buNone/>
            </a:pPr>
            <a:r>
              <a:rPr lang="en-US" sz="700" dirty="0">
                <a:solidFill>
                  <a:srgbClr val="5C5C5C"/>
                </a:solidFill>
                <a:latin typeface="Calibri" pitchFamily="34" charset="0"/>
                <a:ea typeface="Calibri" pitchFamily="34" charset="-122"/>
                <a:cs typeface="Calibri" pitchFamily="34" charset="-120"/>
              </a:rPr>
              <a:t>Life insurance underwriting requires reviewing extensive medical records to assess mortality risk. Manual process: reading 1,000 pages takes 25-40 hrs; synthesizing notes 40-60 hrs; discrepancy detection 20-40 hrs (Total: 108-180 hrs/case). This resulted in $1.12M annual cost for 10 analysts processing only ~10 cases/month, inconsistent results between reviewers, and 2-3 week turnaround times causing customer dissatisfaction.</a:t>
            </a:r>
            <a:endParaRPr lang="en-US" sz="700" dirty="0"/>
          </a:p>
        </p:txBody>
      </p:sp>
      <p:pic>
        <p:nvPicPr>
          <p:cNvPr id="11" name="Image 1" descr="preencoded.png"/>
          <p:cNvPicPr>
            <a:picLocks noChangeAspect="1"/>
          </p:cNvPicPr>
          <p:nvPr/>
        </p:nvPicPr>
        <p:blipFill>
          <a:blip r:embed="rId4"/>
          <a:stretch>
            <a:fillRect/>
          </a:stretch>
        </p:blipFill>
        <p:spPr>
          <a:xfrm>
            <a:off x="274320" y="1417320"/>
            <a:ext cx="182880" cy="182880"/>
          </a:xfrm>
          <a:prstGeom prst="rect">
            <a:avLst/>
          </a:prstGeom>
        </p:spPr>
      </p:pic>
      <p:sp>
        <p:nvSpPr>
          <p:cNvPr id="12" name="Text 8"/>
          <p:cNvSpPr/>
          <p:nvPr/>
        </p:nvSpPr>
        <p:spPr>
          <a:xfrm>
            <a:off x="502920" y="1417320"/>
            <a:ext cx="1920240" cy="201168"/>
          </a:xfrm>
          <a:prstGeom prst="rect">
            <a:avLst/>
          </a:prstGeom>
          <a:noFill/>
          <a:ln/>
        </p:spPr>
        <p:txBody>
          <a:bodyPr wrap="square" lIns="0" tIns="0" rIns="0" bIns="0" rtlCol="0" anchor="ctr"/>
          <a:lstStyle/>
          <a:p>
            <a:pPr marL="0" indent="0">
              <a:buNone/>
            </a:pPr>
            <a:r>
              <a:rPr lang="en-US" sz="900" b="1" dirty="0">
                <a:solidFill>
                  <a:srgbClr val="2D2D2D"/>
                </a:solidFill>
                <a:latin typeface="Arial" pitchFamily="34" charset="0"/>
                <a:ea typeface="Arial" pitchFamily="34" charset="-122"/>
                <a:cs typeface="Arial" pitchFamily="34" charset="-120"/>
              </a:rPr>
              <a:t>What We Accomplished</a:t>
            </a:r>
            <a:endParaRPr lang="en-US" sz="900" dirty="0"/>
          </a:p>
        </p:txBody>
      </p:sp>
      <p:sp>
        <p:nvSpPr>
          <p:cNvPr id="13" name="Text 9"/>
          <p:cNvSpPr/>
          <p:nvPr/>
        </p:nvSpPr>
        <p:spPr>
          <a:xfrm>
            <a:off x="274320" y="1645920"/>
            <a:ext cx="2194560" cy="868680"/>
          </a:xfrm>
          <a:prstGeom prst="rect">
            <a:avLst/>
          </a:prstGeom>
          <a:noFill/>
          <a:ln/>
        </p:spPr>
        <p:txBody>
          <a:bodyPr wrap="square" rtlCol="0" anchor="t"/>
          <a:lstStyle/>
          <a:p>
            <a:pPr marL="342900" indent="-342900">
              <a:buSzPct val="100000"/>
              <a:buChar char="•"/>
            </a:pPr>
            <a:r>
              <a:rPr lang="en-US" sz="700" dirty="0">
                <a:solidFill>
                  <a:srgbClr val="5C5C5C"/>
                </a:solidFill>
                <a:latin typeface="Calibri" pitchFamily="34" charset="0"/>
                <a:ea typeface="Calibri" pitchFamily="34" charset="-122"/>
                <a:cs typeface="Calibri" pitchFamily="34" charset="-120"/>
              </a:rPr>
              <a:t>Automated extraction &amp; analysis of 1000+ page medical records</a:t>
            </a:r>
            <a:endParaRPr lang="en-US" sz="700" dirty="0"/>
          </a:p>
          <a:p>
            <a:pPr marL="342900" indent="-342900">
              <a:buSzPct val="100000"/>
              <a:buChar char="•"/>
            </a:pPr>
            <a:r>
              <a:rPr lang="en-US" sz="700" dirty="0">
                <a:solidFill>
                  <a:srgbClr val="5C5C5C"/>
                </a:solidFill>
                <a:latin typeface="Calibri" pitchFamily="34" charset="0"/>
                <a:ea typeface="Calibri" pitchFamily="34" charset="-122"/>
                <a:cs typeface="Calibri" pitchFamily="34" charset="-120"/>
              </a:rPr>
              <a:t>Intelligent Q&amp;A with precise citations (PDF, page, line)</a:t>
            </a:r>
            <a:endParaRPr lang="en-US" sz="700" dirty="0"/>
          </a:p>
          <a:p>
            <a:pPr marL="342900" indent="-342900">
              <a:buSzPct val="100000"/>
              <a:buChar char="•"/>
            </a:pPr>
            <a:r>
              <a:rPr lang="en-US" sz="700" dirty="0">
                <a:solidFill>
                  <a:srgbClr val="5C5C5C"/>
                </a:solidFill>
                <a:latin typeface="Calibri" pitchFamily="34" charset="0"/>
                <a:ea typeface="Calibri" pitchFamily="34" charset="-122"/>
                <a:cs typeface="Calibri" pitchFamily="34" charset="-120"/>
              </a:rPr>
              <a:t>Auto-detect application vs medical record discrepancies</a:t>
            </a:r>
            <a:endParaRPr lang="en-US" sz="700" dirty="0"/>
          </a:p>
          <a:p>
            <a:pPr marL="342900" indent="-342900">
              <a:buSzPct val="100000"/>
              <a:buChar char="•"/>
            </a:pPr>
            <a:r>
              <a:rPr lang="en-US" sz="700" dirty="0">
                <a:solidFill>
                  <a:srgbClr val="5C5C5C"/>
                </a:solidFill>
                <a:latin typeface="Calibri" pitchFamily="34" charset="0"/>
                <a:ea typeface="Calibri" pitchFamily="34" charset="-122"/>
                <a:cs typeface="Calibri" pitchFamily="34" charset="-120"/>
              </a:rPr>
              <a:t>HIPAA-compliant audit trails for regulatory compliance</a:t>
            </a:r>
            <a:endParaRPr lang="en-US" sz="700" dirty="0"/>
          </a:p>
        </p:txBody>
      </p:sp>
      <p:sp>
        <p:nvSpPr>
          <p:cNvPr id="14" name="Shape 10"/>
          <p:cNvSpPr/>
          <p:nvPr/>
        </p:nvSpPr>
        <p:spPr>
          <a:xfrm>
            <a:off x="274320" y="2514600"/>
            <a:ext cx="2103120" cy="0"/>
          </a:xfrm>
          <a:prstGeom prst="line">
            <a:avLst/>
          </a:prstGeom>
          <a:noFill/>
          <a:ln w="6350">
            <a:solidFill>
              <a:srgbClr val="CCCCCC"/>
            </a:solidFill>
            <a:prstDash val="solid"/>
          </a:ln>
        </p:spPr>
        <p:txBody>
          <a:bodyPr/>
          <a:lstStyle/>
          <a:p>
            <a:endParaRPr lang="en-IN"/>
          </a:p>
        </p:txBody>
      </p:sp>
      <p:sp>
        <p:nvSpPr>
          <p:cNvPr id="15" name="Text 11"/>
          <p:cNvSpPr/>
          <p:nvPr/>
        </p:nvSpPr>
        <p:spPr>
          <a:xfrm>
            <a:off x="274320" y="2560320"/>
            <a:ext cx="2194560" cy="457200"/>
          </a:xfrm>
          <a:prstGeom prst="rect">
            <a:avLst/>
          </a:prstGeom>
          <a:noFill/>
          <a:ln/>
        </p:spPr>
        <p:txBody>
          <a:bodyPr wrap="square" rtlCol="0" anchor="t"/>
          <a:lstStyle/>
          <a:p>
            <a:pPr marL="342900" indent="-342900">
              <a:buSzPct val="100000"/>
              <a:buChar char="•"/>
            </a:pPr>
            <a:r>
              <a:rPr lang="en-US" sz="700" dirty="0">
                <a:solidFill>
                  <a:srgbClr val="5C5C5C"/>
                </a:solidFill>
                <a:latin typeface="Calibri" pitchFamily="34" charset="0"/>
                <a:ea typeface="Calibri" pitchFamily="34" charset="-122"/>
                <a:cs typeface="Calibri" pitchFamily="34" charset="-120"/>
              </a:rPr>
              <a:t>2 analysts now process 500+ cases/month vs 10 analysts for ~10 cases previously</a:t>
            </a:r>
            <a:endParaRPr lang="en-US" sz="700" dirty="0"/>
          </a:p>
          <a:p>
            <a:pPr marL="342900" indent="-342900">
              <a:buSzPct val="100000"/>
              <a:buChar char="•"/>
            </a:pPr>
            <a:r>
              <a:rPr lang="en-US" sz="700" dirty="0">
                <a:solidFill>
                  <a:srgbClr val="5C5C5C"/>
                </a:solidFill>
                <a:latin typeface="Calibri" pitchFamily="34" charset="0"/>
                <a:ea typeface="Calibri" pitchFamily="34" charset="-122"/>
                <a:cs typeface="Calibri" pitchFamily="34" charset="-120"/>
              </a:rPr>
              <a:t>Reduced turnaround: 2-3 weeks → same day</a:t>
            </a:r>
            <a:endParaRPr lang="en-US" sz="700" dirty="0"/>
          </a:p>
        </p:txBody>
      </p:sp>
      <p:sp>
        <p:nvSpPr>
          <p:cNvPr id="16" name="Text 12"/>
          <p:cNvSpPr/>
          <p:nvPr/>
        </p:nvSpPr>
        <p:spPr>
          <a:xfrm>
            <a:off x="2560320" y="1417320"/>
            <a:ext cx="1737360" cy="320040"/>
          </a:xfrm>
          <a:prstGeom prst="rect">
            <a:avLst/>
          </a:prstGeom>
          <a:noFill/>
          <a:ln/>
        </p:spPr>
        <p:txBody>
          <a:bodyPr wrap="square" rtlCol="0" anchor="ctr"/>
          <a:lstStyle/>
          <a:p>
            <a:pPr marL="0" indent="0">
              <a:buNone/>
            </a:pPr>
            <a:r>
              <a:rPr lang="en-US" sz="900" b="1" dirty="0">
                <a:solidFill>
                  <a:srgbClr val="2D2D2D"/>
                </a:solidFill>
                <a:latin typeface="Arial" pitchFamily="34" charset="0"/>
                <a:ea typeface="Arial" pitchFamily="34" charset="-122"/>
                <a:cs typeface="Arial" pitchFamily="34" charset="-120"/>
              </a:rPr>
              <a:t>Azure AI</a:t>
            </a:r>
            <a:endParaRPr lang="en-US" sz="900" dirty="0"/>
          </a:p>
          <a:p>
            <a:pPr marL="0" indent="0">
              <a:buNone/>
            </a:pPr>
            <a:r>
              <a:rPr lang="en-US" sz="900" b="1" dirty="0">
                <a:solidFill>
                  <a:srgbClr val="2D2D2D"/>
                </a:solidFill>
                <a:latin typeface="Arial" pitchFamily="34" charset="0"/>
                <a:ea typeface="Arial" pitchFamily="34" charset="-122"/>
                <a:cs typeface="Arial" pitchFamily="34" charset="-120"/>
              </a:rPr>
              <a:t>Technology Stack</a:t>
            </a:r>
            <a:endParaRPr lang="en-US" sz="900" dirty="0"/>
          </a:p>
        </p:txBody>
      </p:sp>
      <p:sp>
        <p:nvSpPr>
          <p:cNvPr id="17" name="Text 13"/>
          <p:cNvSpPr/>
          <p:nvPr/>
        </p:nvSpPr>
        <p:spPr>
          <a:xfrm>
            <a:off x="2560320" y="1764792"/>
            <a:ext cx="1737360" cy="1280160"/>
          </a:xfrm>
          <a:prstGeom prst="rect">
            <a:avLst/>
          </a:prstGeom>
          <a:noFill/>
          <a:ln/>
        </p:spPr>
        <p:txBody>
          <a:bodyPr wrap="square" rtlCol="0" anchor="t"/>
          <a:lstStyle/>
          <a:p>
            <a:pPr marL="0" indent="0">
              <a:buNone/>
            </a:pPr>
            <a:r>
              <a:rPr lang="en-US" sz="650" b="1" dirty="0">
                <a:solidFill>
                  <a:srgbClr val="5C5C5C"/>
                </a:solidFill>
                <a:latin typeface="Calibri" pitchFamily="34" charset="0"/>
                <a:ea typeface="Calibri" pitchFamily="34" charset="-122"/>
                <a:cs typeface="Calibri" pitchFamily="34" charset="-120"/>
              </a:rPr>
              <a:t>Azure Doc Intelligence: </a:t>
            </a:r>
            <a:r>
              <a:rPr lang="en-US" sz="650" dirty="0">
                <a:solidFill>
                  <a:srgbClr val="5C5C5C"/>
                </a:solidFill>
                <a:latin typeface="Calibri" pitchFamily="34" charset="0"/>
                <a:ea typeface="Calibri" pitchFamily="34" charset="-122"/>
                <a:cs typeface="Calibri" pitchFamily="34" charset="-120"/>
              </a:rPr>
              <a:t>OCR (1000 pages)</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Azure OpenAI GPT-5: </a:t>
            </a:r>
            <a:r>
              <a:rPr lang="en-US" sz="650" dirty="0">
                <a:solidFill>
                  <a:srgbClr val="5C5C5C"/>
                </a:solidFill>
                <a:latin typeface="Calibri" pitchFamily="34" charset="0"/>
                <a:ea typeface="Calibri" pitchFamily="34" charset="-122"/>
                <a:cs typeface="Calibri" pitchFamily="34" charset="-120"/>
              </a:rPr>
              <a:t>Summarization, Q&amp;A</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FAISS HNSW: </a:t>
            </a:r>
            <a:r>
              <a:rPr lang="en-US" sz="650" dirty="0">
                <a:solidFill>
                  <a:srgbClr val="5C5C5C"/>
                </a:solidFill>
                <a:latin typeface="Calibri" pitchFamily="34" charset="0"/>
                <a:ea typeface="Calibri" pitchFamily="34" charset="-122"/>
                <a:cs typeface="Calibri" pitchFamily="34" charset="-120"/>
              </a:rPr>
              <a:t>O(log n) vector search</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text-embedding-3-large: </a:t>
            </a:r>
            <a:r>
              <a:rPr lang="en-US" sz="650" dirty="0">
                <a:solidFill>
                  <a:srgbClr val="5C5C5C"/>
                </a:solidFill>
                <a:latin typeface="Calibri" pitchFamily="34" charset="0"/>
                <a:ea typeface="Calibri" pitchFamily="34" charset="-122"/>
                <a:cs typeface="Calibri" pitchFamily="34" charset="-120"/>
              </a:rPr>
              <a:t>3072-dim vectors</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Streamlit: </a:t>
            </a:r>
            <a:r>
              <a:rPr lang="en-US" sz="650" dirty="0">
                <a:solidFill>
                  <a:srgbClr val="5C5C5C"/>
                </a:solidFill>
                <a:latin typeface="Calibri" pitchFamily="34" charset="0"/>
                <a:ea typeface="Calibri" pitchFamily="34" charset="-122"/>
                <a:cs typeface="Calibri" pitchFamily="34" charset="-120"/>
              </a:rPr>
              <a:t>Interactive dashboard</a:t>
            </a:r>
            <a:endParaRPr lang="en-US" sz="650" dirty="0"/>
          </a:p>
        </p:txBody>
      </p:sp>
      <p:sp>
        <p:nvSpPr>
          <p:cNvPr id="18" name="Text 14"/>
          <p:cNvSpPr/>
          <p:nvPr/>
        </p:nvSpPr>
        <p:spPr>
          <a:xfrm>
            <a:off x="4389120" y="1417320"/>
            <a:ext cx="1737360" cy="320040"/>
          </a:xfrm>
          <a:prstGeom prst="rect">
            <a:avLst/>
          </a:prstGeom>
          <a:noFill/>
          <a:ln/>
        </p:spPr>
        <p:txBody>
          <a:bodyPr wrap="square" rtlCol="0" anchor="ctr"/>
          <a:lstStyle/>
          <a:p>
            <a:pPr marL="0" indent="0">
              <a:buNone/>
            </a:pPr>
            <a:r>
              <a:rPr lang="en-US" sz="900" b="1" dirty="0">
                <a:solidFill>
                  <a:srgbClr val="2D2D2D"/>
                </a:solidFill>
                <a:latin typeface="Arial" pitchFamily="34" charset="0"/>
                <a:ea typeface="Arial" pitchFamily="34" charset="-122"/>
                <a:cs typeface="Arial" pitchFamily="34" charset="-120"/>
              </a:rPr>
              <a:t>12-Minute Processing</a:t>
            </a:r>
            <a:endParaRPr lang="en-US" sz="900" dirty="0"/>
          </a:p>
          <a:p>
            <a:pPr marL="0" indent="0">
              <a:buNone/>
            </a:pPr>
            <a:r>
              <a:rPr lang="en-US" sz="900" b="1" dirty="0">
                <a:solidFill>
                  <a:srgbClr val="2D2D2D"/>
                </a:solidFill>
                <a:latin typeface="Arial" pitchFamily="34" charset="0"/>
                <a:ea typeface="Arial" pitchFamily="34" charset="-122"/>
                <a:cs typeface="Arial" pitchFamily="34" charset="-120"/>
              </a:rPr>
              <a:t>Pipeline</a:t>
            </a:r>
            <a:endParaRPr lang="en-US" sz="900" dirty="0"/>
          </a:p>
        </p:txBody>
      </p:sp>
      <p:sp>
        <p:nvSpPr>
          <p:cNvPr id="19" name="Text 15"/>
          <p:cNvSpPr/>
          <p:nvPr/>
        </p:nvSpPr>
        <p:spPr>
          <a:xfrm>
            <a:off x="4389120" y="1764792"/>
            <a:ext cx="1737360" cy="1280160"/>
          </a:xfrm>
          <a:prstGeom prst="rect">
            <a:avLst/>
          </a:prstGeom>
          <a:noFill/>
          <a:ln/>
        </p:spPr>
        <p:txBody>
          <a:bodyPr wrap="square" rtlCol="0" anchor="t"/>
          <a:lstStyle/>
          <a:p>
            <a:pPr marL="0" indent="0">
              <a:buNone/>
            </a:pPr>
            <a:r>
              <a:rPr lang="en-US" sz="650" b="1" dirty="0">
                <a:solidFill>
                  <a:srgbClr val="5C5C5C"/>
                </a:solidFill>
                <a:latin typeface="Calibri" pitchFamily="34" charset="0"/>
                <a:ea typeface="Calibri" pitchFamily="34" charset="-122"/>
                <a:cs typeface="Calibri" pitchFamily="34" charset="-120"/>
              </a:rPr>
              <a:t>Ingestion &amp; OCR: </a:t>
            </a:r>
            <a:r>
              <a:rPr lang="en-US" sz="650" dirty="0">
                <a:solidFill>
                  <a:srgbClr val="5C5C5C"/>
                </a:solidFill>
                <a:latin typeface="Calibri" pitchFamily="34" charset="0"/>
                <a:ea typeface="Calibri" pitchFamily="34" charset="-122"/>
                <a:cs typeface="Calibri" pitchFamily="34" charset="-120"/>
              </a:rPr>
              <a:t>3.5 min</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Intelligent Chunking: </a:t>
            </a:r>
            <a:r>
              <a:rPr lang="en-US" sz="650" dirty="0">
                <a:solidFill>
                  <a:srgbClr val="5C5C5C"/>
                </a:solidFill>
                <a:latin typeface="Calibri" pitchFamily="34" charset="0"/>
                <a:ea typeface="Calibri" pitchFamily="34" charset="-122"/>
                <a:cs typeface="Calibri" pitchFamily="34" charset="-120"/>
              </a:rPr>
              <a:t>0.5 min</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LLM Summarization: </a:t>
            </a:r>
            <a:r>
              <a:rPr lang="en-US" sz="650" dirty="0">
                <a:solidFill>
                  <a:srgbClr val="5C5C5C"/>
                </a:solidFill>
                <a:latin typeface="Calibri" pitchFamily="34" charset="0"/>
                <a:ea typeface="Calibri" pitchFamily="34" charset="-122"/>
                <a:cs typeface="Calibri" pitchFamily="34" charset="-120"/>
              </a:rPr>
              <a:t>4 min</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RAG Index Building: </a:t>
            </a:r>
            <a:r>
              <a:rPr lang="en-US" sz="650" dirty="0">
                <a:solidFill>
                  <a:srgbClr val="5C5C5C"/>
                </a:solidFill>
                <a:latin typeface="Calibri" pitchFamily="34" charset="0"/>
                <a:ea typeface="Calibri" pitchFamily="34" charset="-122"/>
                <a:cs typeface="Calibri" pitchFamily="34" charset="-120"/>
              </a:rPr>
              <a:t>1.5 min</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Application Analysis: </a:t>
            </a:r>
            <a:r>
              <a:rPr lang="en-US" sz="650" dirty="0">
                <a:solidFill>
                  <a:srgbClr val="5C5C5C"/>
                </a:solidFill>
                <a:latin typeface="Calibri" pitchFamily="34" charset="0"/>
                <a:ea typeface="Calibri" pitchFamily="34" charset="-122"/>
                <a:cs typeface="Calibri" pitchFamily="34" charset="-120"/>
              </a:rPr>
              <a:t>1.5 min</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Overhead: </a:t>
            </a:r>
            <a:r>
              <a:rPr lang="en-US" sz="650" dirty="0">
                <a:solidFill>
                  <a:srgbClr val="5C5C5C"/>
                </a:solidFill>
                <a:latin typeface="Calibri" pitchFamily="34" charset="0"/>
                <a:ea typeface="Calibri" pitchFamily="34" charset="-122"/>
                <a:cs typeface="Calibri" pitchFamily="34" charset="-120"/>
              </a:rPr>
              <a:t>1 min</a:t>
            </a:r>
            <a:endParaRPr lang="en-US" sz="650" dirty="0"/>
          </a:p>
        </p:txBody>
      </p:sp>
      <p:sp>
        <p:nvSpPr>
          <p:cNvPr id="20" name="Text 16"/>
          <p:cNvSpPr/>
          <p:nvPr/>
        </p:nvSpPr>
        <p:spPr>
          <a:xfrm>
            <a:off x="6263640" y="1417320"/>
            <a:ext cx="2743200" cy="182880"/>
          </a:xfrm>
          <a:prstGeom prst="rect">
            <a:avLst/>
          </a:prstGeom>
          <a:noFill/>
          <a:ln/>
        </p:spPr>
        <p:txBody>
          <a:bodyPr wrap="square" rtlCol="0" anchor="ctr"/>
          <a:lstStyle/>
          <a:p>
            <a:pPr marL="0" indent="0">
              <a:buNone/>
            </a:pPr>
            <a:r>
              <a:rPr lang="en-US" sz="900" b="1" dirty="0">
                <a:solidFill>
                  <a:srgbClr val="2D2D2D"/>
                </a:solidFill>
                <a:latin typeface="Arial" pitchFamily="34" charset="0"/>
                <a:ea typeface="Arial" pitchFamily="34" charset="-122"/>
                <a:cs typeface="Arial" pitchFamily="34" charset="-120"/>
              </a:rPr>
              <a:t>Key Features and Workflow</a:t>
            </a:r>
            <a:endParaRPr lang="en-US" sz="900" dirty="0"/>
          </a:p>
        </p:txBody>
      </p:sp>
      <p:sp>
        <p:nvSpPr>
          <p:cNvPr id="21" name="Shape 17"/>
          <p:cNvSpPr/>
          <p:nvPr/>
        </p:nvSpPr>
        <p:spPr>
          <a:xfrm>
            <a:off x="6263640" y="1645920"/>
            <a:ext cx="822960" cy="256032"/>
          </a:xfrm>
          <a:prstGeom prst="rect">
            <a:avLst/>
          </a:prstGeom>
          <a:solidFill>
            <a:srgbClr val="D04A02"/>
          </a:solidFill>
          <a:ln/>
        </p:spPr>
        <p:txBody>
          <a:bodyPr/>
          <a:lstStyle/>
          <a:p>
            <a:endParaRPr lang="en-IN"/>
          </a:p>
        </p:txBody>
      </p:sp>
      <p:sp>
        <p:nvSpPr>
          <p:cNvPr id="22" name="Text 18"/>
          <p:cNvSpPr/>
          <p:nvPr/>
        </p:nvSpPr>
        <p:spPr>
          <a:xfrm>
            <a:off x="6263640" y="1645920"/>
            <a:ext cx="822960" cy="256032"/>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Medical Record Upload</a:t>
            </a:r>
            <a:endParaRPr lang="en-US" sz="550" dirty="0"/>
          </a:p>
        </p:txBody>
      </p:sp>
      <p:sp>
        <p:nvSpPr>
          <p:cNvPr id="23" name="Text 19"/>
          <p:cNvSpPr/>
          <p:nvPr/>
        </p:nvSpPr>
        <p:spPr>
          <a:xfrm>
            <a:off x="7132320" y="1645920"/>
            <a:ext cx="1005840" cy="25603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1000+ page PDFs ingested</a:t>
            </a:r>
            <a:endParaRPr lang="en-US" sz="600" dirty="0"/>
          </a:p>
        </p:txBody>
      </p:sp>
      <p:sp>
        <p:nvSpPr>
          <p:cNvPr id="24" name="Shape 20"/>
          <p:cNvSpPr/>
          <p:nvPr/>
        </p:nvSpPr>
        <p:spPr>
          <a:xfrm>
            <a:off x="6263640" y="1938528"/>
            <a:ext cx="822960" cy="256032"/>
          </a:xfrm>
          <a:prstGeom prst="rect">
            <a:avLst/>
          </a:prstGeom>
          <a:solidFill>
            <a:srgbClr val="D04A02"/>
          </a:solidFill>
          <a:ln/>
        </p:spPr>
        <p:txBody>
          <a:bodyPr/>
          <a:lstStyle/>
          <a:p>
            <a:endParaRPr lang="en-IN"/>
          </a:p>
        </p:txBody>
      </p:sp>
      <p:sp>
        <p:nvSpPr>
          <p:cNvPr id="25" name="Text 21"/>
          <p:cNvSpPr/>
          <p:nvPr/>
        </p:nvSpPr>
        <p:spPr>
          <a:xfrm>
            <a:off x="6263640" y="1938528"/>
            <a:ext cx="822960" cy="256032"/>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OCR Extraction</a:t>
            </a:r>
            <a:endParaRPr lang="en-US" sz="550" dirty="0"/>
          </a:p>
        </p:txBody>
      </p:sp>
      <p:sp>
        <p:nvSpPr>
          <p:cNvPr id="26" name="Text 22"/>
          <p:cNvSpPr/>
          <p:nvPr/>
        </p:nvSpPr>
        <p:spPr>
          <a:xfrm>
            <a:off x="7132320" y="1938528"/>
            <a:ext cx="1005840" cy="25603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Parallel processing (4 workers)</a:t>
            </a:r>
            <a:endParaRPr lang="en-US" sz="600" dirty="0"/>
          </a:p>
        </p:txBody>
      </p:sp>
      <p:sp>
        <p:nvSpPr>
          <p:cNvPr id="27" name="Shape 23"/>
          <p:cNvSpPr/>
          <p:nvPr/>
        </p:nvSpPr>
        <p:spPr>
          <a:xfrm>
            <a:off x="6263640" y="2231136"/>
            <a:ext cx="822960" cy="256032"/>
          </a:xfrm>
          <a:prstGeom prst="rect">
            <a:avLst/>
          </a:prstGeom>
          <a:solidFill>
            <a:srgbClr val="D04A02"/>
          </a:solidFill>
          <a:ln/>
        </p:spPr>
        <p:txBody>
          <a:bodyPr/>
          <a:lstStyle/>
          <a:p>
            <a:endParaRPr lang="en-IN"/>
          </a:p>
        </p:txBody>
      </p:sp>
      <p:sp>
        <p:nvSpPr>
          <p:cNvPr id="28" name="Text 24"/>
          <p:cNvSpPr/>
          <p:nvPr/>
        </p:nvSpPr>
        <p:spPr>
          <a:xfrm>
            <a:off x="6263640" y="2231136"/>
            <a:ext cx="822960" cy="256032"/>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AI Summarization</a:t>
            </a:r>
            <a:endParaRPr lang="en-US" sz="550" dirty="0"/>
          </a:p>
        </p:txBody>
      </p:sp>
      <p:sp>
        <p:nvSpPr>
          <p:cNvPr id="29" name="Text 25"/>
          <p:cNvSpPr/>
          <p:nvPr/>
        </p:nvSpPr>
        <p:spPr>
          <a:xfrm>
            <a:off x="7132320" y="2231136"/>
            <a:ext cx="1005840" cy="25603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GPT-5 medical summaries</a:t>
            </a:r>
            <a:endParaRPr lang="en-US" sz="600" dirty="0"/>
          </a:p>
        </p:txBody>
      </p:sp>
      <p:sp>
        <p:nvSpPr>
          <p:cNvPr id="30" name="Shape 26"/>
          <p:cNvSpPr/>
          <p:nvPr/>
        </p:nvSpPr>
        <p:spPr>
          <a:xfrm>
            <a:off x="6263640" y="2523744"/>
            <a:ext cx="822960" cy="256032"/>
          </a:xfrm>
          <a:prstGeom prst="rect">
            <a:avLst/>
          </a:prstGeom>
          <a:solidFill>
            <a:srgbClr val="D04A02"/>
          </a:solidFill>
          <a:ln/>
        </p:spPr>
        <p:txBody>
          <a:bodyPr/>
          <a:lstStyle/>
          <a:p>
            <a:endParaRPr lang="en-IN"/>
          </a:p>
        </p:txBody>
      </p:sp>
      <p:sp>
        <p:nvSpPr>
          <p:cNvPr id="31" name="Text 27"/>
          <p:cNvSpPr/>
          <p:nvPr/>
        </p:nvSpPr>
        <p:spPr>
          <a:xfrm>
            <a:off x="6263640" y="2523744"/>
            <a:ext cx="822960" cy="256032"/>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Discrepancy Detection</a:t>
            </a:r>
            <a:endParaRPr lang="en-US" sz="550" dirty="0"/>
          </a:p>
        </p:txBody>
      </p:sp>
      <p:sp>
        <p:nvSpPr>
          <p:cNvPr id="32" name="Text 28"/>
          <p:cNvSpPr/>
          <p:nvPr/>
        </p:nvSpPr>
        <p:spPr>
          <a:xfrm>
            <a:off x="7132320" y="2523744"/>
            <a:ext cx="1005840" cy="25603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App vs records comparison</a:t>
            </a:r>
            <a:endParaRPr lang="en-US" sz="600" dirty="0"/>
          </a:p>
        </p:txBody>
      </p:sp>
      <p:sp>
        <p:nvSpPr>
          <p:cNvPr id="33" name="Shape 29"/>
          <p:cNvSpPr/>
          <p:nvPr/>
        </p:nvSpPr>
        <p:spPr>
          <a:xfrm>
            <a:off x="6263640" y="2816352"/>
            <a:ext cx="822960" cy="256032"/>
          </a:xfrm>
          <a:prstGeom prst="rect">
            <a:avLst/>
          </a:prstGeom>
          <a:solidFill>
            <a:srgbClr val="D04A02"/>
          </a:solidFill>
          <a:ln/>
        </p:spPr>
        <p:txBody>
          <a:bodyPr/>
          <a:lstStyle/>
          <a:p>
            <a:endParaRPr lang="en-IN"/>
          </a:p>
        </p:txBody>
      </p:sp>
      <p:sp>
        <p:nvSpPr>
          <p:cNvPr id="34" name="Text 30"/>
          <p:cNvSpPr/>
          <p:nvPr/>
        </p:nvSpPr>
        <p:spPr>
          <a:xfrm>
            <a:off x="6263640" y="2816352"/>
            <a:ext cx="822960" cy="256032"/>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Q&amp;A with Citations</a:t>
            </a:r>
            <a:endParaRPr lang="en-US" sz="550" dirty="0"/>
          </a:p>
        </p:txBody>
      </p:sp>
      <p:sp>
        <p:nvSpPr>
          <p:cNvPr id="35" name="Text 31"/>
          <p:cNvSpPr/>
          <p:nvPr/>
        </p:nvSpPr>
        <p:spPr>
          <a:xfrm>
            <a:off x="7132320" y="2816352"/>
            <a:ext cx="1005840" cy="25603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Natural language + page refs</a:t>
            </a:r>
            <a:endParaRPr lang="en-US" sz="600" dirty="0"/>
          </a:p>
        </p:txBody>
      </p:sp>
      <p:sp>
        <p:nvSpPr>
          <p:cNvPr id="36" name="Text 32"/>
          <p:cNvSpPr/>
          <p:nvPr/>
        </p:nvSpPr>
        <p:spPr>
          <a:xfrm>
            <a:off x="6263640" y="3154680"/>
            <a:ext cx="2103120" cy="164592"/>
          </a:xfrm>
          <a:prstGeom prst="rect">
            <a:avLst/>
          </a:prstGeom>
          <a:noFill/>
          <a:ln/>
        </p:spPr>
        <p:txBody>
          <a:bodyPr wrap="square" rtlCol="0" anchor="ctr"/>
          <a:lstStyle/>
          <a:p>
            <a:pPr marL="0" indent="0">
              <a:buNone/>
            </a:pPr>
            <a:r>
              <a:rPr lang="en-US" sz="700" b="1" dirty="0">
                <a:solidFill>
                  <a:srgbClr val="D04A02"/>
                </a:solidFill>
                <a:latin typeface="Arial" pitchFamily="34" charset="0"/>
                <a:ea typeface="Arial" pitchFamily="34" charset="-122"/>
                <a:cs typeface="Arial" pitchFamily="34" charset="-120"/>
              </a:rPr>
              <a:t>Azure Cost per Case</a:t>
            </a:r>
            <a:endParaRPr lang="en-US" sz="700" dirty="0"/>
          </a:p>
        </p:txBody>
      </p:sp>
      <p:pic>
        <p:nvPicPr>
          <p:cNvPr id="37" name="Image 2" descr="preencoded.png"/>
          <p:cNvPicPr>
            <a:picLocks noChangeAspect="1"/>
          </p:cNvPicPr>
          <p:nvPr/>
        </p:nvPicPr>
        <p:blipFill>
          <a:blip r:embed="rId5"/>
          <a:stretch>
            <a:fillRect/>
          </a:stretch>
        </p:blipFill>
        <p:spPr>
          <a:xfrm>
            <a:off x="6263640" y="3337560"/>
            <a:ext cx="91440" cy="91440"/>
          </a:xfrm>
          <a:prstGeom prst="rect">
            <a:avLst/>
          </a:prstGeom>
        </p:spPr>
      </p:pic>
      <p:sp>
        <p:nvSpPr>
          <p:cNvPr id="38" name="Text 33"/>
          <p:cNvSpPr/>
          <p:nvPr/>
        </p:nvSpPr>
        <p:spPr>
          <a:xfrm>
            <a:off x="6382512" y="3337560"/>
            <a:ext cx="1645920" cy="11887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Doc Intelligence: $1.50</a:t>
            </a:r>
            <a:endParaRPr lang="en-US" sz="600" dirty="0"/>
          </a:p>
        </p:txBody>
      </p:sp>
      <p:pic>
        <p:nvPicPr>
          <p:cNvPr id="39" name="Image 3" descr="preencoded.png"/>
          <p:cNvPicPr>
            <a:picLocks noChangeAspect="1"/>
          </p:cNvPicPr>
          <p:nvPr/>
        </p:nvPicPr>
        <p:blipFill>
          <a:blip r:embed="rId5"/>
          <a:stretch>
            <a:fillRect/>
          </a:stretch>
        </p:blipFill>
        <p:spPr>
          <a:xfrm>
            <a:off x="6263640" y="3483864"/>
            <a:ext cx="91440" cy="91440"/>
          </a:xfrm>
          <a:prstGeom prst="rect">
            <a:avLst/>
          </a:prstGeom>
        </p:spPr>
      </p:pic>
      <p:sp>
        <p:nvSpPr>
          <p:cNvPr id="40" name="Text 34"/>
          <p:cNvSpPr/>
          <p:nvPr/>
        </p:nvSpPr>
        <p:spPr>
          <a:xfrm>
            <a:off x="6382512" y="3483864"/>
            <a:ext cx="1645920" cy="11887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GPT-5: $1.13</a:t>
            </a:r>
            <a:endParaRPr lang="en-US" sz="600" dirty="0"/>
          </a:p>
        </p:txBody>
      </p:sp>
      <p:pic>
        <p:nvPicPr>
          <p:cNvPr id="41" name="Image 4" descr="preencoded.png"/>
          <p:cNvPicPr>
            <a:picLocks noChangeAspect="1"/>
          </p:cNvPicPr>
          <p:nvPr/>
        </p:nvPicPr>
        <p:blipFill>
          <a:blip r:embed="rId5"/>
          <a:stretch>
            <a:fillRect/>
          </a:stretch>
        </p:blipFill>
        <p:spPr>
          <a:xfrm>
            <a:off x="6263640" y="3630168"/>
            <a:ext cx="91440" cy="91440"/>
          </a:xfrm>
          <a:prstGeom prst="rect">
            <a:avLst/>
          </a:prstGeom>
        </p:spPr>
      </p:pic>
      <p:sp>
        <p:nvSpPr>
          <p:cNvPr id="42" name="Text 35"/>
          <p:cNvSpPr/>
          <p:nvPr/>
        </p:nvSpPr>
        <p:spPr>
          <a:xfrm>
            <a:off x="6382512" y="3630168"/>
            <a:ext cx="1645920" cy="11887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Embeddings: $0.07</a:t>
            </a:r>
            <a:endParaRPr lang="en-US" sz="600" dirty="0"/>
          </a:p>
        </p:txBody>
      </p:sp>
      <p:pic>
        <p:nvPicPr>
          <p:cNvPr id="43" name="Image 5" descr="preencoded.png"/>
          <p:cNvPicPr>
            <a:picLocks noChangeAspect="1"/>
          </p:cNvPicPr>
          <p:nvPr/>
        </p:nvPicPr>
        <p:blipFill>
          <a:blip r:embed="rId5"/>
          <a:stretch>
            <a:fillRect/>
          </a:stretch>
        </p:blipFill>
        <p:spPr>
          <a:xfrm>
            <a:off x="6263640" y="3776472"/>
            <a:ext cx="91440" cy="91440"/>
          </a:xfrm>
          <a:prstGeom prst="rect">
            <a:avLst/>
          </a:prstGeom>
        </p:spPr>
      </p:pic>
      <p:sp>
        <p:nvSpPr>
          <p:cNvPr id="44" name="Text 36"/>
          <p:cNvSpPr/>
          <p:nvPr/>
        </p:nvSpPr>
        <p:spPr>
          <a:xfrm>
            <a:off x="6382512" y="3776472"/>
            <a:ext cx="1645920" cy="118872"/>
          </a:xfrm>
          <a:prstGeom prst="rect">
            <a:avLst/>
          </a:prstGeom>
          <a:noFill/>
          <a:ln/>
        </p:spPr>
        <p:txBody>
          <a:bodyPr wrap="square" rtlCol="0" anchor="ctr"/>
          <a:lstStyle/>
          <a:p>
            <a:pPr marL="0" indent="0">
              <a:buNone/>
            </a:pPr>
            <a:r>
              <a:rPr lang="en-US" sz="600" dirty="0">
                <a:solidFill>
                  <a:srgbClr val="5C5C5C"/>
                </a:solidFill>
                <a:latin typeface="Calibri" pitchFamily="34" charset="0"/>
                <a:ea typeface="Calibri" pitchFamily="34" charset="-122"/>
                <a:cs typeface="Calibri" pitchFamily="34" charset="-120"/>
              </a:rPr>
              <a:t>Compute: $1.22</a:t>
            </a:r>
            <a:endParaRPr lang="en-US" sz="600" dirty="0"/>
          </a:p>
        </p:txBody>
      </p:sp>
      <p:pic>
        <p:nvPicPr>
          <p:cNvPr id="45" name="Image 6" descr="preencoded.png"/>
          <p:cNvPicPr>
            <a:picLocks noChangeAspect="1"/>
          </p:cNvPicPr>
          <p:nvPr/>
        </p:nvPicPr>
        <p:blipFill>
          <a:blip r:embed="rId5"/>
          <a:stretch>
            <a:fillRect/>
          </a:stretch>
        </p:blipFill>
        <p:spPr>
          <a:xfrm>
            <a:off x="6263640" y="3922776"/>
            <a:ext cx="91440" cy="91440"/>
          </a:xfrm>
          <a:prstGeom prst="rect">
            <a:avLst/>
          </a:prstGeom>
        </p:spPr>
      </p:pic>
      <p:sp>
        <p:nvSpPr>
          <p:cNvPr id="46" name="Text 37"/>
          <p:cNvSpPr/>
          <p:nvPr/>
        </p:nvSpPr>
        <p:spPr>
          <a:xfrm>
            <a:off x="6382512" y="3922776"/>
            <a:ext cx="1645920" cy="118872"/>
          </a:xfrm>
          <a:prstGeom prst="rect">
            <a:avLst/>
          </a:prstGeom>
          <a:noFill/>
          <a:ln/>
        </p:spPr>
        <p:txBody>
          <a:bodyPr wrap="square" rtlCol="0" anchor="ctr"/>
          <a:lstStyle/>
          <a:p>
            <a:pPr marL="0" indent="0">
              <a:buNone/>
            </a:pPr>
            <a:r>
              <a:rPr lang="en-US" sz="600" b="1" dirty="0">
                <a:solidFill>
                  <a:srgbClr val="5C5C5C"/>
                </a:solidFill>
                <a:latin typeface="Calibri" pitchFamily="34" charset="0"/>
                <a:ea typeface="Calibri" pitchFamily="34" charset="-122"/>
                <a:cs typeface="Calibri" pitchFamily="34" charset="-120"/>
              </a:rPr>
              <a:t>Total: $3.91/case</a:t>
            </a:r>
            <a:endParaRPr lang="en-US" sz="600" dirty="0"/>
          </a:p>
        </p:txBody>
      </p:sp>
      <p:sp>
        <p:nvSpPr>
          <p:cNvPr id="47" name="Shape 38"/>
          <p:cNvSpPr/>
          <p:nvPr/>
        </p:nvSpPr>
        <p:spPr>
          <a:xfrm>
            <a:off x="274320" y="3246120"/>
            <a:ext cx="2194560" cy="201168"/>
          </a:xfrm>
          <a:prstGeom prst="rect">
            <a:avLst/>
          </a:prstGeom>
          <a:solidFill>
            <a:srgbClr val="E8713A"/>
          </a:solidFill>
          <a:ln/>
        </p:spPr>
        <p:txBody>
          <a:bodyPr/>
          <a:lstStyle/>
          <a:p>
            <a:endParaRPr lang="en-IN"/>
          </a:p>
        </p:txBody>
      </p:sp>
      <p:sp>
        <p:nvSpPr>
          <p:cNvPr id="48" name="Text 39"/>
          <p:cNvSpPr/>
          <p:nvPr/>
        </p:nvSpPr>
        <p:spPr>
          <a:xfrm>
            <a:off x="320040" y="3246120"/>
            <a:ext cx="2103120" cy="201168"/>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Qualitative Impact</a:t>
            </a:r>
            <a:endParaRPr lang="en-US" sz="800" dirty="0"/>
          </a:p>
        </p:txBody>
      </p:sp>
      <p:sp>
        <p:nvSpPr>
          <p:cNvPr id="49" name="Text 40"/>
          <p:cNvSpPr/>
          <p:nvPr/>
        </p:nvSpPr>
        <p:spPr>
          <a:xfrm>
            <a:off x="274320" y="3474720"/>
            <a:ext cx="2194560" cy="640080"/>
          </a:xfrm>
          <a:prstGeom prst="rect">
            <a:avLst/>
          </a:prstGeom>
          <a:noFill/>
          <a:ln/>
        </p:spPr>
        <p:txBody>
          <a:bodyPr wrap="square" rtlCol="0" anchor="t"/>
          <a:lstStyle/>
          <a:p>
            <a:pPr marL="0" indent="0">
              <a:buNone/>
            </a:pPr>
            <a:r>
              <a:rPr lang="en-US" sz="650" b="1" dirty="0">
                <a:solidFill>
                  <a:srgbClr val="5C5C5C"/>
                </a:solidFill>
                <a:latin typeface="Calibri" pitchFamily="34" charset="0"/>
                <a:ea typeface="Calibri" pitchFamily="34" charset="-122"/>
                <a:cs typeface="Calibri" pitchFamily="34" charset="-120"/>
              </a:rPr>
              <a:t>Consistency: </a:t>
            </a:r>
            <a:r>
              <a:rPr lang="en-US" sz="650" dirty="0">
                <a:solidFill>
                  <a:srgbClr val="5C5C5C"/>
                </a:solidFill>
                <a:latin typeface="Calibri" pitchFamily="34" charset="0"/>
                <a:ea typeface="Calibri" pitchFamily="34" charset="-122"/>
                <a:cs typeface="Calibri" pitchFamily="34" charset="-120"/>
              </a:rPr>
              <a:t>Eliminates reviewer variability</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Compliance: </a:t>
            </a:r>
            <a:r>
              <a:rPr lang="en-US" sz="650" dirty="0">
                <a:solidFill>
                  <a:srgbClr val="5C5C5C"/>
                </a:solidFill>
                <a:latin typeface="Calibri" pitchFamily="34" charset="0"/>
                <a:ea typeface="Calibri" pitchFamily="34" charset="-122"/>
                <a:cs typeface="Calibri" pitchFamily="34" charset="-120"/>
              </a:rPr>
              <a:t>Audit trails with citations for HIPAA</a:t>
            </a:r>
            <a:endParaRPr lang="en-US" sz="650" dirty="0"/>
          </a:p>
          <a:p>
            <a:pPr marL="0" indent="0">
              <a:buNone/>
            </a:pPr>
            <a:r>
              <a:rPr lang="en-US" sz="650" b="1" dirty="0">
                <a:solidFill>
                  <a:srgbClr val="5C5C5C"/>
                </a:solidFill>
                <a:latin typeface="Calibri" pitchFamily="34" charset="0"/>
                <a:ea typeface="Calibri" pitchFamily="34" charset="-122"/>
                <a:cs typeface="Calibri" pitchFamily="34" charset="-120"/>
              </a:rPr>
              <a:t>Customer Experience: </a:t>
            </a:r>
            <a:r>
              <a:rPr lang="en-US" sz="650" dirty="0">
                <a:solidFill>
                  <a:srgbClr val="5C5C5C"/>
                </a:solidFill>
                <a:latin typeface="Calibri" pitchFamily="34" charset="0"/>
                <a:ea typeface="Calibri" pitchFamily="34" charset="-122"/>
                <a:cs typeface="Calibri" pitchFamily="34" charset="-120"/>
              </a:rPr>
              <a:t>Same-day vs 2-3 weeks</a:t>
            </a:r>
            <a:endParaRPr lang="en-US" sz="650" dirty="0"/>
          </a:p>
        </p:txBody>
      </p:sp>
      <p:sp>
        <p:nvSpPr>
          <p:cNvPr id="50" name="Shape 41"/>
          <p:cNvSpPr/>
          <p:nvPr/>
        </p:nvSpPr>
        <p:spPr>
          <a:xfrm>
            <a:off x="2560320" y="3246120"/>
            <a:ext cx="1005840" cy="201168"/>
          </a:xfrm>
          <a:prstGeom prst="rect">
            <a:avLst/>
          </a:prstGeom>
          <a:solidFill>
            <a:srgbClr val="E8713A"/>
          </a:solidFill>
          <a:ln/>
        </p:spPr>
        <p:txBody>
          <a:bodyPr/>
          <a:lstStyle/>
          <a:p>
            <a:endParaRPr lang="en-IN"/>
          </a:p>
        </p:txBody>
      </p:sp>
      <p:sp>
        <p:nvSpPr>
          <p:cNvPr id="51" name="Text 42"/>
          <p:cNvSpPr/>
          <p:nvPr/>
        </p:nvSpPr>
        <p:spPr>
          <a:xfrm>
            <a:off x="2606040" y="3246120"/>
            <a:ext cx="914400" cy="201168"/>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By the Numbers</a:t>
            </a:r>
            <a:endParaRPr lang="en-US" sz="800" dirty="0"/>
          </a:p>
        </p:txBody>
      </p:sp>
      <p:sp>
        <p:nvSpPr>
          <p:cNvPr id="52" name="Shape 43"/>
          <p:cNvSpPr/>
          <p:nvPr/>
        </p:nvSpPr>
        <p:spPr>
          <a:xfrm>
            <a:off x="2560320" y="3520440"/>
            <a:ext cx="868680" cy="1051560"/>
          </a:xfrm>
          <a:prstGeom prst="rect">
            <a:avLst/>
          </a:prstGeom>
          <a:solidFill>
            <a:srgbClr val="2E8B57"/>
          </a:solidFill>
          <a:ln/>
        </p:spPr>
        <p:txBody>
          <a:bodyPr/>
          <a:lstStyle/>
          <a:p>
            <a:endParaRPr lang="en-IN"/>
          </a:p>
        </p:txBody>
      </p:sp>
      <p:sp>
        <p:nvSpPr>
          <p:cNvPr id="53" name="Text 44"/>
          <p:cNvSpPr/>
          <p:nvPr/>
        </p:nvSpPr>
        <p:spPr>
          <a:xfrm>
            <a:off x="2560320" y="3584448"/>
            <a:ext cx="868680" cy="32004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720×</a:t>
            </a:r>
            <a:endParaRPr lang="en-US" sz="1400" dirty="0"/>
          </a:p>
        </p:txBody>
      </p:sp>
      <p:sp>
        <p:nvSpPr>
          <p:cNvPr id="54" name="Text 45"/>
          <p:cNvSpPr/>
          <p:nvPr/>
        </p:nvSpPr>
        <p:spPr>
          <a:xfrm>
            <a:off x="2606040" y="3913632"/>
            <a:ext cx="777240" cy="594360"/>
          </a:xfrm>
          <a:prstGeom prst="rect">
            <a:avLst/>
          </a:prstGeom>
          <a:noFill/>
          <a:ln/>
        </p:spPr>
        <p:txBody>
          <a:bodyPr wrap="square" rtlCol="0" anchor="t"/>
          <a:lstStyle/>
          <a:p>
            <a:pPr marL="0" indent="0" algn="ctr">
              <a:buNone/>
            </a:pPr>
            <a:r>
              <a:rPr lang="en-US" sz="600" dirty="0">
                <a:solidFill>
                  <a:srgbClr val="FFFFFF"/>
                </a:solidFill>
                <a:latin typeface="Calibri" pitchFamily="34" charset="0"/>
                <a:ea typeface="Calibri" pitchFamily="34" charset="-122"/>
                <a:cs typeface="Calibri" pitchFamily="34" charset="-120"/>
              </a:rPr>
              <a:t>faster</a:t>
            </a:r>
            <a:endParaRPr lang="en-US" sz="600" dirty="0"/>
          </a:p>
          <a:p>
            <a:pPr marL="0" indent="0" algn="ctr">
              <a:buNone/>
            </a:pPr>
            <a:r>
              <a:rPr lang="en-US" sz="600" dirty="0">
                <a:solidFill>
                  <a:srgbClr val="FFFFFF"/>
                </a:solidFill>
                <a:latin typeface="Calibri" pitchFamily="34" charset="0"/>
                <a:ea typeface="Calibri" pitchFamily="34" charset="-122"/>
                <a:cs typeface="Calibri" pitchFamily="34" charset="-120"/>
              </a:rPr>
              <a:t>(144h→12m)</a:t>
            </a:r>
            <a:endParaRPr lang="en-US" sz="600" dirty="0"/>
          </a:p>
        </p:txBody>
      </p:sp>
      <p:sp>
        <p:nvSpPr>
          <p:cNvPr id="55" name="Shape 46"/>
          <p:cNvSpPr/>
          <p:nvPr/>
        </p:nvSpPr>
        <p:spPr>
          <a:xfrm>
            <a:off x="3474720" y="3520440"/>
            <a:ext cx="868680" cy="1051560"/>
          </a:xfrm>
          <a:prstGeom prst="rect">
            <a:avLst/>
          </a:prstGeom>
          <a:solidFill>
            <a:srgbClr val="2E8B57"/>
          </a:solidFill>
          <a:ln/>
        </p:spPr>
        <p:txBody>
          <a:bodyPr/>
          <a:lstStyle/>
          <a:p>
            <a:endParaRPr lang="en-IN"/>
          </a:p>
        </p:txBody>
      </p:sp>
      <p:sp>
        <p:nvSpPr>
          <p:cNvPr id="56" name="Text 47"/>
          <p:cNvSpPr/>
          <p:nvPr/>
        </p:nvSpPr>
        <p:spPr>
          <a:xfrm>
            <a:off x="3474720" y="3584448"/>
            <a:ext cx="868680" cy="32004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$872K</a:t>
            </a:r>
            <a:endParaRPr lang="en-US" sz="1400" dirty="0"/>
          </a:p>
        </p:txBody>
      </p:sp>
      <p:sp>
        <p:nvSpPr>
          <p:cNvPr id="57" name="Text 48"/>
          <p:cNvSpPr/>
          <p:nvPr/>
        </p:nvSpPr>
        <p:spPr>
          <a:xfrm>
            <a:off x="3520440" y="3913632"/>
            <a:ext cx="777240" cy="594360"/>
          </a:xfrm>
          <a:prstGeom prst="rect">
            <a:avLst/>
          </a:prstGeom>
          <a:noFill/>
          <a:ln/>
        </p:spPr>
        <p:txBody>
          <a:bodyPr wrap="square" rtlCol="0" anchor="t"/>
          <a:lstStyle/>
          <a:p>
            <a:pPr marL="0" indent="0" algn="ctr">
              <a:buNone/>
            </a:pPr>
            <a:r>
              <a:rPr lang="en-US" sz="600" dirty="0">
                <a:solidFill>
                  <a:srgbClr val="FFFFFF"/>
                </a:solidFill>
                <a:latin typeface="Calibri" pitchFamily="34" charset="0"/>
                <a:ea typeface="Calibri" pitchFamily="34" charset="-122"/>
                <a:cs typeface="Calibri" pitchFamily="34" charset="-120"/>
              </a:rPr>
              <a:t>annual</a:t>
            </a:r>
            <a:endParaRPr lang="en-US" sz="600" dirty="0"/>
          </a:p>
          <a:p>
            <a:pPr marL="0" indent="0" algn="ctr">
              <a:buNone/>
            </a:pPr>
            <a:r>
              <a:rPr lang="en-US" sz="600" dirty="0">
                <a:solidFill>
                  <a:srgbClr val="FFFFFF"/>
                </a:solidFill>
                <a:latin typeface="Calibri" pitchFamily="34" charset="0"/>
                <a:ea typeface="Calibri" pitchFamily="34" charset="-122"/>
                <a:cs typeface="Calibri" pitchFamily="34" charset="-120"/>
              </a:rPr>
              <a:t>savings</a:t>
            </a:r>
            <a:endParaRPr lang="en-US" sz="600" dirty="0"/>
          </a:p>
        </p:txBody>
      </p:sp>
      <p:sp>
        <p:nvSpPr>
          <p:cNvPr id="58" name="Shape 49"/>
          <p:cNvSpPr/>
          <p:nvPr/>
        </p:nvSpPr>
        <p:spPr>
          <a:xfrm>
            <a:off x="4389120" y="3520440"/>
            <a:ext cx="868680" cy="1051560"/>
          </a:xfrm>
          <a:prstGeom prst="rect">
            <a:avLst/>
          </a:prstGeom>
          <a:solidFill>
            <a:srgbClr val="2E8B57"/>
          </a:solidFill>
          <a:ln/>
        </p:spPr>
        <p:txBody>
          <a:bodyPr/>
          <a:lstStyle/>
          <a:p>
            <a:endParaRPr lang="en-IN"/>
          </a:p>
        </p:txBody>
      </p:sp>
      <p:sp>
        <p:nvSpPr>
          <p:cNvPr id="59" name="Text 50"/>
          <p:cNvSpPr/>
          <p:nvPr/>
        </p:nvSpPr>
        <p:spPr>
          <a:xfrm>
            <a:off x="4389120" y="3584448"/>
            <a:ext cx="868680" cy="32004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235×</a:t>
            </a:r>
            <a:endParaRPr lang="en-US" sz="1400" dirty="0"/>
          </a:p>
        </p:txBody>
      </p:sp>
      <p:sp>
        <p:nvSpPr>
          <p:cNvPr id="60" name="Text 51"/>
          <p:cNvSpPr/>
          <p:nvPr/>
        </p:nvSpPr>
        <p:spPr>
          <a:xfrm>
            <a:off x="4434840" y="3913632"/>
            <a:ext cx="777240" cy="594360"/>
          </a:xfrm>
          <a:prstGeom prst="rect">
            <a:avLst/>
          </a:prstGeom>
          <a:noFill/>
          <a:ln/>
        </p:spPr>
        <p:txBody>
          <a:bodyPr wrap="square" rtlCol="0" anchor="t"/>
          <a:lstStyle/>
          <a:p>
            <a:pPr marL="0" indent="0" algn="ctr">
              <a:buNone/>
            </a:pPr>
            <a:r>
              <a:rPr lang="en-US" sz="600" dirty="0">
                <a:solidFill>
                  <a:srgbClr val="FFFFFF"/>
                </a:solidFill>
                <a:latin typeface="Calibri" pitchFamily="34" charset="0"/>
                <a:ea typeface="Calibri" pitchFamily="34" charset="-122"/>
                <a:cs typeface="Calibri" pitchFamily="34" charset="-120"/>
              </a:rPr>
              <a:t>cheaper</a:t>
            </a:r>
            <a:endParaRPr lang="en-US" sz="600" dirty="0"/>
          </a:p>
          <a:p>
            <a:pPr marL="0" indent="0" algn="ctr">
              <a:buNone/>
            </a:pPr>
            <a:r>
              <a:rPr lang="en-US" sz="600" dirty="0">
                <a:solidFill>
                  <a:srgbClr val="FFFFFF"/>
                </a:solidFill>
                <a:latin typeface="Calibri" pitchFamily="34" charset="0"/>
                <a:ea typeface="Calibri" pitchFamily="34" charset="-122"/>
                <a:cs typeface="Calibri" pitchFamily="34" charset="-120"/>
              </a:rPr>
              <a:t>per case</a:t>
            </a:r>
            <a:endParaRPr lang="en-US" sz="600" dirty="0"/>
          </a:p>
        </p:txBody>
      </p:sp>
      <p:sp>
        <p:nvSpPr>
          <p:cNvPr id="61" name="Shape 52"/>
          <p:cNvSpPr/>
          <p:nvPr/>
        </p:nvSpPr>
        <p:spPr>
          <a:xfrm>
            <a:off x="5303520" y="3520440"/>
            <a:ext cx="868680" cy="1051560"/>
          </a:xfrm>
          <a:prstGeom prst="rect">
            <a:avLst/>
          </a:prstGeom>
          <a:solidFill>
            <a:srgbClr val="2E8B57"/>
          </a:solidFill>
          <a:ln/>
        </p:spPr>
        <p:txBody>
          <a:bodyPr/>
          <a:lstStyle/>
          <a:p>
            <a:endParaRPr lang="en-IN"/>
          </a:p>
        </p:txBody>
      </p:sp>
      <p:sp>
        <p:nvSpPr>
          <p:cNvPr id="62" name="Text 53"/>
          <p:cNvSpPr/>
          <p:nvPr/>
        </p:nvSpPr>
        <p:spPr>
          <a:xfrm>
            <a:off x="5303520" y="3584448"/>
            <a:ext cx="868680" cy="32004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52×</a:t>
            </a:r>
            <a:endParaRPr lang="en-US" sz="1400" dirty="0"/>
          </a:p>
        </p:txBody>
      </p:sp>
      <p:sp>
        <p:nvSpPr>
          <p:cNvPr id="63" name="Text 54"/>
          <p:cNvSpPr/>
          <p:nvPr/>
        </p:nvSpPr>
        <p:spPr>
          <a:xfrm>
            <a:off x="5349240" y="3913632"/>
            <a:ext cx="777240" cy="594360"/>
          </a:xfrm>
          <a:prstGeom prst="rect">
            <a:avLst/>
          </a:prstGeom>
          <a:noFill/>
          <a:ln/>
        </p:spPr>
        <p:txBody>
          <a:bodyPr wrap="square" rtlCol="0" anchor="t"/>
          <a:lstStyle/>
          <a:p>
            <a:pPr marL="0" indent="0" algn="ctr">
              <a:buNone/>
            </a:pPr>
            <a:r>
              <a:rPr lang="en-US" sz="600" dirty="0">
                <a:solidFill>
                  <a:srgbClr val="FFFFFF"/>
                </a:solidFill>
                <a:latin typeface="Calibri" pitchFamily="34" charset="0"/>
                <a:ea typeface="Calibri" pitchFamily="34" charset="-122"/>
                <a:cs typeface="Calibri" pitchFamily="34" charset="-120"/>
              </a:rPr>
              <a:t>more</a:t>
            </a:r>
            <a:endParaRPr lang="en-US" sz="600" dirty="0"/>
          </a:p>
          <a:p>
            <a:pPr marL="0" indent="0" algn="ctr">
              <a:buNone/>
            </a:pPr>
            <a:r>
              <a:rPr lang="en-US" sz="600" dirty="0">
                <a:solidFill>
                  <a:srgbClr val="FFFFFF"/>
                </a:solidFill>
                <a:latin typeface="Calibri" pitchFamily="34" charset="0"/>
                <a:ea typeface="Calibri" pitchFamily="34" charset="-122"/>
                <a:cs typeface="Calibri" pitchFamily="34" charset="-120"/>
              </a:rPr>
              <a:t>capacity</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661</Words>
  <Application>Microsoft Office PowerPoint</Application>
  <PresentationFormat>On-screen Show (16:9)</PresentationFormat>
  <Paragraphs>134</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Georgia</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 Projects - PwC Surge 1 Qual</dc:title>
  <dc:subject>PptxGenJS Presentation</dc:subject>
  <dc:creator>PwC</dc:creator>
  <cp:lastModifiedBy>Office</cp:lastModifiedBy>
  <cp:revision>2</cp:revision>
  <dcterms:created xsi:type="dcterms:W3CDTF">2026-01-28T13:56:18Z</dcterms:created>
  <dcterms:modified xsi:type="dcterms:W3CDTF">2026-01-28T14:00:20Z</dcterms:modified>
</cp:coreProperties>
</file>