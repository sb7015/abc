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29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583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Policy Administration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Intelligent Enterprise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GenAI &amp; Agentic AI Transformation Roadmap for [Client Name]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907792"/>
            <a:ext cx="2377440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0" y="3200400"/>
            <a:ext cx="2377440" cy="25603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3621024"/>
            <a:ext cx="2011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Insurance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3621024"/>
            <a:ext cx="2011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Annuities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3621024"/>
            <a:ext cx="2011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Benefits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12280" y="3621024"/>
            <a:ext cx="2011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1228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Vehicle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60920" y="0"/>
            <a:ext cx="1783080" cy="51435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18288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737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2025  |  PwC Advisory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AI Imperative for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7665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insurance industry is at a decisive inflection point.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" y="950976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insurers globally are deploying GenAI and Agentic AI as core operating infrastructure — accelerating underwriting, transforming claims, personalizing customer engagement, and automating compliance. [Client Name] has the opportunity to lead this transition across all product lines.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7160" y="1554480"/>
            <a:ext cx="28346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716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GenAI deployments at leading global insurers demonstrate measurable impact across underwriting, claims, servicing and fraud — directly applicable to [Client Name]'s full product suite.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81528" y="1554480"/>
            <a:ext cx="2834640" cy="3154680"/>
          </a:xfrm>
          <a:prstGeom prst="rect">
            <a:avLst/>
          </a:prstGeom>
          <a:solidFill>
            <a:srgbClr val="D04A02"/>
          </a:solidFill>
          <a:ln w="6350">
            <a:solidFill>
              <a:srgbClr val="D04A0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81528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191256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91256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36-month transformation: use case prioritization, platform architecture, AI governance, LLMOps, human-in-the-loop controls, and organizational change management.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1554480"/>
            <a:ext cx="28346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25896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35624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First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NAIC compliance, GDPR/CCPA, model risk management, and explainability built into every layer — ensuring regulatory confidence and customer trust.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Evidence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GenAI at Scale in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adoption is accelerating across all insurance segments — these are documented production deployments, not pilots.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13716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896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Adopters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7160" y="1261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81912" y="896112"/>
            <a:ext cx="1828800" cy="34747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81912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1912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483864" y="896112"/>
            <a:ext cx="2286000" cy="34747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83864" y="896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3864" y="1261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17136" y="822960"/>
            <a:ext cx="219456" cy="109728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17136" y="8229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▼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169664" y="14630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843016" y="896112"/>
            <a:ext cx="1280160" cy="347472"/>
          </a:xfrm>
          <a:prstGeom prst="rect">
            <a:avLst/>
          </a:prstGeom>
          <a:solidFill>
            <a:srgbClr val="F5C9B5"/>
          </a:solidFill>
          <a:ln w="12700">
            <a:solidFill>
              <a:srgbClr val="F5C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43016" y="896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43016" y="1261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922008" y="978408"/>
            <a:ext cx="256032" cy="182880"/>
          </a:xfrm>
          <a:prstGeom prst="rect">
            <a:avLst/>
          </a:prstGeom>
          <a:solidFill>
            <a:srgbClr val="F5C9B5"/>
          </a:solidFill>
          <a:ln w="12700">
            <a:solidFill>
              <a:srgbClr val="F5C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22008" y="950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28600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U.S. Life Carrier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28600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Claims Triage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NLP-driven claims intake and triage across life &amp; disability lines, reducing manual touchpoints and accelerating settlement timelines.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81528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081528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172968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U.S. Life &amp; Annuity Insurer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72968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UW Copilot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underwriting assistant surfaces case summaries, flags non-disclosure risks, and suggests requirements — live across individual life products.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25896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25896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117336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Global P&amp;C Carrier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17336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Automation Agent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17336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handles first-notice-of-loss, evidence gathering, and reserve-setting recommendations with human adjuster review gates.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37160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28600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Multinational Insurer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Intelligence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extract and validate data from medical records and financial statements at scale — significantly reducing processing cycle time.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81528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081528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172968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Global Insurer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172968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Fraud Detection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172968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LLM ensemble flags suspicious patterns in claim narratives, billing codes, and provider networks across group health and disability.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25896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25896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117336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Retirement &amp; Annuity Specialist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17336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Copilot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17336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 for agents: product Q&amp;A, illustration generation, and case submission guidance across fixed and variable annuity lines.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Burning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[Client Name] Must Act 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4315968" cy="19202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2024" y="9875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" y="71323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Competitive Disruption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" y="102412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Insurtechs and AI-native challengers are redefining customer expectations across term life, GAP, and group benefits. Traditional carriers risk ceding market share without equivalent AI capability.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658368"/>
            <a:ext cx="4315968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54296" y="9875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71323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Regulatory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102412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NAIC's 2023 Model Bulletin on AI, state-level fairness regulations, and emerging federal guidance require formal AI governance programs — mandatory for public-facing insurance models.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" y="2670048"/>
            <a:ext cx="4315968" cy="192024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92024" y="29992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46888" y="272491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Operational Cost Pressure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" y="303580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claims costs, medical inflation, and increasing loss ratios across disability and credit protection lines demand efficiency only AI-enabled automation can deliver at scale.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99432" y="2670048"/>
            <a:ext cx="4315968" cy="19202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54296" y="29992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9160" y="272491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Talent &amp; Capacity Constraints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7448" y="303580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underwriters, claims adjusters, and actuaries are in short supply. Agentic AI augments — not replaces — human capacity, enabling teams to handle growing volumes without proportional headcount growth.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Use Case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Map Across All [Client Name] Lines of Business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· FULL LANDSCAPE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141732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3736" y="62179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Business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54480" y="621792"/>
            <a:ext cx="182880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91056" y="6217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&amp; Pricing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0" y="621792"/>
            <a:ext cx="175564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19856" y="6217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Admin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38928" y="621792"/>
            <a:ext cx="175564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75504" y="6217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Distribution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94576" y="621792"/>
            <a:ext cx="1353312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31152" y="621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Actuarial &amp; Finance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247888" y="621792"/>
            <a:ext cx="877824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84464" y="621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Ops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" y="905256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160" y="905256"/>
            <a:ext cx="36576" cy="66751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1168" y="932688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Insurance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(Term/Whole/UL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IUL/VUL/AD&amp;D)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09344" y="9418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UW copilot; reflexive app triage; labs ordering AI; accelerated UW via EHR/Rx/MVR; mortality scoring; IUL cap/participation optimizer; AG 49-A illustration compliance AI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438144" y="941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claim intake automation; contestability review AI; beneficiary verification; document extraction from medical records; APS summarization agent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193792" y="941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copilot; IUL plain-English explainer; VUL fund comparison bot; illustration generation; lapse prediction &amp; proactive outreach; 24/7 policy Q&amp;A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949440" y="94183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data extraction; experience study automation; policyholder behavior modeling; hedging analytics for IUL/VUL; premium shortfall prediction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302752" y="941832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compliance checks; illustration regulation monitoring; state filing AI; policy change STP; model risk reporting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37160" y="1600200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7160" y="1600200"/>
            <a:ext cx="36576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01168" y="1627632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Annuities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(Fixed/MYGA/FIA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Variable/SPIA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Riders/RILA)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609344" y="163677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analysis agent; income rider eligibility scoring; surrender risk prediction; MYGA rate-lock automation; FIA cap/participation benchmarking; RILA buffer optimization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438144" y="16367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calculation automation; 1035 exchange processing; RMD compliance tracking; systematic withdrawal review; death benefit processing; annuitization conversion agent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5193792" y="16367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income projection chatbot; guaranteed income Q&amp;A; FIA vs MYGA rate comparison; rider benefit illustrator; agent proposal generator; renewal decision assistant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949440" y="163677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 lapse/surrender modeling; cash flow projection; reserve adequacy analysis; interest crediting strategy AI; longevity risk modeling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8302752" y="1636776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SEC/FINRA suitability monitoring; DOL fiduciary compliance; fund performance summarization; prospectus change tracking; audit trail AI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37160" y="2295144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37160" y="2295144"/>
            <a:ext cx="36576" cy="66751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01168" y="2322576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Benefits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(Life/STD/LTD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CI/AD&amp;D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Hospital/Accident)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609344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risk scoring from census data; experience-rated renewal pricing AI; disability predictive triage; CI underwriting workbench; self-funded plan risk analytics; rate adequacy AI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438144" y="233172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STD/LTD eligibility automation; IME review AI; return-to-work workflow agent; functional capacity analysis; co-morbidity screening; AMS/EOB extraction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5193792" y="233172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 navigator; open enrollment assistant; claim status chatbot; EOB plain-language explainer; employer group reporting dashboard AI; broker renewal copilot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949440" y="23317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incidence trend analysis; pooling point optimization; experience vs expected variance; disability duration modeling; group mortality projection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8302752" y="23317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ERISA plan document compliance; Form 5500 automation; self-funded stop-loss monitoring; broker commission compliance; state mandated benefit tracking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37160" y="2990088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37160" y="2990088"/>
            <a:ext cx="36576" cy="66751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01168" y="3017520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&amp; Vehicle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(GAP/CPI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Life/Disability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VSC/Collateral)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609344" y="30266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 AI risk scoring; collateral valuation agent; vehicle condition assessment; credit life eligibility AI; involuntary unemployment risk model; dealer network quality scoring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3438144" y="3026664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deficiency calculation automation; total-loss invoice validation; lender notification workflow; credit disability benefit calculation; VSC repair claim triage; CPI force-place verification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193792" y="3026664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protection explainer; dealer F&amp;I copilot; collateral protection Q&amp;A bot; vehicle service contract advisor; delinquency outreach personalization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949440" y="3026664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exposure modeling; portfolio loss forecasting; collateral depreciation curves; penetration rate analysis by dealer/product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8302752" y="3026664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cancellation/refund compliance; dealer audit automation; rate filing AI; CFPB regulation monitoring; lender agreement compliance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37160" y="3685032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37160" y="3685032"/>
            <a:ext cx="36576" cy="6675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01168" y="3712464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Reinsurance &amp;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Actuarial Services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609344" y="3721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wording extraction &amp; gap analysis; facultative submission summarization; cedant experience analysis; risk accumulation monitoring; automated quote generation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3438144" y="372160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loss reserve analysis AI; catastrophe event claim aggregation; reinsurance recovery calculation agent; commutation analysis assistant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5193792" y="372160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Cedant relationship intelligence; retrocession strategy advisor; reinsurance program visualization; market capacity intelligence agent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6949440" y="372160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trend analysis; reserve adequacy AI; pricing model documentation; assumption review automation; actuarial note drafting copilot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8302752" y="3721608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17 / GAAP 944 compliance AI; treaty administration automation; bordereau processing agent; aggregate limit tracking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137160" y="4379976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37160" y="4379976"/>
            <a:ext cx="36576" cy="66751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01168" y="4407408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Worksite &amp;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Benefits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(Supplemental Health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Accident/Hospital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 Theft/Pet)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609344" y="4416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payroll deduction eligibility AI; guaranteed issue rules engine; simplified issue underwriting bot; product bundling optimizer; enrollment prediction model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3438144" y="44165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claim fast-track automation; hospital indemnity benefit calculation; supplemental health benefit eligibility; ID theft resolution workflow agent; pet claim image-based triage</a:t>
            </a:r>
            <a:endParaRPr lang="en-US" sz="680" dirty="0"/>
          </a:p>
        </p:txBody>
      </p:sp>
      <p:sp>
        <p:nvSpPr>
          <p:cNvPr id="68" name="Text 66"/>
          <p:cNvSpPr/>
          <p:nvPr/>
        </p:nvSpPr>
        <p:spPr>
          <a:xfrm>
            <a:off x="5193792" y="44165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enrollment experience chatbot; voluntary benefits comparison tool; cross-sell recommendation engine; benefits awareness campaign AI; mobile claim self-service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6949440" y="44165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 optimization modeling; voluntary claims experience study; benefit adequacy benchmarking; premium persistency analysis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8302752" y="4416552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125/FSA compliance monitoring; payroll integration reconciliation AI; state filing for supplemental lines; portability/conversion tracking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Deep Dive by Product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High-Value AI Opportunities per 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· PRODUCT DETAIL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621792"/>
            <a:ext cx="431596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62179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 / VUL / Complex Life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92354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49-A / 49-B illustration compliance validation — AI checks assumptions, cap rates, and scenario tests for regulatory conformance before producer submission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28600" y="118872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adequacy monitoring — ML predicts cash value stress and COI erosion risk, triggering proactive policyholder outreach before lapse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28600" y="14538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In-force management copilot — reviews premium payment history, loan utilization, and rider elections to recommend optimization actions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28600" y="17190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 hedging analytics — forecasts index option budget variance, crediting strategy outcomes, and cap/participation rate optimization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99432" y="621792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99432" y="621792"/>
            <a:ext cx="4315968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90872" y="62179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/ FIA / MYGA Annuities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872" y="92354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crediting strategy optimizer — AI benchmarks index selection, participation rates, and floor/cap combinations against peer offerings and client risk profiles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690872" y="118872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MYGA rate-lock intelligence — monitors market rates and triggers renewal outreach with personalized rate comparison narratives at contract maturity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690872" y="14538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Annuitization decision assistant — models income payout options (life-only, joint, period-certain) and presents plain-English comparisons for agent/customer review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690872" y="17190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1035 exchange compliance agent — automates surrender documentation, carrier-to-carrier coordination, and IRS reporting requirements with audit trail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37160" y="2066544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37160" y="2066544"/>
            <a:ext cx="4315968" cy="2743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28600" y="2066544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STD / LTD / Disability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23682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claim predictive triage — ML scores incoming claims for chronicity risk, co-morbidity complexity, and return-to-work likelihood at FNOL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8600" y="26334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coordination agent — automates independent medical exam scheduling, report summarization, and functional capacity assessment integration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28600" y="28986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Return-to-work workflow AI — monitors claimant progress, coordinates vocational rehabilitation referrals, and tracks RTW milestones against plan benchmarks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" y="31638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/ medical record summarization — GenAI condenses complex attending physician statements into structured clinical summaries for claims examiners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599432" y="2066544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99432" y="2066544"/>
            <a:ext cx="4315968" cy="2743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90872" y="2066544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/ Credit Life / Credit Disability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0872" y="23682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deficiency automation — AI validates total loss vehicle value, outstanding loan balance, and insurance settlement to calculate accurate GAP benefit amounts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690872" y="26334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unemployment claim eligibility — verifies qualifying separation reasons, waiting period compliance, and monthly benefit calculation against policy terms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690872" y="28986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disability benefit calculation — cross-references medical documentation, elimination period tracking, and maximum benefit period compliance automatically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690872" y="31638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Force-placed CPI verification — AI validates collateral insurance gaps, lender notification compliance, and retroactive coverage calculation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37160" y="3511296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37160" y="3511296"/>
            <a:ext cx="4315968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28600" y="351129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/ Worksite Benefits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38130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experience optimizer — AI personalizes benefit recommendation sequences based on employee demographics, tenure, salary band, and prior year elections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228600" y="40782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indemnity &amp; accident claim fast-track — automated eligibility determination, benefit calculation, and payment for standardized supplemental health claims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" y="434340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insurance claim image triage — computer vision assesses submitted invoice photos and veterinary records to validate claim legitimacy and benefit amounts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28600" y="460857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recommendation engine — ML identifies optimal voluntary product bundles per employee segment, surfacing upsell opportunities at open enrollment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599432" y="3511296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599432" y="3511296"/>
            <a:ext cx="4315968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90872" y="351129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Reinsurance &amp; Actuarial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90872" y="38130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wording analysis AI — LLM extracts coverage terms, exclusions, and reporting obligations from reinsurance agreements, flagging ambiguities and gaps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690872" y="40782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assumption review copilot — GenAI drafts assumption justification narratives, compares experience vs expected, and produces actuarial memo sections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690872" y="434340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17 / GAAP 944 compliance agent — automates CSM calculation documentation, grouping rules verification, and disclosure narrative generation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690872" y="460857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processing automation — ingests bordereaux from cedants in varying formats, validates data quality, and populates treaty administration systems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Use Cases — Tier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Impact · Fastest Time-to-Value · Evidence-Based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USE CASES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2648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Underwriting Copilot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10312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0312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Deployed at 3+ North American life carriers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10312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ingests applications, orders and interprets labs/APS, flags non-disclosure risks, validates illustration compliance (AG 49-A), and produces structured UW recommendation with full evidence chain.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Cycle time · STP rate · Underwriter capacity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81528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81528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81528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57016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Claims Processing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154680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/ Credit / Vehicle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154680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Live at multiple European &amp; U.S. carriers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3154680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agent handles FNOL ingestion, document extraction, APS summarization, coverage determination, reserve recommendation, and fraud escalation — with human adjuster in the loop.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54680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Settlement speed · Leakage reduction · STP rate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25896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25896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25896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01384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Document Intelligence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099048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099048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Deployed at 5+ global insurers at scale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6099048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extracts structured data from medical records, financial statements, bordereaux, dealer contracts, and claim documents — feeding downstream systems without manual keying at high accuracy.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99048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Accuracy · Speed · Cost per document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37160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37160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37160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&amp; Distributor Copilot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10312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 / Group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10312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Pilot-to-production at U.S. retirement specialists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10312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 for agents and brokers: product Q&amp;A, suitability checks, FIA/IUL illustration generation, objection handling, NIGO prevention, and case submission guidance integrated into portals.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0312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productivity · NIGO rate · Time-to-quote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81528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081528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081528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57016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Fraud Detection &amp; Investigation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3154680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Credit / Vehicle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154680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Proven at large European &amp; U.S. carriers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3154680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ML ensemble analyzes claim narrative consistency, provider billing anomalies, staged accident signals, and cross-policy patterns to surface high-probability fraud for SIU with full explainability.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54680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Loss ratio · SIU efficiency · False positive rate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25896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025896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25896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01384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 Agent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6099048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99048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Adopted by global reinsurance-led programs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099048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agent tracks state filing requirements, NAIC bulletin updates, FINRA/SEC rule changes, and DOL fiduciary guidance — flagging policy wordings and rates requiring review.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99048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Compliance velocity · Filing accuracy · Regulatory risk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37160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137160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37160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12648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Disability &amp; Return-to-Work AI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210312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(STD/LTD)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10312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Emerging across U.S. group carriers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210312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triage scores incoming disability claims for chronicity and co-morbidity risk at FNOL. RTW workflow agent coordinates vocational rehabilitation, IME scheduling, and functional capacity monitoring with proactive touchpoints.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0312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Claim duration · RTW rate · Cost per claim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081528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081528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081528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UC-08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557016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 / Annuity In-Force Management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154680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 (IUL/FIA/MYGA)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154680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Active at U.S. complex product specialists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3154680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monitors premium adequacy, cash value stress, and lapse risk across IUL and annuity blocks. GenAI drafts personalized policyholder outreach and agent alerts for at-risk policies before they reach critical thresholds.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154680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Lapse reduction · Persistency · In-force revenue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025896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025896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025896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UC-09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501384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Actuarial &amp; Reinsurance Intelligence</a:t>
            </a:r>
            <a:endParaRPr lang="en-US" sz="880" dirty="0"/>
          </a:p>
        </p:txBody>
      </p:sp>
      <p:sp>
        <p:nvSpPr>
          <p:cNvPr id="79" name="Text 77"/>
          <p:cNvSpPr/>
          <p:nvPr/>
        </p:nvSpPr>
        <p:spPr>
          <a:xfrm>
            <a:off x="6099048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/ Reinsurance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099048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Adopted by global reinsurance leaders</a:t>
            </a:r>
            <a:endParaRPr lang="en-US" sz="680" dirty="0"/>
          </a:p>
        </p:txBody>
      </p:sp>
      <p:sp>
        <p:nvSpPr>
          <p:cNvPr id="81" name="Text 79"/>
          <p:cNvSpPr/>
          <p:nvPr/>
        </p:nvSpPr>
        <p:spPr>
          <a:xfrm>
            <a:off x="6099048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extracts and analyzes treaty wordings, automates IFRS 17 / GAAP 944 documentation, produces actuarial assumption narratives, and streamlines bordereau processing — cutting manual actuarial workload significantly.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099048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Actuarial efficiency · Reserve accuracy · Reporting speed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&amp; Compliance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at Enterprise Scale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4592" y="640080"/>
            <a:ext cx="3200400" cy="3200400"/>
          </a:xfrm>
          <a:prstGeom prst="ellipse">
            <a:avLst/>
          </a:prstGeom>
          <a:solidFill>
            <a:srgbClr val="F5C9B5"/>
          </a:solidFill>
          <a:ln w="1905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1024128"/>
            <a:ext cx="2432304" cy="2432304"/>
          </a:xfrm>
          <a:prstGeom prst="ellipse">
            <a:avLst/>
          </a:prstGeom>
          <a:solidFill>
            <a:srgbClr val="E8713A"/>
          </a:solidFill>
          <a:ln w="1905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50976" y="1426464"/>
            <a:ext cx="1627632" cy="1627632"/>
          </a:xfrm>
          <a:prstGeom prst="ellipse">
            <a:avLst/>
          </a:prstGeom>
          <a:solidFill>
            <a:srgbClr val="D04A02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389888" y="1865376"/>
            <a:ext cx="749808" cy="7498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89888" y="18653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64592" y="6583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Legal Compliance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6928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969264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</a:t>
            </a:r>
            <a:endParaRPr lang="en-US" sz="550" dirty="0"/>
          </a:p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37160" y="2377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NAIC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37160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926080" y="2377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11-7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26080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547872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547872" y="658368"/>
            <a:ext cx="17830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02736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21024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Model Bulletin on AI (2023) — insurer accountability for algorithmic decisions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21024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AI fairness and non-discrimination laws (CA, NY, CO, IL)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21024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FINRA/SEC oversight for variable annuity and securities-linked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21024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CCPA / state privacy laws for consumer data used in AI training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21024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 fiduciary considerations for retirement income AI recommendations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394960" y="658368"/>
            <a:ext cx="1783080" cy="2926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49824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 Management (MRM)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68112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/ OCC 2011-12 framework adapted for LLMs and foundation models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68112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inventory covering all production GenAI and agentic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8112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 validation for UW, claims, and pricing AI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68112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 testing before production deployment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68112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drift detection with board-level revalidation triggers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42048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42048" y="658368"/>
            <a:ext cx="1783080" cy="2926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296912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Ethics &amp; Fairness Controls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0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class analysis across all underwriting and claims AI models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testing required before any model affects adverse action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LIME/SHAP outputs for every regulated decision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notice generation with AI-driven explanation summaries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bias monitoring dashboards with board-level reporting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 Judgment Must Remain Central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must be designed with explicit human oversight gates — not bolted on after the fact. This is both a regulatory imperative and an ethical commitment.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" y="960120"/>
            <a:ext cx="2834640" cy="310896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2024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FULL AUTOMATION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Low-risk, high-volume, deterministic outcomes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01752" y="1609344"/>
            <a:ext cx="2362810" cy="128016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95%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28600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extraction and classification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 confirmations within defined parameters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8600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customer service FAQ responses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calculation for standard risks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" y="4315968"/>
            <a:ext cx="2688336" cy="329184"/>
          </a:xfrm>
          <a:prstGeom prst="rect">
            <a:avLst/>
          </a:prstGeom>
          <a:solidFill>
            <a:srgbClr val="E8713A">
              <a:alpha val="15000"/>
            </a:srgbClr>
          </a:solidFill>
          <a:ln w="635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6888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with full audit logging — no human in decision path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81528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081528" y="960120"/>
            <a:ext cx="2834640" cy="31089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36392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HUMAN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172968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Medium-risk: AI recommends, human approves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46120" y="1609344"/>
            <a:ext cx="1367942" cy="12801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172968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55%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172968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recommendations for non-standard risks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72968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settlement above defined threshold amounts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72968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escalation decisions forwarded to SIU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72968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determinations for annuity products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4315968"/>
            <a:ext cx="2688336" cy="329184"/>
          </a:xfrm>
          <a:prstGeom prst="rect">
            <a:avLst/>
          </a:prstGeom>
          <a:solidFill>
            <a:srgbClr val="D04A02">
              <a:alpha val="15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191256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recommendation + rationale — human approves or overrides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25896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025896" y="960120"/>
            <a:ext cx="283464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80760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HUMAN-LED + AI ASSIST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17336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High-stakes, regulated, or novel decisions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0488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90488" y="1609344"/>
            <a:ext cx="373075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17336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15%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117336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underwriting actions requiring regulatory notice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17336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claims settlements and coverage disputes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17336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 approvals and legal attestations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17336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committee sign-off on new AI deployment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99048" y="4315968"/>
            <a:ext cx="2688336" cy="329184"/>
          </a:xfrm>
          <a:prstGeom prst="rect">
            <a:avLst/>
          </a:prstGeom>
          <a:solidFill>
            <a:srgbClr val="1A1A1A">
              <a:alpha val="1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135624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analysis only — human owns and signs the final decision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LLMOps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Operationalizing AI Models in Production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LLMOPS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is the MLOps discipline adapted for foundation models — covering the full lifecycle from model selection through production monitoring and governance.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37944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47088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0312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benchmarking on insurance datasets — cost, latency, accuracy, compliance tradeoffs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11096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11096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RAG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51176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51176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11880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21024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11096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984248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via RAG with policy/product corpora + selective PEFT/LoRA fine-tuning for specialized tasks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85032" y="950976"/>
            <a:ext cx="1700784" cy="6583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85032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Testing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25112" y="822960"/>
            <a:ext cx="274320" cy="219456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25112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85816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94960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85032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758184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hallucination rate, latency, fairness metrics, adversarial testing, red-teaming for insurance risks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58968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58968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Scaling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99048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99048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159752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68896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58968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532120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A/B testing, canary releases, rollback mechanisms, API gateway management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32904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32904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Drift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72984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72984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232904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06056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output monitoring, drift detection, degradation alerts, human feedback loops, retraining triggers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37160" y="333756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Continuous feedback loop: monitoring outputs feed back into evaluation and retraining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37160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37160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28600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&amp; Version Control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prompt management, versioning, regression testing, and audit trails for all prompts used in regulated insurance decisions.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81528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081528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172968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Governance &amp; FinOps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172968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monitoring, cost allocation by business unit, quota management, and optimization through caching and model routing.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25896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025896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17336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Data Privacy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17336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in prompts, output filtering, encryption at rest and in transit, access controls, and vendor data processing agreements.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Technology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Stack for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1371600" cy="8778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" y="65836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53619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658368"/>
            <a:ext cx="7370064" cy="877824"/>
          </a:xfrm>
          <a:prstGeom prst="rect">
            <a:avLst/>
          </a:prstGeom>
          <a:solidFill>
            <a:srgbClr val="F4F4F4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64208" y="731520"/>
            <a:ext cx="718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copilot  ·  Claims agent  ·  Advisor assistant  ·  Compliance monitor  ·  Policy admin system connectors  ·  CRM / portal APIs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618488"/>
            <a:ext cx="1371600" cy="87782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7160" y="161848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Layer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49631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72768" y="1618488"/>
            <a:ext cx="7370064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664208" y="1691640"/>
            <a:ext cx="718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(LangGraph / AutoGen / CrewAI)  ·  Tool-use &amp; API integration  ·  Memory management  ·  Multi-agent coordination  ·  Human-in-the-loop gates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" y="2578608"/>
            <a:ext cx="1371600" cy="87782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7160" y="257860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Model Layer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45643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72768" y="2578608"/>
            <a:ext cx="7370064" cy="877824"/>
          </a:xfrm>
          <a:prstGeom prst="rect">
            <a:avLst/>
          </a:prstGeom>
          <a:solidFill>
            <a:srgbClr val="F4F4F4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64208" y="2651760"/>
            <a:ext cx="718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LLMs (open &amp; proprietary)  ·  Fine-tuned domain models  ·  Embedding models  ·  Fraud detection ML  ·  Computer vision for documents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3538728"/>
            <a:ext cx="1371600" cy="87782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7160" y="353872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Knowledge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72768" y="3538728"/>
            <a:ext cx="7370064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64208" y="3611880"/>
            <a:ext cx="7187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 data lake  ·  Vector knowledge bases (RAG)  ·  Product &amp; regulatory corpora  ·  Customer 360 profiles  ·  Real-time event streams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59952" y="658368"/>
            <a:ext cx="246888" cy="384048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 rot="16200000">
            <a:off x="8759952" y="658368"/>
            <a:ext cx="2468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· Security · LLMOps · Monitoring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37160" y="47000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selections are illustrative. Architecture will be validated against [Client Name]'s existing IT landscape, cloud commitments, and security standards.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36-Month Journey to Intelligent Enterprise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1042416"/>
            <a:ext cx="8823960" cy="5486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658368"/>
            <a:ext cx="283464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6583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Foundation  |  Months 0 – 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63040" y="987552"/>
            <a:ext cx="182880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090672" y="658368"/>
            <a:ext cx="2834640" cy="32918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36392" y="6583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Scale  |  Months 6 – 18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16552" y="987552"/>
            <a:ext cx="182880" cy="16459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35040" y="658368"/>
            <a:ext cx="2834640" cy="32918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80760" y="6583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Optimize  |  Months 18 – 36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60920" y="987552"/>
            <a:ext cx="182880" cy="164592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823960" y="987552"/>
            <a:ext cx="164592" cy="164592"/>
          </a:xfrm>
          <a:prstGeom prst="ellipse">
            <a:avLst/>
          </a:prstGeom>
          <a:solidFill>
            <a:srgbClr val="909090"/>
          </a:solidFill>
          <a:ln w="12700">
            <a:solidFill>
              <a:srgbClr val="909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85632" y="1179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37160" y="1207008"/>
            <a:ext cx="548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 rot="16200000">
            <a:off x="137160" y="120700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37160" y="1207008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10312" y="124358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CoE and governance council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0312" y="15727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policy, MRM framework, RACI model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90672" y="1207008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163824" y="124358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compliance gap analysis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63824" y="15727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governance for scale operations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35040" y="1207008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08192" y="124358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AI governance to industry-leading standard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08192" y="15727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AI ethics reporting cadence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37160" y="1911096"/>
            <a:ext cx="548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 rot="16200000">
            <a:off x="137160" y="1911096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Pilots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37160" y="1911096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10312" y="194767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2–3 high-impact pilots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10312" y="22768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Copilot + Document Intelligence production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90672" y="1911096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163824" y="194767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LLMOps platform and model registry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163824" y="22768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+ Fraud Detection live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35040" y="1911096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108192" y="194767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Copilot across agent and broker portals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08192" y="22768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Agent + Vehicle/Dealer AI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37160" y="2615184"/>
            <a:ext cx="548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 rot="16200000">
            <a:off x="137160" y="2615184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Technology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37160" y="2615184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10312" y="26517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assessment: data, talent, tech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10312" y="298094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infrastructure and vector knowledge bases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90672" y="2615184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163824" y="26517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 monitoring pipelines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163824" y="298094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platform, real-time event streams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35040" y="2615184"/>
            <a:ext cx="2834640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08192" y="26517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for complex workflows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08192" y="298094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proprietary insurance AI models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37160" y="3319272"/>
            <a:ext cx="548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 rot="16200000">
            <a:off x="137160" y="3319272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Change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37160" y="3319272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10312" y="33558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identified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10312" y="368503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foundation programs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090672" y="3319272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163824" y="33558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team staffing and onboarding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163824" y="368503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upskilling by business line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35040" y="3319272"/>
            <a:ext cx="2834640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108192" y="33558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adoption measurement and coaching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108192" y="368503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and AI innovation culture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Center of Excellence &amp; Change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Organizational Muscle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ORGANIZATION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CoE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95097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" y="9509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" y="978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AI Officer / AI Governance Lead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strategy, regulatory relationships, board reporting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59105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37160" y="159105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7744" y="1618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Product Owners (by line of business)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" y="1828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prioritization, business requirements, ROI measurement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223113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37160" y="223113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37744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LLM Engineers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development, fine-tuning, evaluation, and deployment pipelines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" y="287121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37160" y="287121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7744" y="2898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LLMOps / Platform Engineers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" y="3108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monitoring, cost management, CI/CD for AI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351129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37160" y="351129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37744" y="3538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Ethics &amp; Compliance Specialists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testing, explainability, regulatory audit support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415137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37160" y="41513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37744" y="41788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 &amp;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" y="4389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adoption, training programs, resistance management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65836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 Imperatives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95097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17720" y="9509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27448" y="10241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Sponsorship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27448" y="126187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champion required for resource allocation, cultural signal-setting, and cross-functional coordination.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159105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17720" y="159105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27448" y="166420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Upskilling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27448" y="190195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programs for underwriters, adjusters, and advisors. Role-specific training on working alongside AI agents.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223113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17720" y="223113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27448" y="230428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Pilot-and-Scale Mindset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27448" y="254203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measurable wins from pilots. Use Phase 1 outcomes to build organizational confidence for Phase 2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17720" y="287121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17720" y="287121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27448" y="294436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Communication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27448" y="318211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'AI will replace jobs' fears directly. Emphasize augmentation narrative with evidence from peer insurer experiences.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351129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617720" y="351129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27448" y="35844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Accountability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27448" y="382219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before launch. Track not just technical metrics (accuracy, latency) but business outcomes (cycle time, NPS, loss ratio).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17720" y="415137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617720" y="415137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727448" y="42245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&amp; Partner Ecosystem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27448" y="446227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partnerships with AI platform vendors, specialized insurtech providers, and regulatory technology firms.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Landscape &amp; Mitigations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Means Anticipating 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8823960" cy="201168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2880" y="658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Rating:  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25880" y="694944"/>
            <a:ext cx="914400" cy="128016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2588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560320" y="694944"/>
            <a:ext cx="914400" cy="12801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94760" y="694944"/>
            <a:ext cx="914400" cy="12801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9476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37160" y="932688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37160" y="932688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8600" y="996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&amp; Factual Errors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93592" y="1014984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93592" y="10149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8600" y="1252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Technical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1435608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RAG grounds outputs in verified corpora. Output validation layers check against policy databases. Human review gates for all high-stakes decisions.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99432" y="932688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99432" y="932688"/>
            <a:ext cx="36576" cy="128016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90872" y="996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Non-Compliance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55864" y="1014984"/>
            <a:ext cx="786384" cy="201168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55864" y="10149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90872" y="1252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Regulatory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0872" y="1435608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AI Governance Council with legal, compliance, and risk representation. Pre-deployment regulatory review. Continuous NAIC/state regulation monitoring agent.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267712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37160" y="2267712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28600" y="2331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Bias &amp; Disparate Impact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93592" y="2350008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593592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587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Ethics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8600" y="277063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Protected class analysis at development and post-deployment. Quarterly bias audits. Third-party validation for underwriting and claims AI.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9432" y="2267712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99432" y="2267712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90872" y="2331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 &amp; Security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55864" y="2350008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055864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90872" y="2587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Security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90872" y="277063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PII redaction before LLM processing. Data residency controls. SOC 2 Type II compliance. Zero-trust access. Vendor DPAs with all AI providers.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" y="3602736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37160" y="3602736"/>
            <a:ext cx="36576" cy="12801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8600" y="3666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Degradation &amp; Drift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593592" y="3685032"/>
            <a:ext cx="786384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593592" y="36850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39227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Operational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8600" y="410565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Automated drift detection with statistical process control. Performance dashboards. Quarterly revalidation cycles. Champion-challenger monitoring.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99432" y="3602736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599432" y="3602736"/>
            <a:ext cx="36576" cy="12801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90872" y="3666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&amp; Dependency Risk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55864" y="3685032"/>
            <a:ext cx="786384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55864" y="36850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690872" y="39227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Strategic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90872" y="410565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Build internal AI capability alongside vendor partnerships. Document all architectures and prompts. Avoid single-vendor lock-in through modular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Creation Across the Insurance Value Chain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directional and grounded in evidence from peer insurer deployments. Specific sizing to be developed during the diagnostic phase.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Advice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83080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11096" y="932688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11096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Pricing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57016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11096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UW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85032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85032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30952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85032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58968" y="932688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58968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104888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32904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32904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Reporting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32904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7160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37160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Capacity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11096" y="1719072"/>
            <a:ext cx="1700784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911096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911096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Cycle Time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85032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85032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685032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58968" y="1719072"/>
            <a:ext cx="1700784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58968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458968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Leakage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32904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232904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232904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Productivity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37160" y="2542032"/>
            <a:ext cx="283464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10312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Growth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37160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8600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underwriting → reduced NTU rates and faster time-to-premium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28600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tools → improved agent productivity and new business volume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28600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retention AI → reduced policy lapses across Life and Annuity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7160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28600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recommendation AI → cross-sell across credit and group lines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81528" y="2542032"/>
            <a:ext cx="28346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154680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081528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172968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processing → lower manual handling cost per claim/policy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81528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172968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extraction → lower data entry and verification cost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81528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172968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→ measurable reduction in loss leakage across claim lines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081528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172968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 → lower regulatory audit and remediation cost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25896" y="2542032"/>
            <a:ext cx="2834640" cy="2743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099048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Quality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25896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117336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UW decisions → reduced adverse selection and portfolio risk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025896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117336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monitoring → fewer regulatory breaches and fines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25896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117336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fraud detection → improved combined ratio contribution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025896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117336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→ reduced model risk and internal audit findings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Proposal to Program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[Client Name]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658368"/>
            <a:ext cx="36576" cy="3950208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1208" y="731520"/>
            <a:ext cx="274320" cy="25603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731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731520"/>
            <a:ext cx="91440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6112" y="731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83664" y="658368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93392" y="713232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Alignment Workshop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93392" y="950976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session with [Client Name] leadership to validate strategic priorities, confirm scope, and align on success metrics. Output: signed charter and executive sponsor named.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" y="1517904"/>
            <a:ext cx="274320" cy="25603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6112" y="1517904"/>
            <a:ext cx="914400" cy="23774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" y="1517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83664" y="1444752"/>
            <a:ext cx="7077456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993392" y="1499616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Readiness Diagnostic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93392" y="1737360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data maturity, technology landscape, talent inventory, governance baseline, and regulatory standing. Output: readiness scorecard and gap prioritization.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" y="2304288"/>
            <a:ext cx="274320" cy="25603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" y="23042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6112" y="2304288"/>
            <a:ext cx="91440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96112" y="2304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4–6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83664" y="2231136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993392" y="2286000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Prioritization Workshop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93392" y="2523744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working sessions with business lines to score use cases against impact, feasibility, and regulatory readiness. Output: prioritized use case backlog with Phase 1 selection confirmed.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1208" y="3090672"/>
            <a:ext cx="274320" cy="25603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1208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" y="3090672"/>
            <a:ext cx="914400" cy="23774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96112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6–8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83664" y="3017520"/>
            <a:ext cx="7077456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993392" y="3072384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Program Mobilization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93392" y="3310128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charter, team staffing plan, vendor/platform selection criteria, governance framework draft, and pilot project kickoff. Output: funded Phase 1 program with governance in place.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1208" y="3877056"/>
            <a:ext cx="274320" cy="256032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21208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6112" y="3877056"/>
            <a:ext cx="914400" cy="23774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96112" y="3877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83664" y="3803904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993392" y="3858768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Tracking &amp; Reporting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93392" y="4096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measurement framework before Phase 1 pilots launch. Baseline metrics, target ranges, and executive dashboard agreed upfront — not retrospectively.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" y="4663440"/>
            <a:ext cx="8823960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28600" y="466344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is ready to mobilize immediately. We recommend scheduling the Executive Alignment Workshop within the next 2 weeks to maintain program momentum.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7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Intelligent Insurance Enterprise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274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Advisory  |  Insurance &amp; FinTech Practice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follow-up discussions, please contact your PwC engagement partner.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874520" cy="1463040"/>
          </a:xfrm>
          <a:prstGeom prst="rect">
            <a:avLst/>
          </a:prstGeom>
          <a:solidFill>
            <a:srgbClr val="D04A02">
              <a:alpha val="35000"/>
            </a:srgbClr>
          </a:solidFill>
          <a:ln w="12700">
            <a:solidFill>
              <a:srgbClr val="D04A0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0" y="2743200"/>
            <a:ext cx="1508760" cy="1005840"/>
          </a:xfrm>
          <a:prstGeom prst="rect">
            <a:avLst/>
          </a:prstGeom>
          <a:solidFill>
            <a:srgbClr val="E8713A">
              <a:alpha val="45000"/>
            </a:srgbClr>
          </a:solidFill>
          <a:ln w="12700">
            <a:solidFill>
              <a:srgbClr val="E871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PwC. All rights reserved. This document is confidential and intended solely for the use of [Client Name]. Content is based on publicly available industry information and PwC proprietary frameworks.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4714</Words>
  <Application>Microsoft Office PowerPoint</Application>
  <PresentationFormat>On-screen Show (16:9)</PresentationFormat>
  <Paragraphs>586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&amp; Agentic AI Transformation Proposal</dc:title>
  <dc:subject>PptxGenJS Presentation</dc:subject>
  <dc:creator>PptxGenJS</dc:creator>
  <cp:lastModifiedBy>Office</cp:lastModifiedBy>
  <cp:revision>1</cp:revision>
  <dcterms:created xsi:type="dcterms:W3CDTF">2026-02-24T10:12:03Z</dcterms:created>
  <dcterms:modified xsi:type="dcterms:W3CDTF">2026-02-24T10:13:53Z</dcterms:modified>
</cp:coreProperties>
</file>