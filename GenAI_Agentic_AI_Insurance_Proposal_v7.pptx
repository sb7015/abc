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23.xml"/><Relationship Id="rId16" Type="http://schemas.openxmlformats.org/officeDocument/2006/relationships/slide" Target="slides/slide24.xml"/><Relationship Id="rId17" Type="http://schemas.openxmlformats.org/officeDocument/2006/relationships/slide" Target="slides/slide25.xml"/><Relationship Id="rId18" Type="http://schemas.openxmlformats.org/officeDocument/2006/relationships/slide" Target="slides/slide26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7296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65836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Policy Administration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Intelligent Enterprise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331720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GenAI &amp; Agentic AI Transformation Roadmap for Securian Insurance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621024"/>
            <a:ext cx="1874519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3621024"/>
            <a:ext cx="1874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Insurance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331720" y="3621024"/>
            <a:ext cx="1874519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331720" y="3621024"/>
            <a:ext cx="1874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Annuities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97680" y="3621024"/>
            <a:ext cx="1874519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297680" y="3621024"/>
            <a:ext cx="1874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Benefits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263640" y="3621024"/>
            <a:ext cx="1874519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63640" y="3621024"/>
            <a:ext cx="1874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&amp; Vehicle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275320" y="0"/>
            <a:ext cx="868680" cy="51435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75320" y="1828800"/>
            <a:ext cx="868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487375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2025  |  PwC Advisory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Agentic AI Imperative for Insurance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457200"/>
            <a:ext cx="8869680" cy="11887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548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" y="49789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Confidential  |  GenAI &amp; Agentic AI Transformation Proposal  |  Securian Insurance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778240" y="49789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37160" y="67665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insurance industry is at a decisive inflection point.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" y="950976"/>
            <a:ext cx="8686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insurers globally are deploying GenAI and Agentic AI as core operating infrastructure — accelerating underwriting, transforming claims, personalizing customer engagement, and automating compliance. Securian Insurance has the opportunity to lead this transition across all product lines.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37160" y="1554480"/>
            <a:ext cx="283464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37160" y="1645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46888" y="219456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" y="2560320"/>
            <a:ext cx="2615184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GenAI deployments at leading global insurers demonstrate measurable impact across underwriting, claims, servicing and fraud — directly applicable to Securian Insurance's full product suite.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81528" y="1554480"/>
            <a:ext cx="2834640" cy="3154680"/>
          </a:xfrm>
          <a:prstGeom prst="rect">
            <a:avLst/>
          </a:prstGeom>
          <a:solidFill>
            <a:srgbClr val="D04A02"/>
          </a:solidFill>
          <a:ln w="6350">
            <a:solidFill>
              <a:srgbClr val="D04A02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081528" y="1645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191256" y="219456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Full-Stack Roadmap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91256" y="2560320"/>
            <a:ext cx="2615184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36-month transformation: use case prioritization, platform architecture, AI governance, LLMOps, human-in-the-loop controls, and organizational change management.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25896" y="1554480"/>
            <a:ext cx="283464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25896" y="1645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135624" y="219456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Responsible AI First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35624" y="2560320"/>
            <a:ext cx="2615184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NAIC compliance, GDPR/CCPA, model risk management, and explainability built into every layer — ensuring regulatory confidence and customer trust.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Evidence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GenAI at Scale in Insurance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457200"/>
            <a:ext cx="8869680" cy="11887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548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CONTEXT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" y="49789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Confidential  |  GenAI &amp; Agentic AI Transformation Proposal  |  Securian Insurance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778240" y="49789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37160" y="658368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adoption is accelerating across all insurance segments — these are documented production deployments, not pilots.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7160" y="896112"/>
            <a:ext cx="137160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37160" y="8961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Adopters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37160" y="12618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581912" y="896112"/>
            <a:ext cx="1828800" cy="347472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581912" y="8961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581912" y="12618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2022–23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3483864" y="896112"/>
            <a:ext cx="2286000" cy="347472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483864" y="8961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Mainstream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483864" y="12618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2024–25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517136" y="822960"/>
            <a:ext cx="219456" cy="109728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17136" y="822960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▼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169664" y="146304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Securian Insurance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5843016" y="896112"/>
            <a:ext cx="1280160" cy="347472"/>
          </a:xfrm>
          <a:prstGeom prst="rect">
            <a:avLst/>
          </a:prstGeom>
          <a:solidFill>
            <a:srgbClr val="F5C9B5"/>
          </a:solidFill>
          <a:ln w="12700">
            <a:solidFill>
              <a:srgbClr val="F5C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843016" y="8961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843016" y="12618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2025+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6922008" y="978408"/>
            <a:ext cx="256032" cy="182880"/>
          </a:xfrm>
          <a:prstGeom prst="rect">
            <a:avLst/>
          </a:prstGeom>
          <a:solidFill>
            <a:srgbClr val="F5C9B5"/>
          </a:solidFill>
          <a:ln w="12700">
            <a:solidFill>
              <a:srgbClr val="F5C9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922008" y="95097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37160" y="1682496"/>
            <a:ext cx="2834640" cy="1499616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37160" y="1682496"/>
            <a:ext cx="2834640" cy="4572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28600" y="177393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U.S. Life Carrier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28600" y="19568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Claims Triage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28600" y="2194560"/>
            <a:ext cx="2651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NLP-driven claims intake and triage across life &amp; disability lines, reducing manual touchpoints and accelerating settlement timelines.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081528" y="1682496"/>
            <a:ext cx="2834640" cy="1499616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081528" y="1682496"/>
            <a:ext cx="2834640" cy="4572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172968" y="177393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U.S. Life &amp; Annuity Insurer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172968" y="19568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UW Copilot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172968" y="2194560"/>
            <a:ext cx="2651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underwriting assistant surfaces case summaries, flags non-disclosure risks, and suggests requirements — live across individual life products.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025896" y="1682496"/>
            <a:ext cx="2834640" cy="1499616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025896" y="1682496"/>
            <a:ext cx="2834640" cy="4572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117336" y="177393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Global P&amp;C Carrier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117336" y="19568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Claims Automation Agent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17336" y="2194560"/>
            <a:ext cx="2651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handles first-notice-of-loss, evidence gathering, and reserve-setting recommendations with human adjuster review gates.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37160" y="3255264"/>
            <a:ext cx="2834640" cy="1499616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137160" y="3255264"/>
            <a:ext cx="2834640" cy="4572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28600" y="334670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Multinational Insurer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28600" y="352958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Intelligence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28600" y="3767328"/>
            <a:ext cx="2651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LLMs extract and validate data from medical records and financial statements at scale — significantly reducing processing cycle time.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081528" y="3255264"/>
            <a:ext cx="2834640" cy="1499616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3081528" y="3255264"/>
            <a:ext cx="2834640" cy="4572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3172968" y="334670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 Global Insurer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172968" y="352958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Fraud Detection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172968" y="3767328"/>
            <a:ext cx="2651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LLM ensemble flags suspicious patterns in claim narratives, billing codes, and provider networks across group health and disability.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025896" y="3255264"/>
            <a:ext cx="2834640" cy="1499616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6025896" y="3255264"/>
            <a:ext cx="2834640" cy="4572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117336" y="334670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Retirement &amp; Annuity Specialist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117336" y="352958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 Copilot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117336" y="3767328"/>
            <a:ext cx="2651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assistant for agents: product Q&amp;A, illustration generation, and case submission guidance across fixed and variable annuity lines.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Burning Platform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Securian Insurance Must Act Now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457200"/>
            <a:ext cx="8869680" cy="11887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548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CONTEXT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" y="49789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Confidential  |  GenAI &amp; Agentic AI Transformation Proposal  |  Securian Insurance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778240" y="49789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37160" y="658368"/>
            <a:ext cx="4315968" cy="192024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92024" y="987552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46888" y="713232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 Competitive Disruption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" y="1024128"/>
            <a:ext cx="40599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Insurtechs and AI-native challengers are redefining customer expectations across term life, GAP, and group benefits. Traditional carriers risk ceding market share without equivalent AI capability.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99432" y="658368"/>
            <a:ext cx="4315968" cy="1920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54296" y="987552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09160" y="713232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 Regulatory Pressure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27448" y="1024128"/>
            <a:ext cx="40599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NAIC's 2023 Model Bulletin on AI, state-level fairness regulations, and emerging federal guidance require formal AI governance programs — mandatory for public-facing insurance models.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37160" y="2670048"/>
            <a:ext cx="4315968" cy="192024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92024" y="2999232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46888" y="2724912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💰  Operational Cost Pressure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5176" y="3035808"/>
            <a:ext cx="40599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claims costs, medical inflation, and increasing loss ratios across disability and credit protection lines demand efficiency only AI-enabled automation can deliver at scale.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99432" y="2670048"/>
            <a:ext cx="4315968" cy="192024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654296" y="2999232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09160" y="2724912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🔄  Talent &amp; Capacity Constraints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27448" y="3035808"/>
            <a:ext cx="40599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underwriters, claims adjusters, and actuaries are in short supply. Agentic AI augments — not replaces — human capacity, enabling teams to handle growing volumes without proportional headcount growth.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GenAI Use Case Landscape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Comprehensive Map Across All Securian Insurance Lines of Business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457200"/>
            <a:ext cx="8869680" cy="11887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548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· FULL LANDSCAPE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" y="49789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Confidential  |  GenAI &amp; Agentic AI Transformation Proposal  |  Securian Insurance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778240" y="49789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37160" y="621792"/>
            <a:ext cx="1417320" cy="27432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73736" y="621792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of Business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554480" y="621792"/>
            <a:ext cx="1828800" cy="27432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591056" y="62179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&amp; Pricing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383280" y="621792"/>
            <a:ext cx="1755648" cy="27432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419856" y="62179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&amp; Admin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138928" y="621792"/>
            <a:ext cx="1755648" cy="27432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175504" y="62179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&amp; Distribution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894576" y="621792"/>
            <a:ext cx="1353312" cy="27432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931152" y="62179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Actuarial &amp; Finance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8247888" y="621792"/>
            <a:ext cx="877824" cy="27432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284464" y="6217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&amp; Ops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37160" y="905256"/>
            <a:ext cx="8988552" cy="667512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37160" y="905256"/>
            <a:ext cx="36576" cy="667512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01168" y="932688"/>
            <a:ext cx="13258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 Insurance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(Term/Whole/UL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IUL/VUL/AD&amp;D)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609344" y="9418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UW copilot; reflexive app triage; labs ordering AI; accelerated UW via EHR/Rx/MVR; mortality scoring; IUL cap/participation optimizer; AG 49-A illustration compliance AI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3438144" y="941832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claim intake automation; contestability review AI; beneficiary verification; document extraction from medical records; APS summarization agent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5193792" y="941832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 copilot; IUL plain-English explainer; VUL fund comparison bot; illustration generation; lapse prediction &amp; proactive outreach; 24/7 policy Q&amp;A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6949440" y="941832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Actuarial data extraction; experience study automation; policyholder behavior modeling; hedging analytics for IUL/VUL; premium shortfall prediction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8302752" y="941832"/>
            <a:ext cx="786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NAIC compliance checks; illustration regulation monitoring; state filing AI; policy change STP; model risk reporting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137160" y="1600200"/>
            <a:ext cx="8988552" cy="667512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137160" y="1600200"/>
            <a:ext cx="36576" cy="6675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01168" y="1627632"/>
            <a:ext cx="13258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Annuities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(Fixed/MYGA/FIA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Variable/SPIA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Income Riders/RILA)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609344" y="1636776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 analysis agent; income rider eligibility scoring; surrender risk prediction; MYGA rate-lock automation; FIA cap/participation benchmarking; RILA buffer optimization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3438144" y="1636776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 calculation automation; 1035 exchange processing; RMD compliance tracking; systematic withdrawal review; death benefit processing; annuitization conversion agent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5193792" y="1636776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income projection chatbot; guaranteed income Q&amp;A; FIA vs MYGA rate comparison; rider benefit illustrator; agent proposal generator; renewal decision assistant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949440" y="1636776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Policyholder lapse/surrender modeling; cash flow projection; reserve adequacy analysis; interest crediting strategy AI; longevity risk modeling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8302752" y="1636776"/>
            <a:ext cx="786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SEC/FINRA suitability monitoring; DOL fiduciary compliance; fund performance summarization; prospectus change tracking; audit trail AI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137160" y="2295144"/>
            <a:ext cx="8988552" cy="667512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137160" y="2295144"/>
            <a:ext cx="36576" cy="667512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201168" y="2322576"/>
            <a:ext cx="13258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Benefits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(Life/STD/LTD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CI/AD&amp;D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Hospital/Accident)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609344" y="23317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risk scoring from census data; experience-rated renewal pricing AI; disability predictive triage; CI underwriting workbench; self-funded plan risk analytics; rate adequacy AI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3438144" y="233172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STD/LTD eligibility automation; IME review AI; return-to-work workflow agent; functional capacity analysis; co-morbidity screening; AMS/EOB extraction</a:t>
            </a:r>
            <a:endParaRPr lang="en-US" sz="680" dirty="0"/>
          </a:p>
        </p:txBody>
      </p:sp>
      <p:sp>
        <p:nvSpPr>
          <p:cNvPr id="44" name="Text 42"/>
          <p:cNvSpPr/>
          <p:nvPr/>
        </p:nvSpPr>
        <p:spPr>
          <a:xfrm>
            <a:off x="5193792" y="233172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benefits navigator; open enrollment assistant; claim status chatbot; EOB plain-language explainer; employer group reporting dashboard AI; broker renewal copilot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6949440" y="2331720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incidence trend analysis; pooling point optimization; experience vs expected variance; disability duration modeling; group mortality projection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8302752" y="2331720"/>
            <a:ext cx="786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ERISA plan document compliance; Form 5500 automation; self-funded stop-loss monitoring; broker commission compliance; state mandated benefit tracking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137160" y="2990088"/>
            <a:ext cx="8988552" cy="667512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137160" y="2990088"/>
            <a:ext cx="36576" cy="667512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201168" y="3017520"/>
            <a:ext cx="13258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&amp; Vehicle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(GAP/CPI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Life/Disability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VSC/Collateral)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609344" y="3026664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Loan-to-value AI risk scoring; collateral valuation agent; vehicle condition assessment; credit life eligibility AI; involuntary unemployment risk model; dealer network quality scoring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3438144" y="3026664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deficiency calculation automation; total-loss invoice validation; lender notification workflow; credit disability benefit calculation; VSC repair claim triage; CPI force-place verification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5193792" y="3026664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protection explainer; dealer F&amp;I copilot; collateral protection Q&amp;A bot; vehicle service contract advisor; delinquency outreach personalization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6949440" y="3026664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exposure modeling; portfolio loss forecasting; collateral depreciation curves; penetration rate analysis by dealer/product</a:t>
            </a:r>
            <a:endParaRPr lang="en-US" sz="680" dirty="0"/>
          </a:p>
        </p:txBody>
      </p:sp>
      <p:sp>
        <p:nvSpPr>
          <p:cNvPr id="54" name="Text 52"/>
          <p:cNvSpPr/>
          <p:nvPr/>
        </p:nvSpPr>
        <p:spPr>
          <a:xfrm>
            <a:off x="8302752" y="3026664"/>
            <a:ext cx="786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cancellation/refund compliance; dealer audit automation; rate filing AI; CFPB regulation monitoring; lender agreement compliance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137160" y="3685032"/>
            <a:ext cx="8988552" cy="667512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137160" y="3685032"/>
            <a:ext cx="36576" cy="66751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201168" y="3712464"/>
            <a:ext cx="13258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Reinsurance &amp;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Actuarial Services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609344" y="372160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 wording extraction &amp; gap analysis; facultative submission summarization; cedant experience analysis; risk accumulation monitoring; automated quote generation</a:t>
            </a:r>
            <a:endParaRPr lang="en-US" sz="680" dirty="0"/>
          </a:p>
        </p:txBody>
      </p:sp>
      <p:sp>
        <p:nvSpPr>
          <p:cNvPr id="59" name="Text 57"/>
          <p:cNvSpPr/>
          <p:nvPr/>
        </p:nvSpPr>
        <p:spPr>
          <a:xfrm>
            <a:off x="3438144" y="3721608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loss reserve analysis AI; catastrophe event claim aggregation; reinsurance recovery calculation agent; commutation analysis assistant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5193792" y="3721608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Cedant relationship intelligence; retrocession strategy advisor; reinsurance program visualization; market capacity intelligence agent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6949440" y="3721608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ratio trend analysis; reserve adequacy AI; pricing model documentation; assumption review automation; actuarial note drafting copilot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8302752" y="3721608"/>
            <a:ext cx="786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17 / GAAP 944 compliance AI; treaty administration automation; bordereau processing agent; aggregate limit tracking</a:t>
            </a:r>
            <a:endParaRPr lang="en-US" sz="680" dirty="0"/>
          </a:p>
        </p:txBody>
      </p:sp>
      <p:sp>
        <p:nvSpPr>
          <p:cNvPr id="63" name="Shape 61"/>
          <p:cNvSpPr/>
          <p:nvPr/>
        </p:nvSpPr>
        <p:spPr>
          <a:xfrm>
            <a:off x="137160" y="4379976"/>
            <a:ext cx="8988552" cy="667512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137160" y="4379976"/>
            <a:ext cx="36576" cy="667512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201168" y="4407408"/>
            <a:ext cx="13258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Worksite &amp;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Voluntary Benefits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(Supplemental Health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Accident/Hospital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 Theft/Pet)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1609344" y="441655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payroll deduction eligibility AI; guaranteed issue rules engine; simplified issue underwriting bot; product bundling optimizer; enrollment prediction model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3438144" y="4416552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claim fast-track automation; hospital indemnity benefit calculation; supplemental health benefit eligibility; ID theft resolution workflow agent; pet claim image-based triage</a:t>
            </a:r>
            <a:endParaRPr lang="en-US" sz="680" dirty="0"/>
          </a:p>
        </p:txBody>
      </p:sp>
      <p:sp>
        <p:nvSpPr>
          <p:cNvPr id="68" name="Text 66"/>
          <p:cNvSpPr/>
          <p:nvPr/>
        </p:nvSpPr>
        <p:spPr>
          <a:xfrm>
            <a:off x="5193792" y="4416552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enrollment experience chatbot; voluntary benefits comparison tool; cross-sell recommendation engine; benefits awareness campaign AI; mobile claim self-service</a:t>
            </a:r>
            <a:endParaRPr lang="en-US" sz="680" dirty="0"/>
          </a:p>
        </p:txBody>
      </p:sp>
      <p:sp>
        <p:nvSpPr>
          <p:cNvPr id="69" name="Text 67"/>
          <p:cNvSpPr/>
          <p:nvPr/>
        </p:nvSpPr>
        <p:spPr>
          <a:xfrm>
            <a:off x="6949440" y="4416552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rate optimization modeling; voluntary claims experience study; benefit adequacy benchmarking; premium persistency analysis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8302752" y="4416552"/>
            <a:ext cx="786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125/FSA compliance monitoring; payroll integration reconciliation AI; state filing for supplemental lines; portability/conversion tracking</a:t>
            </a:r>
            <a:endParaRPr lang="en-US" sz="680" dirty="0"/>
          </a:p>
        </p:txBody>
      </p:sp>
      <p:sp>
        <p:nvSpPr>
          <p:cNvPr id="71" name="TextBox 70"/>
          <p:cNvSpPr txBox="1"/>
          <p:nvPr/>
        </p:nvSpPr>
        <p:spPr>
          <a:xfrm>
            <a:off x="1298448" y="950976"/>
            <a:ext cx="228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D04A02"/>
                </a:solidFill>
              </a:rPr>
              <a:t>28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98448" y="1645920"/>
            <a:ext cx="228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D04A02"/>
                </a:solidFill>
              </a:rPr>
              <a:t>28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98448" y="2340864"/>
            <a:ext cx="228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D04A02"/>
                </a:solidFill>
              </a:rPr>
              <a:t>28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98448" y="3035808"/>
            <a:ext cx="228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D04A02"/>
                </a:solidFill>
              </a:rPr>
              <a:t>25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98448" y="3730752"/>
            <a:ext cx="228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D04A02"/>
                </a:solidFill>
              </a:rPr>
              <a:t>23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98448" y="4425696"/>
            <a:ext cx="228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D04A02"/>
                </a:solidFill>
              </a:rPr>
              <a:t>24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7160" y="5074920"/>
            <a:ext cx="3200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D04A02"/>
                </a:solidFill>
              </a:rPr>
              <a:t>Total: 156 AI Use Cases across 6 Lines of Business × 5 Value Chain Domains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 Deep Dive by Product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Selected High-Value AI Opportunities per Line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457200"/>
            <a:ext cx="8869680" cy="11887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548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· PRODUCT DETAIL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" y="49789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Confidential  |  GenAI &amp; Agentic AI Transformation Proposal  |  Securian Insurance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778240" y="49789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37160" y="621792"/>
            <a:ext cx="4315968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37160" y="621792"/>
            <a:ext cx="4315968" cy="27432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28600" y="621792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IUL / VUL / Complex Life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" y="923544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49-A / 49-B illustration compliance validation — AI checks assumptions, cap rates, and scenario tests for regulatory conformance before producer submission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228600" y="1188720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adequacy monitoring — ML predicts cash value stress and COI erosion risk, triggering proactive policyholder outreach before lapse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28600" y="1453896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In-force management copilot — reviews premium payment history, loan utilization, and rider elections to recommend optimization actions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228600" y="1719072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IUL hedging analytics — forecasts index option budget variance, crediting strategy outcomes, and cap/participation rate optimization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599432" y="621792"/>
            <a:ext cx="4315968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99432" y="621792"/>
            <a:ext cx="4315968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90872" y="621792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/ FIA / MYGA Annuities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90872" y="923544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 crediting strategy optimizer — AI benchmarks index selection, participation rates, and floor/cap combinations against peer offerings and client risk profiles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4690872" y="1188720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MYGA rate-lock intelligence — monitors market rates and triggers renewal outreach with personalized rate comparison narratives at contract maturity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4690872" y="1453896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Annuitization decision assistant — models income payout options (life-only, joint, period-certain) and presents plain-English comparisons for agent/customer review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4690872" y="1719072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1035 exchange compliance agent — automates surrender documentation, carrier-to-carrier coordination, and IRS reporting requirements with audit trail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137160" y="2066544"/>
            <a:ext cx="4315968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37160" y="2066544"/>
            <a:ext cx="4315968" cy="27432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28600" y="2066544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STD / LTD / Disability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8600" y="2368296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Disability claim predictive triage — ML scores incoming claims for chronicity risk, co-morbidity complexity, and return-to-work likelihood at FNOL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228600" y="2633472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 coordination agent — automates independent medical exam scheduling, report summarization, and functional capacity assessment integration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228600" y="2898648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Return-to-work workflow AI — monitors claimant progress, coordinates vocational rehabilitation referrals, and tracks RTW milestones against plan benchmarks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28600" y="3163824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 / medical record summarization — GenAI condenses complex attending physician statements into structured clinical summaries for claims examiners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4599432" y="2066544"/>
            <a:ext cx="4315968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599432" y="2066544"/>
            <a:ext cx="4315968" cy="27432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690872" y="2066544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 / Credit Life / Credit Disability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90872" y="2368296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deficiency automation — AI validates total loss vehicle value, outstanding loan balance, and insurance settlement to calculate accurate GAP benefit amounts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4690872" y="2633472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Involuntary unemployment claim eligibility — verifies qualifying separation reasons, waiting period compliance, and monthly benefit calculation against policy terms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4690872" y="2898648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disability benefit calculation — cross-references medical documentation, elimination period tracking, and maximum benefit period compliance automatically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4690872" y="3163824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Force-placed CPI verification — AI validates collateral insurance gaps, lender notification compliance, and retroactive coverage calculation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137160" y="3511296"/>
            <a:ext cx="4315968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137160" y="3511296"/>
            <a:ext cx="4315968" cy="274320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228600" y="3511296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Voluntary / Worksite Benefits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28600" y="3813048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experience optimizer — AI personalizes benefit recommendation sequences based on employee demographics, tenure, salary band, and prior year elections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228600" y="4078224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indemnity &amp; accident claim fast-track — automated eligibility determination, benefit calculation, and payment for standardized supplemental health claims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228600" y="4343400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insurance claim image triage — computer vision assesses submitted invoice photos and veterinary records to validate claim legitimacy and benefit amounts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228600" y="4608576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recommendation engine — ML identifies optimal voluntary product bundles per employee segment, surfacing upsell opportunities at open enrollment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4599432" y="3511296"/>
            <a:ext cx="4315968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4599432" y="3511296"/>
            <a:ext cx="4315968" cy="2743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690872" y="3511296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Reinsurance &amp; Actuarial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690872" y="3813048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 wording analysis AI — LLM extracts coverage terms, exclusions, and reporting obligations from reinsurance agreements, flagging ambiguities and gaps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4690872" y="4078224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Actuarial assumption review copilot — GenAI drafts assumption justification narratives, compares experience vs expected, and produces actuarial memo sections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4690872" y="4343400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17 / GAAP 944 compliance agent — automates CSM calculation documentation, grouping rules verification, and disclosure narrative generation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4690872" y="4608576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Bordereau processing automation — ingests bordereaux from cedants in varying formats, validates data quality, and populates treaty administration systems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Use Cases — Tier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Highest Impact · Fastest Time-to-Value · Evidence-Based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457200"/>
            <a:ext cx="8869680" cy="11887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548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USE CASES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" y="49789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Confidential  |  GenAI &amp; Agentic AI Transformation Proposal  |  Securian Insurance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778240" y="49789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37160" y="621792"/>
            <a:ext cx="2834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37160" y="621792"/>
            <a:ext cx="420624" cy="256032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37160" y="62179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12648" y="65836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Underwriting Copilot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210312" y="886968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/ Annuities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10312" y="1014984"/>
            <a:ext cx="2706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i="1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Deployed at 3+ North American life carriers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210312" y="1143000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 ingests applications, orders and interprets labs/APS, flags non-disclosure risks, validates illustration compliance (AG 49-A), and produces structured UW recommendation with full evidence chain.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0312" y="1810512"/>
            <a:ext cx="2706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Cycle time · STP rate · Underwriter capacity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081528" y="621792"/>
            <a:ext cx="2834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081528" y="621792"/>
            <a:ext cx="420624" cy="256032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081528" y="62179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557016" y="65836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 Claims Processing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3154680" y="886968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Benefits / Credit / Vehicle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154680" y="1014984"/>
            <a:ext cx="2706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i="1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Live at multiple European &amp; U.S. carriers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3154680" y="1143000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claims agent handles FNOL ingestion, document extraction, APS summarization, coverage determination, reserve recommendation, and fraud escalation — with human adjuster in the loop.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154680" y="1810512"/>
            <a:ext cx="2706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Settlement speed · Leakage reduction · STP rate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025896" y="621792"/>
            <a:ext cx="2834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025896" y="621792"/>
            <a:ext cx="420624" cy="256032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025896" y="62179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501384" y="65836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GenAI Document Intelligence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6099048" y="886968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Lines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099048" y="1014984"/>
            <a:ext cx="2706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i="1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Deployed at 5+ global insurers at scale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6099048" y="1143000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LLM extracts structured data from medical records, financial statements, bordereaux, dealer contracts, and claim documents — feeding downstream systems without manual keying at high accuracy.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99048" y="1810512"/>
            <a:ext cx="2706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Accuracy · Speed · Cost per document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37160" y="2057400"/>
            <a:ext cx="2834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137160" y="2057400"/>
            <a:ext cx="420624" cy="256032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37160" y="205740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UC-04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12648" y="2093976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 &amp; Distributor Copilot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210312" y="2322576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/ Annuities / Group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10312" y="2450592"/>
            <a:ext cx="2706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i="1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Pilot-to-production at U.S. retirement specialists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10312" y="2578608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assistant for agents and brokers: product Q&amp;A, suitability checks, FIA/IUL illustration generation, objection handling, NIGO prevention, and case submission guidance integrated into portals.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10312" y="3246120"/>
            <a:ext cx="2706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Agent productivity · NIGO rate · Time-to-quote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081528" y="2057400"/>
            <a:ext cx="2834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3081528" y="2057400"/>
            <a:ext cx="420624" cy="256032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081528" y="205740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UC-05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557016" y="2093976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Fraud Detection &amp; Investigation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3154680" y="2322576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/ Credit / Vehicle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154680" y="2450592"/>
            <a:ext cx="2706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i="1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Proven at large European &amp; U.S. carriers</a:t>
            </a:r>
            <a:endParaRPr lang="en-US" sz="680" dirty="0"/>
          </a:p>
        </p:txBody>
      </p:sp>
      <p:sp>
        <p:nvSpPr>
          <p:cNvPr id="49" name="Text 47"/>
          <p:cNvSpPr/>
          <p:nvPr/>
        </p:nvSpPr>
        <p:spPr>
          <a:xfrm>
            <a:off x="3154680" y="2578608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ML ensemble analyzes claim narrative consistency, provider billing anomalies, staged accident signals, and cross-policy patterns to surface high-probability fraud for SIU with full explainability.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154680" y="3246120"/>
            <a:ext cx="2706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Loss ratio · SIU efficiency · False positive rate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025896" y="2057400"/>
            <a:ext cx="2834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6025896" y="2057400"/>
            <a:ext cx="420624" cy="256032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025896" y="205740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UC-06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501384" y="2093976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Compliance Agent</a:t>
            </a:r>
            <a:endParaRPr lang="en-US" sz="880" dirty="0"/>
          </a:p>
        </p:txBody>
      </p:sp>
      <p:sp>
        <p:nvSpPr>
          <p:cNvPr id="55" name="Text 53"/>
          <p:cNvSpPr/>
          <p:nvPr/>
        </p:nvSpPr>
        <p:spPr>
          <a:xfrm>
            <a:off x="6099048" y="2322576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Lines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099048" y="2450592"/>
            <a:ext cx="2706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i="1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Adopted by global reinsurance-led programs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099048" y="2578608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agent tracks state filing requirements, NAIC bulletin updates, FINRA/SEC rule changes, and DOL fiduciary guidance — flagging policy wordings and rates requiring review.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099048" y="3246120"/>
            <a:ext cx="2706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Compliance velocity · Filing accuracy · Regulatory risk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37160" y="3493008"/>
            <a:ext cx="2834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137160" y="3493008"/>
            <a:ext cx="420624" cy="256032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137160" y="34930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UC-07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12648" y="3529584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Disability &amp; Return-to-Work AI</a:t>
            </a:r>
            <a:endParaRPr lang="en-US" sz="880" dirty="0"/>
          </a:p>
        </p:txBody>
      </p:sp>
      <p:sp>
        <p:nvSpPr>
          <p:cNvPr id="63" name="Text 61"/>
          <p:cNvSpPr/>
          <p:nvPr/>
        </p:nvSpPr>
        <p:spPr>
          <a:xfrm>
            <a:off x="210312" y="3758184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Benefits (STD/LTD)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210312" y="3886200"/>
            <a:ext cx="2706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i="1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Emerging across U.S. group carriers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210312" y="4014216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triage scores incoming disability claims for chronicity and co-morbidity risk at FNOL. RTW workflow agent coordinates vocational rehabilitation, IME scheduling, and functional capacity monitoring with proactive touchpoints.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210312" y="4681728"/>
            <a:ext cx="2706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Claim duration · RTW rate · Cost per claim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081528" y="3493008"/>
            <a:ext cx="2834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3081528" y="3493008"/>
            <a:ext cx="420624" cy="256032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3081528" y="34930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UC-08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3557016" y="3529584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IUL / Annuity In-Force Management</a:t>
            </a:r>
            <a:endParaRPr lang="en-US" sz="880" dirty="0"/>
          </a:p>
        </p:txBody>
      </p:sp>
      <p:sp>
        <p:nvSpPr>
          <p:cNvPr id="71" name="Text 69"/>
          <p:cNvSpPr/>
          <p:nvPr/>
        </p:nvSpPr>
        <p:spPr>
          <a:xfrm>
            <a:off x="3154680" y="3758184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/ Annuities (IUL/FIA/MYGA)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3154680" y="3886200"/>
            <a:ext cx="2706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i="1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Active at U.S. complex product specialists</a:t>
            </a:r>
            <a:endParaRPr lang="en-US" sz="680" dirty="0"/>
          </a:p>
        </p:txBody>
      </p:sp>
      <p:sp>
        <p:nvSpPr>
          <p:cNvPr id="73" name="Text 71"/>
          <p:cNvSpPr/>
          <p:nvPr/>
        </p:nvSpPr>
        <p:spPr>
          <a:xfrm>
            <a:off x="3154680" y="4014216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monitors premium adequacy, cash value stress, and lapse risk across IUL and annuity blocks. GenAI drafts personalized policyholder outreach and agent alerts for at-risk policies before they reach critical thresholds.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3154680" y="4681728"/>
            <a:ext cx="2706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Lapse reduction · Persistency · In-force revenue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6025896" y="3493008"/>
            <a:ext cx="2834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6025896" y="3493008"/>
            <a:ext cx="420624" cy="256032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6025896" y="34930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UC-09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6501384" y="3529584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Actuarial &amp; Reinsurance Intelligence</a:t>
            </a:r>
            <a:endParaRPr lang="en-US" sz="880" dirty="0"/>
          </a:p>
        </p:txBody>
      </p:sp>
      <p:sp>
        <p:nvSpPr>
          <p:cNvPr id="79" name="Text 77"/>
          <p:cNvSpPr/>
          <p:nvPr/>
        </p:nvSpPr>
        <p:spPr>
          <a:xfrm>
            <a:off x="6099048" y="3758184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Lines / Reinsurance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6099048" y="3886200"/>
            <a:ext cx="2706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i="1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Adopted by global reinsurance leaders</a:t>
            </a:r>
            <a:endParaRPr lang="en-US" sz="680" dirty="0"/>
          </a:p>
        </p:txBody>
      </p:sp>
      <p:sp>
        <p:nvSpPr>
          <p:cNvPr id="81" name="Text 79"/>
          <p:cNvSpPr/>
          <p:nvPr/>
        </p:nvSpPr>
        <p:spPr>
          <a:xfrm>
            <a:off x="6099048" y="4014216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extracts and analyzes treaty wordings, automates IFRS 17 / GAAP 944 documentation, produces actuarial assumption narratives, and streamlines bordereau processing — cutting manual actuarial workload significantly.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6099048" y="4681728"/>
            <a:ext cx="2706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Actuarial efficiency · Reserve accuracy · Reporting speed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Governance &amp; Compliance Framework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Responsible AI at Enterprise Scale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457200"/>
            <a:ext cx="8869680" cy="11887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548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" y="49789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Confidential  |  GenAI &amp; Agentic AI Transformation Proposal  |  Securian Insurance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778240" y="49789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64592" y="640080"/>
            <a:ext cx="3200400" cy="3200400"/>
          </a:xfrm>
          <a:prstGeom prst="ellipse">
            <a:avLst/>
          </a:prstGeom>
          <a:solidFill>
            <a:srgbClr val="F5C9B5"/>
          </a:solidFill>
          <a:ln w="1905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48640" y="1024128"/>
            <a:ext cx="2432304" cy="2432304"/>
          </a:xfrm>
          <a:prstGeom prst="ellipse">
            <a:avLst/>
          </a:prstGeom>
          <a:solidFill>
            <a:srgbClr val="E8713A"/>
          </a:solidFill>
          <a:ln w="1905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50976" y="1426464"/>
            <a:ext cx="1627632" cy="1627632"/>
          </a:xfrm>
          <a:prstGeom prst="ellipse">
            <a:avLst/>
          </a:prstGeom>
          <a:solidFill>
            <a:srgbClr val="D04A02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389888" y="1865376"/>
            <a:ext cx="749808" cy="74980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389888" y="18653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164592" y="65836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&amp; Legal Compliance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66928" y="10515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Risk Management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969264" y="1463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 &amp;</a:t>
            </a:r>
            <a:endParaRPr lang="en-US" sz="550" dirty="0"/>
          </a:p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137160" y="23774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NAIC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37160" y="32918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 /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CCPA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2926080" y="23774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 11-7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MRM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926080" y="32918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FINRA /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547872" y="658368"/>
            <a:ext cx="1783080" cy="4059936"/>
          </a:xfrm>
          <a:prstGeom prst="rect">
            <a:avLst/>
          </a:prstGeom>
          <a:solidFill>
            <a:srgbClr val="F4F4F4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547872" y="658368"/>
            <a:ext cx="178308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602736" y="658368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Compliance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621024" y="1005840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NAIC Model Bulletin on AI (2023) — insurer accountability for algorithmic decisions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21024" y="1627632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AI fairness and non-discrimination laws (CA, NY, CO, IL)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21024" y="2249424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FINRA/SEC oversight for variable annuity and securities-linked AI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21024" y="2871216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/ CCPA / state privacy laws for consumer data used in AI training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21024" y="3493008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 fiduciary considerations for retirement income AI recommendations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394960" y="658368"/>
            <a:ext cx="1783080" cy="4059936"/>
          </a:xfrm>
          <a:prstGeom prst="rect">
            <a:avLst/>
          </a:prstGeom>
          <a:solidFill>
            <a:srgbClr val="F4F4F4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394960" y="658368"/>
            <a:ext cx="1783080" cy="292608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449824" y="658368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Risk Management (MRM)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468112" y="1005840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11-7 / OCC 2011-12 framework adapted for LLMs and foundation models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68112" y="1627632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inventory covering all production GenAI and agentic systems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68112" y="2249424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model validation for UW, claims, and pricing AI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68112" y="2871216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Champion-challenger testing before production deployment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468112" y="3493008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drift detection with board-level revalidation triggers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242048" y="658368"/>
            <a:ext cx="1783080" cy="4059936"/>
          </a:xfrm>
          <a:prstGeom prst="rect">
            <a:avLst/>
          </a:prstGeom>
          <a:solidFill>
            <a:srgbClr val="F4F4F4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242048" y="658368"/>
            <a:ext cx="1783080" cy="292608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296912" y="658368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Ethics &amp; Fairness Controls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315200" y="1005840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class analysis across all underwriting and claims AI models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315200" y="1627632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Disparate impact testing required before any model affects adverse action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315200" y="2249424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Explainability: LIME/SHAP outputs for every regulated decision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315200" y="2871216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action notice generation with AI-driven explanation summaries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315200" y="3493008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bias monitoring dashboards with board-level reporting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Human-in-the-Loop Architecture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Human Judgment Must Remain Central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457200"/>
            <a:ext cx="8869680" cy="11887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548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" y="49789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Confidential  |  GenAI &amp; Agentic AI Transformation Proposal  |  Securian Insurance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778240" y="49789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37160" y="658368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must be designed with explicit human oversight gates — not bolted on after the fact. This is both a regulatory imperative and an ethical commitment.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37160" y="960120"/>
            <a:ext cx="2834640" cy="3749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37160" y="960120"/>
            <a:ext cx="2834640" cy="310896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92024" y="96012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— FULL AUTOMATION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28600" y="13167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Low-risk, high-volume, deterministic outcomes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1752" y="1609344"/>
            <a:ext cx="2487168" cy="128016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01752" y="1609344"/>
            <a:ext cx="2362810" cy="128016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28600" y="175564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Automation: 95%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228600" y="193852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data extraction and classification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28600" y="241401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change confirmations within defined parameters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28600" y="288950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customer service FAQ responses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28600" y="336499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calculation for standard risks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10312" y="4315968"/>
            <a:ext cx="2688336" cy="329184"/>
          </a:xfrm>
          <a:prstGeom prst="rect">
            <a:avLst/>
          </a:prstGeom>
          <a:solidFill>
            <a:srgbClr val="E8713A">
              <a:alpha val="15000"/>
            </a:srgbClr>
          </a:solidFill>
          <a:ln w="635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46888" y="433425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with full audit logging — no human in decision path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081528" y="960120"/>
            <a:ext cx="2834640" cy="3749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081528" y="960120"/>
            <a:ext cx="2834640" cy="310896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136392" y="96012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— HUMAN REVIEW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172968" y="13167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Medium-risk: AI recommends, human approves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46120" y="1609344"/>
            <a:ext cx="2487168" cy="128016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246120" y="1609344"/>
            <a:ext cx="1367942" cy="128016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172968" y="175564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Automation: 55%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3172968" y="193852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recommendations for non-standard risks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172968" y="241401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settlement above defined threshold amounts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172968" y="288950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escalation decisions forwarded to SIU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172968" y="336499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 determinations for annuity products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154680" y="4315968"/>
            <a:ext cx="2688336" cy="329184"/>
          </a:xfrm>
          <a:prstGeom prst="rect">
            <a:avLst/>
          </a:prstGeom>
          <a:solidFill>
            <a:srgbClr val="D04A02">
              <a:alpha val="15000"/>
            </a:srgbClr>
          </a:solidFill>
          <a:ln w="635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191256" y="433425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recommendation + rationale — human approves or overrides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025896" y="960120"/>
            <a:ext cx="2834640" cy="3749040"/>
          </a:xfrm>
          <a:prstGeom prst="rect">
            <a:avLst/>
          </a:prstGeom>
          <a:solidFill>
            <a:srgbClr val="FFFFFF"/>
          </a:solidFill>
          <a:ln w="1016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025896" y="960120"/>
            <a:ext cx="2834640" cy="31089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080760" y="96012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— HUMAN-LED + AI ASSIST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117336" y="13167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High-stakes, regulated, or novel decisions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90488" y="1609344"/>
            <a:ext cx="2487168" cy="128016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190488" y="1609344"/>
            <a:ext cx="373075" cy="12801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117336" y="175564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Automation: 15%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6117336" y="193852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underwriting actions requiring regulatory notice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117336" y="241401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claims settlements and coverage disputes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117336" y="288950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filing approvals and legal attestations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117336" y="336499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 committee sign-off on new AI deployment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099048" y="4315968"/>
            <a:ext cx="2688336" cy="329184"/>
          </a:xfrm>
          <a:prstGeom prst="rect">
            <a:avLst/>
          </a:prstGeom>
          <a:solidFill>
            <a:srgbClr val="1A1A1A">
              <a:alpha val="15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135624" y="433425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provides analysis only — human owns and signs the final decision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LLMOps Framework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Operationalizing AI Models in Production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457200"/>
            <a:ext cx="8869680" cy="11887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548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LLMOPS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" y="49789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Confidential  |  GenAI &amp; Agentic AI Transformation Proposal  |  Securian Insurance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778240" y="49789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37160" y="658368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 is the MLOps discipline adapted for foundation models — covering the full lifecycle from model selection through production monitoring and governance.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37160" y="950976"/>
            <a:ext cx="1700784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37160" y="950976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7240" y="822960"/>
            <a:ext cx="274320" cy="219456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77240" y="82296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837944" y="1252728"/>
            <a:ext cx="54864" cy="9144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847088" y="1225296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4A02"/>
                </a:solidFill>
              </a:rPr>
              <a:t>▶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37160" y="1673352"/>
            <a:ext cx="1700784" cy="1627632"/>
          </a:xfrm>
          <a:prstGeom prst="rect">
            <a:avLst/>
          </a:prstGeom>
          <a:solidFill>
            <a:srgbClr val="F4F4F4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10312" y="1737360"/>
            <a:ext cx="15544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benchmarking on insurance datasets — cost, latency, accuracy, compliance tradeoffs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911096" y="950976"/>
            <a:ext cx="1700784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911096" y="950976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RAG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51176" y="822960"/>
            <a:ext cx="274320" cy="219456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551176" y="82296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611880" y="1252728"/>
            <a:ext cx="54864" cy="9144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621024" y="1225296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4A02"/>
                </a:solidFill>
              </a:rPr>
              <a:t>▶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911096" y="1673352"/>
            <a:ext cx="1700784" cy="1627632"/>
          </a:xfrm>
          <a:prstGeom prst="rect">
            <a:avLst/>
          </a:prstGeom>
          <a:solidFill>
            <a:srgbClr val="F4F4F4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984248" y="1737360"/>
            <a:ext cx="15544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adaptation via RAG with policy/product corpora + selective PEFT/LoRA fine-tuning for specialized tasks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85032" y="950976"/>
            <a:ext cx="1700784" cy="658368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685032" y="950976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Testing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325112" y="822960"/>
            <a:ext cx="274320" cy="219456"/>
          </a:xfrm>
          <a:prstGeom prst="ellipse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325112" y="82296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385816" y="1252728"/>
            <a:ext cx="54864" cy="9144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394960" y="1225296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4A02"/>
                </a:solidFill>
              </a:rPr>
              <a:t>▶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85032" y="1673352"/>
            <a:ext cx="1700784" cy="1627632"/>
          </a:xfrm>
          <a:prstGeom prst="rect">
            <a:avLst/>
          </a:prstGeom>
          <a:solidFill>
            <a:srgbClr val="F4F4F4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758184" y="1737360"/>
            <a:ext cx="15544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hallucination rate, latency, fairness metrics, adversarial testing, red-teaming for insurance risks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58968" y="950976"/>
            <a:ext cx="1700784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458968" y="950976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Scaling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99048" y="822960"/>
            <a:ext cx="274320" cy="219456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099048" y="82296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159752" y="1252728"/>
            <a:ext cx="54864" cy="9144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168896" y="1225296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4A02"/>
                </a:solidFill>
              </a:rPr>
              <a:t>▶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58968" y="1673352"/>
            <a:ext cx="1700784" cy="1627632"/>
          </a:xfrm>
          <a:prstGeom prst="rect">
            <a:avLst/>
          </a:prstGeom>
          <a:solidFill>
            <a:srgbClr val="F4F4F4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532120" y="1737360"/>
            <a:ext cx="15544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pipelines, A/B testing, canary releases, rollback mechanisms, API gateway management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232904" y="950976"/>
            <a:ext cx="1700784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232904" y="950976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Drift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872984" y="822960"/>
            <a:ext cx="274320" cy="219456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872984" y="82296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7232904" y="1673352"/>
            <a:ext cx="1700784" cy="1627632"/>
          </a:xfrm>
          <a:prstGeom prst="rect">
            <a:avLst/>
          </a:prstGeom>
          <a:solidFill>
            <a:srgbClr val="F4F4F4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7306056" y="1737360"/>
            <a:ext cx="15544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output monitoring, drift detection, degradation alerts, human feedback loops, retraining triggers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37160" y="3337560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Continuous feedback loop: monitoring outputs feed back into evaluation and retraining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37160" y="3584448"/>
            <a:ext cx="283464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137160" y="3584448"/>
            <a:ext cx="2834640" cy="36576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228600" y="36484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Engineering &amp; Version Control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28600" y="3904488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prompt management, versioning, regression testing, and audit trails for all prompts used in regulated insurance decisions.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081528" y="3584448"/>
            <a:ext cx="283464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3081528" y="3584448"/>
            <a:ext cx="2834640" cy="36576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172968" y="36484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Governance &amp; FinOps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172968" y="3904488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 monitoring, cost allocation by business unit, quota management, and optimization through caching and model routing.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025896" y="3584448"/>
            <a:ext cx="283464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6025896" y="3584448"/>
            <a:ext cx="2834640" cy="36576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6117336" y="36484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Data Privacy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117336" y="3904488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 in prompts, output filtering, encryption at rest and in transit, access controls, and vendor data processing agreements.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Technology Architecture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Stack for Insurance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457200"/>
            <a:ext cx="8869680" cy="11887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548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" y="49789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Confidential  |  GenAI &amp; Agentic AI Transformation Proposal  |  Securian Insurance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778240" y="49789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37160" y="658368"/>
            <a:ext cx="1371600" cy="87782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7160" y="658368"/>
            <a:ext cx="1371600" cy="8778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Layer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0352" y="1536192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4A02"/>
                </a:solidFill>
              </a:rPr>
              <a:t>▼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572768" y="658368"/>
            <a:ext cx="6583680" cy="877824"/>
          </a:xfrm>
          <a:prstGeom prst="rect">
            <a:avLst/>
          </a:prstGeom>
          <a:solidFill>
            <a:srgbClr val="F4F4F4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664208" y="7315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copilot  ·  Claims agent  ·  Advisor assistant  ·  Compliance monitor  ·  Policy admin system connectors  ·  CRM / portal APIs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37160" y="1618488"/>
            <a:ext cx="1371600" cy="877824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37160" y="1618488"/>
            <a:ext cx="1371600" cy="8778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Layer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0352" y="2496312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4A02"/>
                </a:solidFill>
              </a:rPr>
              <a:t>▼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572768" y="1618488"/>
            <a:ext cx="6583680" cy="877824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664208" y="1691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frameworks (LangGraph / AutoGen / CrewAI)  ·  Tool-use &amp; API integration  ·  Memory management  ·  Multi-agent coordination  ·  Human-in-the-loop gates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37160" y="2578608"/>
            <a:ext cx="1371600" cy="877824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37160" y="2578608"/>
            <a:ext cx="1371600" cy="8778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Model Layer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0352" y="3456432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4A02"/>
                </a:solidFill>
              </a:rPr>
              <a:t>▼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572768" y="2578608"/>
            <a:ext cx="6583680" cy="877824"/>
          </a:xfrm>
          <a:prstGeom prst="rect">
            <a:avLst/>
          </a:prstGeom>
          <a:solidFill>
            <a:srgbClr val="F4F4F4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664208" y="2651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LLMs (open &amp; proprietary)  ·  Fine-tuned domain models  ·  Embedding models  ·  Fraud detection ML  ·  Computer vision for documents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37160" y="3538728"/>
            <a:ext cx="1371600" cy="87782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37160" y="3538728"/>
            <a:ext cx="1371600" cy="8778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Knowledge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572768" y="3538728"/>
            <a:ext cx="6583680" cy="877824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664208" y="3611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claims data lake  ·  Vector knowledge bases (RAG)  ·  Product &amp; regulatory corpora  ·  Customer 360 profiles  ·  Real-time event streams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229600" y="658368"/>
            <a:ext cx="502920" cy="384048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 rot="16200000">
            <a:off x="8229600" y="658368"/>
            <a:ext cx="502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sz="700" b="1">
                <a:solidFill>
                  <a:srgbClr val="FFFFFF"/>
                </a:solidFill>
                <a:latin typeface="Calibri"/>
              </a:rPr>
              <a:t>Governance</a:t>
            </a:r>
            <a:endParaRPr lang="en-US" sz="700" dirty="0"/>
          </a:p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Security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LLMOps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Monitoring</a:t>
            </a:r>
          </a:p>
        </p:txBody>
      </p:sp>
      <p:sp>
        <p:nvSpPr>
          <p:cNvPr id="32" name="Text 30"/>
          <p:cNvSpPr/>
          <p:nvPr/>
        </p:nvSpPr>
        <p:spPr>
          <a:xfrm>
            <a:off x="137160" y="4700016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selections are illustrative. Architecture will be validated against Securian Insurance's existing IT landscape, cloud commitments, and security standards.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Transformation Roadmap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Sub-Phases: 1A → 1B → 2A → 2B → 3A → 3B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457200"/>
            <a:ext cx="8869680" cy="11887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548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" y="49789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Confidential  |  GenAI &amp; Agentic AI Transformation Proposal  |  Securian Insurance</a:t>
            </a:r>
            <a:endParaRPr lang="en-US" sz="700" dirty="0"/>
          </a:p>
        </p:txBody>
      </p:sp>
      <p:sp>
        <p:nvSpPr>
          <p:cNvPr id="79" name="Rectangle 78"/>
          <p:cNvSpPr/>
          <p:nvPr/>
        </p:nvSpPr>
        <p:spPr>
          <a:xfrm>
            <a:off x="137160" y="658368"/>
            <a:ext cx="731520" cy="2743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82880" y="658368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700" b="1">
                <a:solidFill>
                  <a:srgbClr val="FFFFFF"/>
                </a:solidFill>
                <a:latin typeface="Calibri"/>
              </a:rPr>
              <a:t>Workstream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86968" y="658368"/>
            <a:ext cx="1341120" cy="27432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32688" y="658368"/>
            <a:ext cx="12496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1A  |  M 0–6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246376" y="658368"/>
            <a:ext cx="1341120" cy="274320"/>
          </a:xfrm>
          <a:prstGeom prst="rect">
            <a:avLst/>
          </a:prstGeom>
          <a:solidFill>
            <a:srgbClr val="C0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292095" y="658368"/>
            <a:ext cx="12496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1B  |  M 7–12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605784" y="658368"/>
            <a:ext cx="1341120" cy="274320"/>
          </a:xfrm>
          <a:prstGeom prst="rect">
            <a:avLst/>
          </a:prstGeom>
          <a:solidFill>
            <a:srgbClr val="A8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651504" y="658368"/>
            <a:ext cx="12496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2A  |  M 13–18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965192" y="658368"/>
            <a:ext cx="1341120" cy="27432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010912" y="658368"/>
            <a:ext cx="12496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2B  |  M 19–24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324599" y="658368"/>
            <a:ext cx="1341120" cy="274320"/>
          </a:xfrm>
          <a:prstGeom prst="rect">
            <a:avLst/>
          </a:prstGeom>
          <a:solidFill>
            <a:srgbClr val="6E5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370319" y="658368"/>
            <a:ext cx="12496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3A  |  M 25–30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684007" y="658368"/>
            <a:ext cx="1341120" cy="274320"/>
          </a:xfrm>
          <a:prstGeom prst="rect">
            <a:avLst/>
          </a:prstGeom>
          <a:solidFill>
            <a:srgbClr val="5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729728" y="658368"/>
            <a:ext cx="12496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3B  |  M 31–36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37160" y="960120"/>
            <a:ext cx="731520" cy="74980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82880" y="1005840"/>
            <a:ext cx="640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700" b="1">
                <a:solidFill>
                  <a:srgbClr val="FFFFFF"/>
                </a:solidFill>
                <a:latin typeface="Calibri"/>
              </a:rPr>
              <a:t>Governance</a:t>
            </a:r>
          </a:p>
          <a:p>
            <a:pPr algn="l">
              <a:spcAft>
                <a:spcPts val="100"/>
              </a:spcAft>
            </a:pPr>
            <a:r>
              <a:rPr sz="700" b="1">
                <a:solidFill>
                  <a:srgbClr val="FFFFFF"/>
                </a:solidFill>
                <a:latin typeface="Calibri"/>
              </a:rPr>
              <a:t>&amp; CoE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86968" y="960120"/>
            <a:ext cx="1341120" cy="749808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41832" y="1005840"/>
            <a:ext cx="1231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Establish AI CoE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Governance framework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NAIC gap analysis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246376" y="960120"/>
            <a:ext cx="1341120" cy="749808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301240" y="1005840"/>
            <a:ext cx="1231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Expand governance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for UW &amp; advisor AI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Model validation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605784" y="960120"/>
            <a:ext cx="1341120" cy="749808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660647" y="1005840"/>
            <a:ext cx="1231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Claims &amp; fraud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model governance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Bias audits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965192" y="960120"/>
            <a:ext cx="1341120" cy="749808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0055" y="1005840"/>
            <a:ext cx="1231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Actuarial model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governance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Reinsurance compliance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324599" y="960120"/>
            <a:ext cx="1341120" cy="749808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79463" y="1005840"/>
            <a:ext cx="1231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Cross-LOB governance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Scale operations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Enterprise monitoring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684007" y="960120"/>
            <a:ext cx="1341120" cy="749808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738872" y="1005840"/>
            <a:ext cx="1231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Transfer governance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to Securian CoE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Board-level reporting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37160" y="1737360"/>
            <a:ext cx="731520" cy="74980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82880" y="1783080"/>
            <a:ext cx="640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700" b="1">
                <a:solidFill>
                  <a:srgbClr val="FFFFFF"/>
                </a:solidFill>
                <a:latin typeface="Calibri"/>
              </a:rPr>
              <a:t>Use Cases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86968" y="1737360"/>
            <a:ext cx="134112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41832" y="1783080"/>
            <a:ext cx="1231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UC-03 Doc Intelligence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UC-06 Compliance Agent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246376" y="1737360"/>
            <a:ext cx="134112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301240" y="1783080"/>
            <a:ext cx="1231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UC-01 UW Copilot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UC-04 Advisor Copilot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05784" y="1737360"/>
            <a:ext cx="134112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660647" y="1783080"/>
            <a:ext cx="1231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UC-02 Claims Agent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UC-05 Fraud Detection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965192" y="1737360"/>
            <a:ext cx="134112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020055" y="1783080"/>
            <a:ext cx="1231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UC-07 Disability/RTW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UC-08 In-Force Mgmt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UC-09 Actuarial AI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324599" y="1737360"/>
            <a:ext cx="134112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379463" y="1783080"/>
            <a:ext cx="1231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Credit &amp; Vehicle AI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Worksite &amp; Voluntary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Cross-sell engine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684007" y="1737360"/>
            <a:ext cx="134112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738872" y="1783080"/>
            <a:ext cx="1231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Enterprise optimization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Cross-LOB intelligence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Proprietary models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37160" y="2514600"/>
            <a:ext cx="731520" cy="74980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82880" y="2560320"/>
            <a:ext cx="640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700" b="1">
                <a:solidFill>
                  <a:srgbClr val="FFFFFF"/>
                </a:solidFill>
                <a:latin typeface="Calibri"/>
              </a:rPr>
              <a:t>Data &amp;</a:t>
            </a:r>
          </a:p>
          <a:p>
            <a:pPr algn="l">
              <a:spcAft>
                <a:spcPts val="100"/>
              </a:spcAft>
            </a:pPr>
            <a:r>
              <a:rPr sz="700" b="1">
                <a:solidFill>
                  <a:srgbClr val="FFFFFF"/>
                </a:solidFill>
                <a:latin typeface="Calibri"/>
              </a:rPr>
              <a:t>Technology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86968" y="2514600"/>
            <a:ext cx="1341120" cy="749808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41832" y="2560320"/>
            <a:ext cx="1231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LLMOps platform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Vector DB &amp; RAG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Agent orchestration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246376" y="2514600"/>
            <a:ext cx="1341120" cy="749808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301240" y="2560320"/>
            <a:ext cx="1231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EHR/Rx/MVR integration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Portal integration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Platform ops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605784" y="2514600"/>
            <a:ext cx="1341120" cy="749808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660647" y="2560320"/>
            <a:ext cx="1231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Claims system integr.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Fraud ML ensemble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UW/Advisor LOB scale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965192" y="2514600"/>
            <a:ext cx="1341120" cy="749808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020055" y="2560320"/>
            <a:ext cx="1231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Disability workflows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Lapse prediction models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Treaty analysis AI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324599" y="2514600"/>
            <a:ext cx="1341120" cy="749808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379463" y="2560320"/>
            <a:ext cx="1231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Multi-agent orchestr.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Enterprise knowledge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graph + Dealer systems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684007" y="2514600"/>
            <a:ext cx="1341120" cy="749808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738872" y="2560320"/>
            <a:ext cx="1231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Performance tuning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Self-improving agents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Knowledge transfer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37160" y="3291839"/>
            <a:ext cx="731520" cy="74980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82880" y="3337559"/>
            <a:ext cx="640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700" b="1">
                <a:solidFill>
                  <a:srgbClr val="FFFFFF"/>
                </a:solidFill>
                <a:latin typeface="Calibri"/>
              </a:rPr>
              <a:t>People &amp;</a:t>
            </a:r>
          </a:p>
          <a:p>
            <a:pPr algn="l">
              <a:spcAft>
                <a:spcPts val="100"/>
              </a:spcAft>
            </a:pPr>
            <a:r>
              <a:rPr sz="700" b="1">
                <a:solidFill>
                  <a:srgbClr val="FFFFFF"/>
                </a:solidFill>
                <a:latin typeface="Calibri"/>
              </a:rPr>
              <a:t>Change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86968" y="3291839"/>
            <a:ext cx="134112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41832" y="3337559"/>
            <a:ext cx="1231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Executive sponsor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AI literacy programs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CoE charter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246376" y="3291839"/>
            <a:ext cx="134112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301240" y="3337559"/>
            <a:ext cx="1231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UW &amp; advisor training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Domain SME onboard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Pilot outcomes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605784" y="3291839"/>
            <a:ext cx="134112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660647" y="3337559"/>
            <a:ext cx="1231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Claims team training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SIU enablement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Role upskilling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965192" y="3291839"/>
            <a:ext cx="134112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020055" y="3337559"/>
            <a:ext cx="1231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Actuarial team training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Disability workflow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adoption + Metrics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324599" y="3291839"/>
            <a:ext cx="134112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379463" y="3337559"/>
            <a:ext cx="1231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Dealer/voluntary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training + Full adoption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metrics + Coaching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684007" y="3291839"/>
            <a:ext cx="134112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738872" y="3337559"/>
            <a:ext cx="1231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Securian CoE handover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Runbooks &amp; docs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404040"/>
                </a:solidFill>
                <a:latin typeface="Calibri"/>
              </a:rPr>
              <a:t>Hypercare plan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778240" y="4983480"/>
            <a:ext cx="2286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Center of Excellence &amp; Change Management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Organizational Muscle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457200"/>
            <a:ext cx="8869680" cy="11887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548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&amp; ORGANIZATION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" y="49789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Confidential  |  GenAI &amp; Agentic AI Transformation Proposal  |  Securian Insurance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778240" y="49789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37160" y="65836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CoE Structure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" y="950976"/>
            <a:ext cx="4297680" cy="594360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37160" y="950976"/>
            <a:ext cx="36576" cy="59436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37744" y="9784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Chief AI Officer / AI Governance Lead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7744" y="11887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strategy, regulatory relationships, board reporting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37160" y="1591056"/>
            <a:ext cx="429768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37160" y="1591056"/>
            <a:ext cx="36576" cy="59436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37744" y="16184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Product Owners (by line of business)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7744" y="1828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prioritization, business requirements, ROI measurement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37160" y="2231136"/>
            <a:ext cx="4297680" cy="594360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37160" y="2231136"/>
            <a:ext cx="36576" cy="59436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37744" y="22585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/ LLM Engineers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37744" y="24688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development, fine-tuning, evaluation, and deployment pipelines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37160" y="2871216"/>
            <a:ext cx="429768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37160" y="2871216"/>
            <a:ext cx="36576" cy="59436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37744" y="28986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LLMOps / Platform Engineers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37744" y="31089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monitoring, cost management, CI/CD for AI systems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7160" y="3511296"/>
            <a:ext cx="4297680" cy="594360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137160" y="3511296"/>
            <a:ext cx="36576" cy="59436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37744" y="35387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Ethics &amp; Compliance Specialists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7744" y="3749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testing, explainability, regulatory audit support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37160" y="4151376"/>
            <a:ext cx="429768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137160" y="4151376"/>
            <a:ext cx="36576" cy="59436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37744" y="41788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Management &amp; Training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37744" y="43891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adoption, training programs, resistance management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17720" y="658368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Management Imperatives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17720" y="950976"/>
            <a:ext cx="4389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617720" y="950976"/>
            <a:ext cx="36576" cy="59436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727448" y="1024128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Sponsorship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27448" y="1261872"/>
            <a:ext cx="4224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C-suite champion required for resource allocation, cultural signal-setting, and cross-functional coordination.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17720" y="1591056"/>
            <a:ext cx="4389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617720" y="1591056"/>
            <a:ext cx="36576" cy="59436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727448" y="1664208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Workforce Upskilling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27448" y="1901952"/>
            <a:ext cx="4224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literacy programs for underwriters, adjusters, and advisors. Role-specific training on working alongside AI agents.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17720" y="2231136"/>
            <a:ext cx="4389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4617720" y="2231136"/>
            <a:ext cx="36576" cy="59436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727448" y="2304288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Pilot-and-Scale Mindset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27448" y="2542032"/>
            <a:ext cx="4224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 measurable wins from pilots. Use Phase 1 outcomes to build organizational confidence for Phase 2 scale.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617720" y="2871216"/>
            <a:ext cx="4389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617720" y="2871216"/>
            <a:ext cx="36576" cy="59436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727448" y="2944368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 Communication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27448" y="3182112"/>
            <a:ext cx="4224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'AI will replace jobs' fears directly. Emphasize augmentation narrative with evidence from peer insurer experiences.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617720" y="3511296"/>
            <a:ext cx="4389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4617720" y="3511296"/>
            <a:ext cx="36576" cy="59436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727448" y="3584448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&amp; Accountability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727448" y="3822192"/>
            <a:ext cx="4224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KPIs before launch. Track not just technical metrics (accuracy, latency) but business outcomes (cycle time, NPS, loss ratio).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617720" y="4151376"/>
            <a:ext cx="4389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4617720" y="4151376"/>
            <a:ext cx="36576" cy="59436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727448" y="4224528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 &amp; Partner Ecosystem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727448" y="4462272"/>
            <a:ext cx="4224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partnerships with AI platform vendors, specialized insurtech providers, and regulatory technology firms.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Blueprint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36-Month Phased Execution Plan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2651760" cy="502920"/>
          </a:xfrm>
          <a:prstGeom prst="rect">
            <a:avLst/>
          </a:prstGeom>
          <a:solidFill>
            <a:srgbClr val="D04A02">
              <a:alpha val="20000"/>
            </a:srgbClr>
          </a:solidFill>
          <a:ln w="6350">
            <a:solidFill>
              <a:srgbClr val="D04A0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2743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1A  </a:t>
            </a:r>
            <a:pPr indent="0" marL="0">
              <a:buNone/>
            </a:pPr>
            <a:r>
              <a:rPr lang="en-US" sz="800" dirty="0">
                <a:solidFill>
                  <a:srgbClr val="F2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0–6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&amp; Core Intelligence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337560" y="2743200"/>
            <a:ext cx="2651760" cy="502920"/>
          </a:xfrm>
          <a:prstGeom prst="rect">
            <a:avLst/>
          </a:prstGeom>
          <a:solidFill>
            <a:srgbClr val="D04A02">
              <a:alpha val="20000"/>
            </a:srgbClr>
          </a:solidFill>
          <a:ln w="6350">
            <a:solidFill>
              <a:srgbClr val="D04A0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29000" y="2743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1B  </a:t>
            </a:r>
            <a:pPr indent="0" marL="0">
              <a:buNone/>
            </a:pPr>
            <a:r>
              <a:rPr lang="en-US" sz="800" dirty="0">
                <a:solidFill>
                  <a:srgbClr val="F2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29000" y="29718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&amp; Distribution AI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126480" y="2743200"/>
            <a:ext cx="2651760" cy="502920"/>
          </a:xfrm>
          <a:prstGeom prst="rect">
            <a:avLst/>
          </a:prstGeom>
          <a:solidFill>
            <a:srgbClr val="D04A02">
              <a:alpha val="20000"/>
            </a:srgbClr>
          </a:solidFill>
          <a:ln w="6350">
            <a:solidFill>
              <a:srgbClr val="D04A0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2743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2A  </a:t>
            </a:r>
            <a:pPr indent="0" marL="0">
              <a:buNone/>
            </a:pPr>
            <a:r>
              <a:rPr lang="en-US" sz="800" dirty="0">
                <a:solidFill>
                  <a:srgbClr val="F2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13–18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0" y="29718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&amp; Fraud Detection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2651760" cy="502920"/>
          </a:xfrm>
          <a:prstGeom prst="rect">
            <a:avLst/>
          </a:prstGeom>
          <a:solidFill>
            <a:srgbClr val="D04A02">
              <a:alpha val="20000"/>
            </a:srgbClr>
          </a:solidFill>
          <a:ln w="6350">
            <a:solidFill>
              <a:srgbClr val="D04A0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3383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2B  </a:t>
            </a:r>
            <a:pPr indent="0" marL="0">
              <a:buNone/>
            </a:pPr>
            <a:r>
              <a:rPr lang="en-US" sz="800" dirty="0">
                <a:solidFill>
                  <a:srgbClr val="F2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19–24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Disability, In-Force &amp; Actuarial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337560" y="3383280"/>
            <a:ext cx="2651760" cy="502920"/>
          </a:xfrm>
          <a:prstGeom prst="rect">
            <a:avLst/>
          </a:prstGeom>
          <a:solidFill>
            <a:srgbClr val="D04A02">
              <a:alpha val="20000"/>
            </a:srgbClr>
          </a:solidFill>
          <a:ln w="6350">
            <a:solidFill>
              <a:srgbClr val="D04A0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429000" y="3383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3A  </a:t>
            </a:r>
            <a:pPr indent="0" marL="0">
              <a:buNone/>
            </a:pPr>
            <a:r>
              <a:rPr lang="en-US" sz="800" dirty="0">
                <a:solidFill>
                  <a:srgbClr val="F2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25–30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36118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LOB Expansion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126480" y="3383280"/>
            <a:ext cx="2651760" cy="502920"/>
          </a:xfrm>
          <a:prstGeom prst="rect">
            <a:avLst/>
          </a:prstGeom>
          <a:solidFill>
            <a:srgbClr val="D04A02">
              <a:alpha val="20000"/>
            </a:srgbClr>
          </a:solidFill>
          <a:ln w="6350">
            <a:solidFill>
              <a:srgbClr val="D04A0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217920" y="3383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3B  </a:t>
            </a:r>
            <a:pPr indent="0" marL="0">
              <a:buNone/>
            </a:pPr>
            <a:r>
              <a:rPr lang="en-US" sz="800" dirty="0">
                <a:solidFill>
                  <a:srgbClr val="F2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31–36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36118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Enterprise &amp; Transfer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772400" y="1828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pwc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structures, use case allocation, resource requirements, deliverables, and shared asset reuse across all phases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37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1A — Foundation &amp; Core Intelligence Platform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0–6  |  Establishing the AI backbone for all subsequent phases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603504"/>
            <a:ext cx="1645920" cy="219456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1480" y="60350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BLUEPRINT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292608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960120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960120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 – 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371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Delivered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600200"/>
            <a:ext cx="1965960" cy="594360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38912" y="1636776"/>
            <a:ext cx="18196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UC-03</a:t>
            </a:r>
            <a:endParaRPr lang="en-US" sz="750" dirty="0"/>
          </a:p>
          <a:p>
            <a:pPr indent="0" marL="0">
              <a:buNone/>
            </a:pPr>
            <a:r>
              <a:rPr lang="en-US" sz="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Document Intelligence</a:t>
            </a:r>
            <a:endParaRPr lang="en-US" sz="750" dirty="0"/>
          </a:p>
          <a:p>
            <a:pPr indent="0" marL="0">
              <a:buNone/>
            </a:pPr>
            <a:r>
              <a:rPr lang="en-US" sz="6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Lines of Business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423160" y="1600200"/>
            <a:ext cx="1965960" cy="594360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496312" y="1636776"/>
            <a:ext cx="18196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UC-06</a:t>
            </a:r>
            <a:endParaRPr lang="en-US" sz="750" dirty="0"/>
          </a:p>
          <a:p>
            <a:pPr indent="0" marL="0">
              <a:buNone/>
            </a:pPr>
            <a:r>
              <a:rPr lang="en-US" sz="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 Agent</a:t>
            </a:r>
            <a:endParaRPr lang="en-US" sz="750" dirty="0"/>
          </a:p>
          <a:p>
            <a:pPr indent="0" marL="0">
              <a:buNone/>
            </a:pPr>
            <a:r>
              <a:rPr lang="en-US" sz="6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Lines of Business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0" y="1600200"/>
            <a:ext cx="4206240" cy="594360"/>
          </a:xfrm>
          <a:prstGeom prst="rect">
            <a:avLst/>
          </a:prstGeom>
          <a:solidFill>
            <a:srgbClr val="EBF5FB"/>
          </a:solidFill>
          <a:ln w="635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663440" y="16276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PLATFORM BUILD</a:t>
            </a:r>
            <a:endParaRPr lang="en-US" sz="750" dirty="0"/>
          </a:p>
          <a:p>
            <a:pPr indent="0" marL="0">
              <a:buNone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 platform  •  Vector DB &amp; RAG pipeline  •  AI Governance framework  •  Agent orchestration layer  •  CI/CD for AI models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65760" y="2331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Structure &amp; Resources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0" y="2331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16 FTE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606040"/>
            <a:ext cx="2057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65760" y="2606040"/>
            <a:ext cx="54864" cy="10972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02920" y="26060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&amp; Infrastructure Pod  (5)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286207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Technical Architect (Lead)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LLMOps / MLOps Engineers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Data Engineer (Vector DB &amp; RAG)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Cloud / DevOps Engineer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542032" y="2606040"/>
            <a:ext cx="2057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2542032" y="2606040"/>
            <a:ext cx="54864" cy="109728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679192" y="26060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Intelligence Pod  (5)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679192" y="286207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AI/ML Lead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GenAI Engineers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Data Engineer (Medical/Financial docs)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QA &amp; Validation Specialist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718304" y="2606040"/>
            <a:ext cx="2057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718304" y="2606040"/>
            <a:ext cx="54864" cy="109728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855464" y="26060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Compliance Pod  (3)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55464" y="286207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AI Governance Lead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Insurance Regulatory SME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Compliance Analyst (NAIC/State)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894576" y="2606040"/>
            <a:ext cx="1883664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894576" y="2606040"/>
            <a:ext cx="54864" cy="1097280"/>
          </a:xfrm>
          <a:prstGeom prst="rect">
            <a:avLst/>
          </a:prstGeom>
          <a:solidFill>
            <a:srgbClr val="2E4053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031736" y="260604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Leadership  (3)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031736" y="2862072"/>
            <a:ext cx="16550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Engagement Partner (fractional)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Program Manager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Solution Architect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65760" y="3840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Deliverables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4069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Document Intelligence engine (medical records, APS, financial statements, bordereaux)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 monitoring agent (Federal Register, TDI, CDI, OFAC)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 platform with model registry, prompt versioning, drift detection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572000" y="40690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knowledge bases: policy documents, product corpora, regulatory corpus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framework: MRM policy, bias testing protocol, RACI, escalation matrix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framework with human-in-the-loop gates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65760" y="4645152"/>
            <a:ext cx="8412480" cy="0"/>
          </a:xfrm>
          <a:prstGeom prst="line">
            <a:avLst/>
          </a:prstGeom>
          <a:noFill/>
          <a:ln w="19050">
            <a:solidFill>
              <a:srgbClr val="D04A02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36576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 Confidential  |  GenAI &amp; Agentic AI Delivery Blueprint  |  Securian Insurance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37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1B — Underwriting &amp; Distribution AI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7–12  |  First revenue-impacting AI agents in production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603504"/>
            <a:ext cx="1645920" cy="219456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1480" y="60350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BLUEPRINT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292608"/>
          </a:xfrm>
          <a:prstGeom prst="rect">
            <a:avLst/>
          </a:prstGeom>
          <a:solidFill>
            <a:srgbClr val="E06B2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960120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960120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 – 12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371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Delivered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600200"/>
            <a:ext cx="1965960" cy="594360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38912" y="1636776"/>
            <a:ext cx="18196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UC-01</a:t>
            </a:r>
            <a:endParaRPr lang="en-US" sz="750" dirty="0"/>
          </a:p>
          <a:p>
            <a:pPr indent="0" marL="0">
              <a:buNone/>
            </a:pPr>
            <a:r>
              <a:rPr lang="en-US" sz="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Underwriting Copilot</a:t>
            </a:r>
            <a:endParaRPr lang="en-US" sz="750" dirty="0"/>
          </a:p>
          <a:p>
            <a:pPr indent="0" marL="0">
              <a:buNone/>
            </a:pPr>
            <a:r>
              <a:rPr lang="en-US" sz="6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/ Annuities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423160" y="1600200"/>
            <a:ext cx="1965960" cy="594360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496312" y="1636776"/>
            <a:ext cx="18196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UC-04</a:t>
            </a:r>
            <a:endParaRPr lang="en-US" sz="750" dirty="0"/>
          </a:p>
          <a:p>
            <a:pPr indent="0" marL="0">
              <a:buNone/>
            </a:pPr>
            <a:r>
              <a:rPr lang="en-US" sz="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&amp; Distributor Copilot</a:t>
            </a:r>
            <a:endParaRPr lang="en-US" sz="750" dirty="0"/>
          </a:p>
          <a:p>
            <a:pPr indent="0" marL="0">
              <a:buNone/>
            </a:pPr>
            <a:r>
              <a:rPr lang="en-US" sz="6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/ Annuities / Group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0" y="1600200"/>
            <a:ext cx="4206240" cy="594360"/>
          </a:xfrm>
          <a:prstGeom prst="rect">
            <a:avLst/>
          </a:prstGeom>
          <a:solidFill>
            <a:srgbClr val="F5EEF8"/>
          </a:solidFill>
          <a:ln w="635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663440" y="16276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REUSES FROM PHASE 1A</a:t>
            </a:r>
            <a:endParaRPr lang="en-US" sz="750" dirty="0"/>
          </a:p>
          <a:p>
            <a:pPr indent="0" marL="0">
              <a:buNone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engine (APS/EHR extraction)  •  Vector DB (policy &amp; product corpora)  •  LLMOps platform  •  Governance framework  •  Agent orchestration layer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65760" y="2331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Structure &amp; Resources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0" y="2331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18 FTE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606040"/>
            <a:ext cx="2057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65760" y="2606040"/>
            <a:ext cx="54864" cy="109728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02920" y="26060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UW Copilot Pod  (6)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286207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AI/ML Lead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GenAI Engineers (agent development)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UW Domain SME (Life &amp; Annuity)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Data Engineer (EHR/Rx/MVR integration)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QA &amp; Validation Specialist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542032" y="2606040"/>
            <a:ext cx="2057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2542032" y="2606040"/>
            <a:ext cx="54864" cy="109728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679192" y="26060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 Copilot Pod  (6)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679192" y="286207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AI/ML Lead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GenAI Engineers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Distribution / Suitability SME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Frontend / Portal Developer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QA &amp; Validation Specialist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718304" y="2606040"/>
            <a:ext cx="2057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718304" y="2606040"/>
            <a:ext cx="54864" cy="10972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855464" y="26060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Ops  (3)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55464" y="286207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Technical Architect (ongoing)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LLMOps Engineer (ongoing)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DevOps / Cloud Engineer (ongoing)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platform, Vector DB, monitoring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894576" y="2606040"/>
            <a:ext cx="1883664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894576" y="2606040"/>
            <a:ext cx="54864" cy="1097280"/>
          </a:xfrm>
          <a:prstGeom prst="rect">
            <a:avLst/>
          </a:prstGeom>
          <a:solidFill>
            <a:srgbClr val="2E4053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031736" y="260604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Leadership  (3)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031736" y="2862072"/>
            <a:ext cx="16550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Engagement Partner (fractional)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Program Manager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Solution Architect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65760" y="3840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Deliverables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4069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UW system: app triage, labs/APS interpretation, non-disclosure flagging, AG 49-A compliance, structured recommendation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copilot: product Q&amp;A, suitability checks, illustration generation, NIGO prevention, case submission guidance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572000" y="40690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agent integrated with core admin system and doc intelligence pipeline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portal integration (agent/broker facing) with human-in-the-loop approval gates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65760" y="4645152"/>
            <a:ext cx="8412480" cy="0"/>
          </a:xfrm>
          <a:prstGeom prst="line">
            <a:avLst/>
          </a:prstGeom>
          <a:noFill/>
          <a:ln w="19050">
            <a:solidFill>
              <a:srgbClr val="D04A02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36576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 Confidential  |  GenAI &amp; Agentic AI Delivery Blueprint  |  Securian Insurance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37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2A — Claims Automation &amp; Fraud Detection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13–18  |  Reducing loss leakage and accelerating settlement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603504"/>
            <a:ext cx="1645920" cy="219456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1480" y="60350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BLUEPRINT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292608"/>
          </a:xfrm>
          <a:prstGeom prst="rect">
            <a:avLst/>
          </a:prstGeom>
          <a:solidFill>
            <a:srgbClr val="B85C1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960120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960120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13 – 18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371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Delivered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600200"/>
            <a:ext cx="2651760" cy="594360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38912" y="1636776"/>
            <a:ext cx="25054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UC-02</a:t>
            </a:r>
            <a:endParaRPr lang="en-US" sz="750" dirty="0"/>
          </a:p>
          <a:p>
            <a:pPr indent="0" marL="0">
              <a:buNone/>
            </a:pPr>
            <a:r>
              <a:rPr lang="en-US" sz="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Claims Processing</a:t>
            </a:r>
            <a:endParaRPr lang="en-US" sz="750" dirty="0"/>
          </a:p>
          <a:p>
            <a:pPr indent="0" marL="0">
              <a:buNone/>
            </a:pPr>
            <a:r>
              <a:rPr lang="en-US" sz="6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Benefits / Credit / Vehicle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154680" y="1600200"/>
            <a:ext cx="2651760" cy="594360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227832" y="1636776"/>
            <a:ext cx="25054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UC-05</a:t>
            </a:r>
            <a:endParaRPr lang="en-US" sz="750" dirty="0"/>
          </a:p>
          <a:p>
            <a:pPr indent="0" marL="0">
              <a:buNone/>
            </a:pPr>
            <a:r>
              <a:rPr lang="en-US" sz="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Fraud Detection &amp; Investigation</a:t>
            </a:r>
            <a:endParaRPr lang="en-US" sz="750" dirty="0"/>
          </a:p>
          <a:p>
            <a:pPr indent="0" marL="0">
              <a:buNone/>
            </a:pPr>
            <a:r>
              <a:rPr lang="en-US" sz="6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/ Credit / Vehicle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989320" y="1600200"/>
            <a:ext cx="2788920" cy="594360"/>
          </a:xfrm>
          <a:prstGeom prst="rect">
            <a:avLst/>
          </a:prstGeom>
          <a:solidFill>
            <a:srgbClr val="F5EEF8"/>
          </a:solidFill>
          <a:ln w="635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035040" y="16276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REUSES FROM 1A + 1B</a:t>
            </a:r>
            <a:endParaRPr lang="en-US" sz="750" dirty="0"/>
          </a:p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Intelligence  •  Vector DB  •  LLMOps  •  Agent framework  •  Governance  •  UW data feeds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65760" y="2331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Structure &amp; Resources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0" y="2331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19 FTE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606040"/>
            <a:ext cx="2057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65760" y="2606040"/>
            <a:ext cx="54864" cy="109728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02920" y="26060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Processing Pod  (6)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286207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AI/ML Lead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GenAI Engineers (claims agents)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Claims Domain SME (Life/Group/Credit)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Data Engineer (claims system integration)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QA &amp; Validation Specialist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542032" y="2606040"/>
            <a:ext cx="2057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2542032" y="2606040"/>
            <a:ext cx="54864" cy="109728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679192" y="26060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Detection Pod  (5)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679192" y="286207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AI/ML Lead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ML Engineers (ensemble models)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SIU / Fraud Domain SME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Data Engineer (pattern analysis)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718304" y="2606040"/>
            <a:ext cx="2057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718304" y="2606040"/>
            <a:ext cx="54864" cy="10972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855464" y="26060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UW/Advisor Ops &amp; Scale  (2)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55464" y="286207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GenAI Engineer (UW copilot expansion to group/credit lines)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GenAI Engineer (advisor copilot LOB extension)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Phase 1B agents to new LOBs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894576" y="2606040"/>
            <a:ext cx="1883664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894576" y="2606040"/>
            <a:ext cx="54864" cy="1097280"/>
          </a:xfrm>
          <a:prstGeom prst="rect">
            <a:avLst/>
          </a:prstGeom>
          <a:solidFill>
            <a:srgbClr val="2E4053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031736" y="260604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+ Program  (6)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031736" y="2862072"/>
            <a:ext cx="16550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Technical Architect (ongoing)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Engagement Partner (fractional)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Program Mgr + 1 Solution Architect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LLMOps Engineer (ongoing)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DevOps Engineer (ongoing)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65760" y="3840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Deliverables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4069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claims system: FNOL ingestion, doc extraction, APS summarization, coverage determination, reserve recommendation, fraud escalation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ML+LLM fraud ensemble: claim narrative analysis, billing anomaly detection, staged accident signals, cross-policy pattern matching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572000" y="40690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SIU dashboard with full explainability (LIME/SHAP) for flagged claims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Copilot extended to Group Benefits &amp; Credit Life lines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Copilot extended to Group enrollment &amp; credit protection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65760" y="4645152"/>
            <a:ext cx="8412480" cy="0"/>
          </a:xfrm>
          <a:prstGeom prst="line">
            <a:avLst/>
          </a:prstGeom>
          <a:noFill/>
          <a:ln w="19050">
            <a:solidFill>
              <a:srgbClr val="D04A02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36576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 Confidential  |  GenAI &amp; Agentic AI Delivery Blueprint  |  Securian Insurance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37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2B — Disability, In-Force &amp; Actuarial Intelligence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19–24  |  Deep product-specific AI and actuarial automation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603504"/>
            <a:ext cx="1645920" cy="219456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1480" y="60350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BLUEPRINT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292608"/>
          </a:xfrm>
          <a:prstGeom prst="rect">
            <a:avLst/>
          </a:prstGeom>
          <a:solidFill>
            <a:srgbClr val="CC7A3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960120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960120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19 – 24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371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Delivered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600200"/>
            <a:ext cx="1828800" cy="594360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38912" y="1636776"/>
            <a:ext cx="16824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UC-07</a:t>
            </a:r>
            <a:endParaRPr lang="en-US" sz="750" dirty="0"/>
          </a:p>
          <a:p>
            <a:pPr indent="0" marL="0">
              <a:buNone/>
            </a:pPr>
            <a:r>
              <a:rPr lang="en-US" sz="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Disability &amp; RTW AI</a:t>
            </a:r>
            <a:endParaRPr lang="en-US" sz="750" dirty="0"/>
          </a:p>
          <a:p>
            <a:pPr indent="0" marL="0">
              <a:buNone/>
            </a:pPr>
            <a:r>
              <a:rPr lang="en-US" sz="6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STD/LTD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0" y="1600200"/>
            <a:ext cx="2011680" cy="594360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359152" y="1636776"/>
            <a:ext cx="18653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UC-08</a:t>
            </a:r>
            <a:endParaRPr lang="en-US" sz="750" dirty="0"/>
          </a:p>
          <a:p>
            <a:pPr indent="0" marL="0">
              <a:buNone/>
            </a:pPr>
            <a:r>
              <a:rPr lang="en-US" sz="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IUL/Annuity In-Force Mgmt</a:t>
            </a:r>
            <a:endParaRPr lang="en-US" sz="750" dirty="0"/>
          </a:p>
          <a:p>
            <a:pPr indent="0" marL="0">
              <a:buNone/>
            </a:pPr>
            <a:r>
              <a:rPr lang="en-US" sz="6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/ Annuities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389120" y="1600200"/>
            <a:ext cx="2011680" cy="594360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462272" y="1636776"/>
            <a:ext cx="18653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UC-09</a:t>
            </a:r>
            <a:endParaRPr lang="en-US" sz="750" dirty="0"/>
          </a:p>
          <a:p>
            <a:pPr indent="0" marL="0">
              <a:buNone/>
            </a:pPr>
            <a:r>
              <a:rPr lang="en-US" sz="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Actuarial &amp; Reinsurance Intel</a:t>
            </a:r>
            <a:endParaRPr lang="en-US" sz="750" dirty="0"/>
          </a:p>
          <a:p>
            <a:pPr indent="0" marL="0">
              <a:buNone/>
            </a:pPr>
            <a:r>
              <a:rPr lang="en-US" sz="6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Lines / Reinsurance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537960" y="1600200"/>
            <a:ext cx="2240280" cy="594360"/>
          </a:xfrm>
          <a:prstGeom prst="rect">
            <a:avLst/>
          </a:prstGeom>
          <a:solidFill>
            <a:srgbClr val="F5EEF8"/>
          </a:solidFill>
          <a:ln w="635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583680" y="16276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REUSES FROM 1A–2A</a:t>
            </a:r>
            <a:endParaRPr lang="en-US" sz="750" dirty="0"/>
          </a:p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shared platform assets + Doc Intel + Claims agents + UW data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65760" y="2331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Structure &amp; Resources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0" y="2331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20 FTE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606040"/>
            <a:ext cx="1828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365760" y="2606040"/>
            <a:ext cx="54864" cy="109728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02920" y="2606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Disability &amp; RTW Pod  (5)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2862072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AI/ML Lead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GenAI Engineers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Group Benefits / Disability SME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QA Specialist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286000" y="2606040"/>
            <a:ext cx="19659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2286000" y="2606040"/>
            <a:ext cx="54864" cy="109728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423160" y="26060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In-Force Management Pod  (5)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423160" y="2862072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AI/ML Lead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GenAI Engineers (lapse/premium models)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Life/Annuity Product SME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Data Engineer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343400" y="2606040"/>
            <a:ext cx="19659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343400" y="2606040"/>
            <a:ext cx="54864" cy="109728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480560" y="26060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Actuarial &amp; Reinsurance Pod  (4)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480560" y="2862072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AI/ML Lead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GenAI Engineer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Actuarial / Reinsurance SME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Data Engineer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400800" y="2606040"/>
            <a:ext cx="23774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400800" y="2606040"/>
            <a:ext cx="54864" cy="1097280"/>
          </a:xfrm>
          <a:prstGeom prst="rect">
            <a:avLst/>
          </a:prstGeom>
          <a:solidFill>
            <a:srgbClr val="2E4053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537960" y="2606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+ Program  (6)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537960" y="2862072"/>
            <a:ext cx="2148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Technical Architect (ongoing)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Engagement Partner (fractional)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Program Mgr + 1 Solution Architect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LLMOps Engineer (ongoing)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DevOps Engineer (ongoing)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65760" y="3840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Deliverables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069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Disability predictive triage + RTW workflow agent (IME scheduling, vocational rehab, milestone tracking)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IUL/Annuity in-force monitoring: premium adequacy, cash value stress, lapse prediction, personalized outreach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572000" y="40690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 wording AI, IFRS 17/GAAP 944 compliance agent, actuarial assumption copilot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Bordereau processing automation, reserve adequacy analysis, experience study acceleration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65760" y="4645152"/>
            <a:ext cx="8412480" cy="0"/>
          </a:xfrm>
          <a:prstGeom prst="line">
            <a:avLst/>
          </a:prstGeom>
          <a:noFill/>
          <a:ln w="19050">
            <a:solidFill>
              <a:srgbClr val="D04A02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6576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 Confidential  |  GenAI &amp; Agentic AI Delivery Blueprint  |  Securian Insurance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37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3A — Enterprise LOB Expansion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25–30  |  Extending AI to Credit, Vehicle &amp; Voluntary lines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603504"/>
            <a:ext cx="1645920" cy="219456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1480" y="60350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BLUEPRINT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292608"/>
          </a:xfrm>
          <a:prstGeom prst="rect">
            <a:avLst/>
          </a:prstGeom>
          <a:solidFill>
            <a:srgbClr val="8B691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960120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960120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25 – 30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371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Delivered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600200"/>
            <a:ext cx="2651760" cy="594360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38912" y="1636776"/>
            <a:ext cx="25054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LOB EXP</a:t>
            </a:r>
            <a:endParaRPr lang="en-US" sz="750" dirty="0"/>
          </a:p>
          <a:p>
            <a:pPr indent="0" marL="0">
              <a:buNone/>
            </a:pPr>
            <a:r>
              <a:rPr lang="en-US" sz="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&amp; Vehicle AI Suite</a:t>
            </a:r>
            <a:endParaRPr lang="en-US" sz="750" dirty="0"/>
          </a:p>
          <a:p>
            <a:pPr indent="0" marL="0">
              <a:buNone/>
            </a:pPr>
            <a:r>
              <a:rPr lang="en-US" sz="6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/ CPI / Credit Life / VSC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154680" y="1600200"/>
            <a:ext cx="2651760" cy="594360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227832" y="1636776"/>
            <a:ext cx="25054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LOB EXP</a:t>
            </a:r>
            <a:endParaRPr lang="en-US" sz="750" dirty="0"/>
          </a:p>
          <a:p>
            <a:pPr indent="0" marL="0">
              <a:buNone/>
            </a:pPr>
            <a:r>
              <a:rPr lang="en-US" sz="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Worksite &amp; Voluntary Benefits AI</a:t>
            </a:r>
            <a:endParaRPr lang="en-US" sz="750" dirty="0"/>
          </a:p>
          <a:p>
            <a:pPr indent="0" marL="0">
              <a:buNone/>
            </a:pPr>
            <a:r>
              <a:rPr lang="en-US" sz="6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 Health / Accident / Pet / ID Theft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989320" y="1600200"/>
            <a:ext cx="2788920" cy="594360"/>
          </a:xfrm>
          <a:prstGeom prst="rect">
            <a:avLst/>
          </a:prstGeom>
          <a:solidFill>
            <a:srgbClr val="EBF5FB"/>
          </a:solidFill>
          <a:ln w="635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035040" y="16276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ORCHESTRATION</a:t>
            </a:r>
            <a:endParaRPr lang="en-US" sz="750" dirty="0"/>
          </a:p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Cross-LOB agent coordination  •  Shared tool library  •  Enterprise knowledge graph  •  Unified monitoring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65760" y="2331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Structure &amp; Resources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0" y="2331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19 FTE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606040"/>
            <a:ext cx="2057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65760" y="2606040"/>
            <a:ext cx="54864" cy="109728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02920" y="26060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&amp; Vehicle Pod  (6)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286207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AI/ML Lead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GenAI Engineers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Credit / Vehicle / Dealer SME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Data Engineer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QA Specialist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542032" y="2606040"/>
            <a:ext cx="2057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2542032" y="2606040"/>
            <a:ext cx="54864" cy="109728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679192" y="26060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Worksite &amp; Voluntary Pod  (5)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679192" y="286207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AI/ML Lead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GenAI Engineers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Voluntary Benefits SME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QA Specialist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718304" y="2606040"/>
            <a:ext cx="2057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718304" y="2606040"/>
            <a:ext cx="54864" cy="10972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855464" y="26060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Orchestration  (5)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55464" y="286207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Technical Architect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Senior GenAI Engineers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LLMOps Engineer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DevOps Engineer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894576" y="2606040"/>
            <a:ext cx="1883664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894576" y="2606040"/>
            <a:ext cx="54864" cy="1097280"/>
          </a:xfrm>
          <a:prstGeom prst="rect">
            <a:avLst/>
          </a:prstGeom>
          <a:solidFill>
            <a:srgbClr val="2E4053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031736" y="260604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Leadership  (3)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031736" y="2862072"/>
            <a:ext cx="16550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Engagement Partner (fractional)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Program Manager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Solution Architect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65760" y="3840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Deliverables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4069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deficiency automation, CPI verification, credit disability benefit calculation, VSC repair claim triage, dealer F&amp;I copilot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optimizer, hospital indemnity fast-track, pet claim image triage, cross-sell recommendation engine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572000" y="40690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multi-agent orchestration: cross-LOB coordination, shared tool registry, unified monitoring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graph linking all LOB vector stores, regulatory corpus, and customer 360 data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65760" y="4645152"/>
            <a:ext cx="8412480" cy="0"/>
          </a:xfrm>
          <a:prstGeom prst="line">
            <a:avLst/>
          </a:prstGeom>
          <a:noFill/>
          <a:ln w="19050">
            <a:solidFill>
              <a:srgbClr val="D04A02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36576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 Confidential  |  GenAI &amp; Agentic AI Delivery Blueprint  |  Securian Insurance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37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3B — Intelligent Enterprise &amp; Knowledge Transfer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31–36  |  Full autonomy, optimization &amp; client enablement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603504"/>
            <a:ext cx="1645920" cy="219456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1480" y="60350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BLUEPRINT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292608"/>
          </a:xfrm>
          <a:prstGeom prst="rect">
            <a:avLst/>
          </a:prstGeom>
          <a:solidFill>
            <a:srgbClr val="A0803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960120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960120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31 – 36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371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600200"/>
            <a:ext cx="2697480" cy="731520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38912" y="1627632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Optimization</a:t>
            </a:r>
            <a:endParaRPr lang="en-US" sz="850" dirty="0"/>
          </a:p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cross-LOB analytics  •  Proprietary insurance AI models  •  Self-improving agent loops  •  Performance tuning across all 9 UCs + LOB extensions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0" y="1600200"/>
            <a:ext cx="2697480" cy="731520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273552" y="1627632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Cross-LOB Intelligence</a:t>
            </a:r>
            <a:endParaRPr lang="en-US" sz="850" dirty="0"/>
          </a:p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customer 360 AI  •  Cross-sell/upsell engine across Life, Annuity, Group, Credit  •  Enterprise-wide fraud pattern intelligence  •  Consolidated regulatory radar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35040" y="1600200"/>
            <a:ext cx="2697480" cy="731520"/>
          </a:xfrm>
          <a:prstGeom prst="rect">
            <a:avLst/>
          </a:prstGeom>
          <a:solidFill>
            <a:srgbClr val="F5F5F5"/>
          </a:solidFill>
          <a:ln w="508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08192" y="1627632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Transfer &amp; Enablement</a:t>
            </a:r>
            <a:endParaRPr lang="en-US" sz="850" dirty="0"/>
          </a:p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&amp; runbooks  •  Securian CoE team training  •  Operational handover  •  12-month hypercare support plan  •  Innovation roadmap for Year 3+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2468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Structure &amp; Resources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0" y="2468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17 FTE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20574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65760" y="2743200"/>
            <a:ext cx="54864" cy="105156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02920" y="27432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Optimization Pod  (4)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2999232"/>
            <a:ext cx="1828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AI Architect (Senior)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Senior GenAI Engineers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Data Scientist (cross-LOB analytics)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542032" y="2743200"/>
            <a:ext cx="20574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2542032" y="2743200"/>
            <a:ext cx="54864" cy="105156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679192" y="27432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Cross-LOB Intelligence Pod  (4)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679192" y="2999232"/>
            <a:ext cx="1828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AI/ML Lead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GenAI Engineers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Insurance Domain SME (multi-LOB)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718304" y="2743200"/>
            <a:ext cx="20574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718304" y="2743200"/>
            <a:ext cx="54864" cy="105156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855464" y="27432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Transfer Pod  (4)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55464" y="2999232"/>
            <a:ext cx="1828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Change Management Lead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Training &amp; Enablement Specialist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Technical Writer / Doc Specialist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AI Governance Transition Lead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894576" y="2743200"/>
            <a:ext cx="1883664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894576" y="2743200"/>
            <a:ext cx="54864" cy="1051560"/>
          </a:xfrm>
          <a:prstGeom prst="rect">
            <a:avLst/>
          </a:prstGeom>
          <a:solidFill>
            <a:srgbClr val="2E4053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031736" y="274320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+ Program  (5)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031736" y="2999232"/>
            <a:ext cx="16550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Engagement Partner (fractional)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Program Manager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Solution Architect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LLMOps Engineer</a:t>
            </a:r>
            <a:endParaRPr lang="en-US" sz="7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DevOps Engineer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65760" y="39319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Deliverables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41330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operating model fully operational across all LOBs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Securian AI CoE independently managing all production AI systems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572000" y="4133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operational documentation, runbooks, and training materials</a:t>
            </a:r>
            <a:endParaRPr lang="en-US" sz="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hypercare plan with SLA and escalation framework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65760" y="4645152"/>
            <a:ext cx="8412480" cy="0"/>
          </a:xfrm>
          <a:prstGeom prst="line">
            <a:avLst/>
          </a:prstGeom>
          <a:noFill/>
          <a:ln w="19050">
            <a:solidFill>
              <a:srgbClr val="D04A02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36576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 Confidential  |  GenAI &amp; Agentic AI Delivery Blueprint  |  Securian Insurance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37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Assets &amp; Cross-Phase Reuse Map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once, reuse everywhere — maximizing investment efficiency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603504"/>
            <a:ext cx="1645920" cy="219456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1480" y="60350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BLUEPRINT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011680" cy="27432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5760" y="1005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Asset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377440" y="1005840"/>
            <a:ext cx="1097280" cy="27432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377440" y="1005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474720" y="1005840"/>
            <a:ext cx="1097280" cy="27432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74720" y="1005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1B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1005840"/>
            <a:ext cx="1097280" cy="27432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0" y="1005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669280" y="1005840"/>
            <a:ext cx="1097280" cy="27432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669280" y="1005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2B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66560" y="1005840"/>
            <a:ext cx="1097280" cy="27432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66560" y="1005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3A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863840" y="1005840"/>
            <a:ext cx="1097280" cy="27432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863840" y="1005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1280160"/>
            <a:ext cx="20116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11480" y="12801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 Platform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(Model registry, prompt versioning, CI/CD, drift detection)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2377440" y="1280160"/>
            <a:ext cx="1097280" cy="310896"/>
          </a:xfrm>
          <a:prstGeom prst="rect">
            <a:avLst/>
          </a:prstGeom>
          <a:solidFill>
            <a:srgbClr val="D04A02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377440" y="12801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474720" y="1280160"/>
            <a:ext cx="1097280" cy="310896"/>
          </a:xfrm>
          <a:prstGeom prst="rect">
            <a:avLst/>
          </a:prstGeom>
          <a:solidFill>
            <a:srgbClr val="E8F8E8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474720" y="12801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572000" y="1280160"/>
            <a:ext cx="1097280" cy="310896"/>
          </a:xfrm>
          <a:prstGeom prst="rect">
            <a:avLst/>
          </a:prstGeom>
          <a:solidFill>
            <a:srgbClr val="E8F8E8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572000" y="12801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669280" y="1280160"/>
            <a:ext cx="1097280" cy="310896"/>
          </a:xfrm>
          <a:prstGeom prst="rect">
            <a:avLst/>
          </a:prstGeom>
          <a:solidFill>
            <a:srgbClr val="E8F8E8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669280" y="12801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766560" y="1280160"/>
            <a:ext cx="1097280" cy="310896"/>
          </a:xfrm>
          <a:prstGeom prst="rect">
            <a:avLst/>
          </a:prstGeom>
          <a:solidFill>
            <a:srgbClr val="E8F8E8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766560" y="12801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7863840" y="1280160"/>
            <a:ext cx="1097280" cy="310896"/>
          </a:xfrm>
          <a:prstGeom prst="rect">
            <a:avLst/>
          </a:prstGeom>
          <a:solidFill>
            <a:srgbClr val="E8F8E8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863840" y="12801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65760" y="1591056"/>
            <a:ext cx="2011680" cy="310896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11480" y="159105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&amp; RAG Knowledge Bases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(Policy docs, product corpora, regulatory corpus)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377440" y="1591056"/>
            <a:ext cx="1097280" cy="310896"/>
          </a:xfrm>
          <a:prstGeom prst="rect">
            <a:avLst/>
          </a:prstGeom>
          <a:solidFill>
            <a:srgbClr val="D04A02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377440" y="159105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474720" y="1591056"/>
            <a:ext cx="1097280" cy="310896"/>
          </a:xfrm>
          <a:prstGeom prst="rect">
            <a:avLst/>
          </a:prstGeom>
          <a:solidFill>
            <a:srgbClr val="E8F8E8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474720" y="159105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572000" y="1591056"/>
            <a:ext cx="1097280" cy="310896"/>
          </a:xfrm>
          <a:prstGeom prst="rect">
            <a:avLst/>
          </a:prstGeom>
          <a:solidFill>
            <a:srgbClr val="E8F8E8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572000" y="159105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669280" y="1591056"/>
            <a:ext cx="1097280" cy="310896"/>
          </a:xfrm>
          <a:prstGeom prst="rect">
            <a:avLst/>
          </a:prstGeom>
          <a:solidFill>
            <a:srgbClr val="E8F8E8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669280" y="159105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766560" y="1591056"/>
            <a:ext cx="1097280" cy="310896"/>
          </a:xfrm>
          <a:prstGeom prst="rect">
            <a:avLst/>
          </a:prstGeom>
          <a:solidFill>
            <a:srgbClr val="FFF3E0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766560" y="159105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863840" y="1591056"/>
            <a:ext cx="1097280" cy="310896"/>
          </a:xfrm>
          <a:prstGeom prst="rect">
            <a:avLst/>
          </a:prstGeom>
          <a:solidFill>
            <a:srgbClr val="E8F8E8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863840" y="159105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65760" y="1901952"/>
            <a:ext cx="20116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411480" y="19019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Framework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(MRM policy, bias testing, RACI, escalation matrix)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2377440" y="1901952"/>
            <a:ext cx="1097280" cy="310896"/>
          </a:xfrm>
          <a:prstGeom prst="rect">
            <a:avLst/>
          </a:prstGeom>
          <a:solidFill>
            <a:srgbClr val="D04A02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2377440" y="19019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3474720" y="1901952"/>
            <a:ext cx="1097280" cy="310896"/>
          </a:xfrm>
          <a:prstGeom prst="rect">
            <a:avLst/>
          </a:prstGeom>
          <a:solidFill>
            <a:srgbClr val="E8F8E8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3474720" y="19019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4572000" y="1901952"/>
            <a:ext cx="1097280" cy="310896"/>
          </a:xfrm>
          <a:prstGeom prst="rect">
            <a:avLst/>
          </a:prstGeom>
          <a:solidFill>
            <a:srgbClr val="E8F8E8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4572000" y="19019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669280" y="1901952"/>
            <a:ext cx="1097280" cy="310896"/>
          </a:xfrm>
          <a:prstGeom prst="rect">
            <a:avLst/>
          </a:prstGeom>
          <a:solidFill>
            <a:srgbClr val="E8F8E8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5669280" y="19019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766560" y="1901952"/>
            <a:ext cx="1097280" cy="310896"/>
          </a:xfrm>
          <a:prstGeom prst="rect">
            <a:avLst/>
          </a:prstGeom>
          <a:solidFill>
            <a:srgbClr val="E8F8E8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6766560" y="19019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863840" y="1901952"/>
            <a:ext cx="1097280" cy="310896"/>
          </a:xfrm>
          <a:prstGeom prst="rect">
            <a:avLst/>
          </a:prstGeom>
          <a:solidFill>
            <a:srgbClr val="FCE4EC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7863840" y="19019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D1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365760" y="2212848"/>
            <a:ext cx="2011680" cy="310896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411480" y="22128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Engine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(Medical records, APS, financials, bordereaux)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2377440" y="2212848"/>
            <a:ext cx="1097280" cy="310896"/>
          </a:xfrm>
          <a:prstGeom prst="rect">
            <a:avLst/>
          </a:prstGeom>
          <a:solidFill>
            <a:srgbClr val="D04A02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2377440" y="22128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474720" y="2212848"/>
            <a:ext cx="1097280" cy="310896"/>
          </a:xfrm>
          <a:prstGeom prst="rect">
            <a:avLst/>
          </a:prstGeom>
          <a:solidFill>
            <a:srgbClr val="E8F8E8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3474720" y="22128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572000" y="2212848"/>
            <a:ext cx="1097280" cy="310896"/>
          </a:xfrm>
          <a:prstGeom prst="rect">
            <a:avLst/>
          </a:prstGeom>
          <a:solidFill>
            <a:srgbClr val="E8F8E8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4572000" y="22128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5669280" y="2212848"/>
            <a:ext cx="1097280" cy="310896"/>
          </a:xfrm>
          <a:prstGeom prst="rect">
            <a:avLst/>
          </a:prstGeom>
          <a:solidFill>
            <a:srgbClr val="E8F8E8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5669280" y="22128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6766560" y="2212848"/>
            <a:ext cx="1097280" cy="310896"/>
          </a:xfrm>
          <a:prstGeom prst="rect">
            <a:avLst/>
          </a:prstGeom>
          <a:solidFill>
            <a:srgbClr val="E8F8E8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6766560" y="22128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7863840" y="2212848"/>
            <a:ext cx="1097280" cy="310896"/>
          </a:xfrm>
          <a:prstGeom prst="rect">
            <a:avLst/>
          </a:prstGeom>
          <a:solidFill>
            <a:srgbClr val="E8F8E8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7863840" y="22128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365760" y="2523744"/>
            <a:ext cx="20116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411480" y="252374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Framework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(Tool-use, memory, HITL gates, multi-agent coord)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2377440" y="2523744"/>
            <a:ext cx="1097280" cy="310896"/>
          </a:xfrm>
          <a:prstGeom prst="rect">
            <a:avLst/>
          </a:prstGeom>
          <a:solidFill>
            <a:srgbClr val="D04A02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2377440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3474720" y="2523744"/>
            <a:ext cx="1097280" cy="310896"/>
          </a:xfrm>
          <a:prstGeom prst="rect">
            <a:avLst/>
          </a:prstGeom>
          <a:solidFill>
            <a:srgbClr val="FFF3E0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3474720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4572000" y="2523744"/>
            <a:ext cx="1097280" cy="310896"/>
          </a:xfrm>
          <a:prstGeom prst="rect">
            <a:avLst/>
          </a:prstGeom>
          <a:solidFill>
            <a:srgbClr val="FFF3E0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4572000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5669280" y="2523744"/>
            <a:ext cx="1097280" cy="310896"/>
          </a:xfrm>
          <a:prstGeom prst="rect">
            <a:avLst/>
          </a:prstGeom>
          <a:solidFill>
            <a:srgbClr val="FFF3E0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5669280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6766560" y="2523744"/>
            <a:ext cx="1097280" cy="310896"/>
          </a:xfrm>
          <a:prstGeom prst="rect">
            <a:avLst/>
          </a:prstGeom>
          <a:solidFill>
            <a:srgbClr val="E3F2FD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88" name="Text 86"/>
          <p:cNvSpPr/>
          <p:nvPr/>
        </p:nvSpPr>
        <p:spPr>
          <a:xfrm>
            <a:off x="6766560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7863840" y="2523744"/>
            <a:ext cx="1097280" cy="310896"/>
          </a:xfrm>
          <a:prstGeom prst="rect">
            <a:avLst/>
          </a:prstGeom>
          <a:solidFill>
            <a:srgbClr val="F3E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7863840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365760" y="2834640"/>
            <a:ext cx="2011680" cy="310896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411480" y="28346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 Agent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(Fed Register, TDI, CDI, OFAC monitoring)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2377440" y="2834640"/>
            <a:ext cx="1097280" cy="310896"/>
          </a:xfrm>
          <a:prstGeom prst="rect">
            <a:avLst/>
          </a:prstGeom>
          <a:solidFill>
            <a:srgbClr val="D04A02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2377440" y="28346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3474720" y="2834640"/>
            <a:ext cx="1097280" cy="310896"/>
          </a:xfrm>
          <a:prstGeom prst="rect">
            <a:avLst/>
          </a:prstGeom>
          <a:solidFill>
            <a:srgbClr val="E8F8E8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3474720" y="28346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4572000" y="2834640"/>
            <a:ext cx="1097280" cy="310896"/>
          </a:xfrm>
          <a:prstGeom prst="rect">
            <a:avLst/>
          </a:prstGeom>
          <a:solidFill>
            <a:srgbClr val="E8F8E8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98" name="Text 96"/>
          <p:cNvSpPr/>
          <p:nvPr/>
        </p:nvSpPr>
        <p:spPr>
          <a:xfrm>
            <a:off x="4572000" y="28346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5669280" y="2834640"/>
            <a:ext cx="1097280" cy="310896"/>
          </a:xfrm>
          <a:prstGeom prst="rect">
            <a:avLst/>
          </a:prstGeom>
          <a:solidFill>
            <a:srgbClr val="E8F8E8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00" name="Text 98"/>
          <p:cNvSpPr/>
          <p:nvPr/>
        </p:nvSpPr>
        <p:spPr>
          <a:xfrm>
            <a:off x="5669280" y="28346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6766560" y="2834640"/>
            <a:ext cx="1097280" cy="310896"/>
          </a:xfrm>
          <a:prstGeom prst="rect">
            <a:avLst/>
          </a:prstGeom>
          <a:solidFill>
            <a:srgbClr val="FFF3E0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02" name="Text 100"/>
          <p:cNvSpPr/>
          <p:nvPr/>
        </p:nvSpPr>
        <p:spPr>
          <a:xfrm>
            <a:off x="6766560" y="28346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7863840" y="2834640"/>
            <a:ext cx="1097280" cy="310896"/>
          </a:xfrm>
          <a:prstGeom prst="rect">
            <a:avLst/>
          </a:prstGeom>
          <a:solidFill>
            <a:srgbClr val="E8F8E8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7863840" y="28346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365760" y="3145536"/>
            <a:ext cx="20116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06" name="Text 104"/>
          <p:cNvSpPr/>
          <p:nvPr/>
        </p:nvSpPr>
        <p:spPr>
          <a:xfrm>
            <a:off x="411480" y="31455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Graph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(Cross-LOB entity resolution, customer 360)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2377440" y="3145536"/>
            <a:ext cx="1097280" cy="310896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08" name="Text 106"/>
          <p:cNvSpPr/>
          <p:nvPr/>
        </p:nvSpPr>
        <p:spPr>
          <a:xfrm>
            <a:off x="2377440" y="31455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3474720" y="3145536"/>
            <a:ext cx="1097280" cy="310896"/>
          </a:xfrm>
          <a:prstGeom prst="rect">
            <a:avLst/>
          </a:prstGeom>
          <a:solidFill>
            <a:srgbClr val="FFF8E1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10" name="Text 108"/>
          <p:cNvSpPr/>
          <p:nvPr/>
        </p:nvSpPr>
        <p:spPr>
          <a:xfrm>
            <a:off x="3474720" y="31455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7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4572000" y="3145536"/>
            <a:ext cx="1097280" cy="310896"/>
          </a:xfrm>
          <a:prstGeom prst="rect">
            <a:avLst/>
          </a:prstGeom>
          <a:solidFill>
            <a:srgbClr val="FFF3E0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12" name="Text 110"/>
          <p:cNvSpPr/>
          <p:nvPr/>
        </p:nvSpPr>
        <p:spPr>
          <a:xfrm>
            <a:off x="4572000" y="31455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5669280" y="3145536"/>
            <a:ext cx="1097280" cy="310896"/>
          </a:xfrm>
          <a:prstGeom prst="rect">
            <a:avLst/>
          </a:prstGeom>
          <a:solidFill>
            <a:srgbClr val="FFF3E0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14" name="Text 112"/>
          <p:cNvSpPr/>
          <p:nvPr/>
        </p:nvSpPr>
        <p:spPr>
          <a:xfrm>
            <a:off x="5669280" y="31455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6766560" y="3145536"/>
            <a:ext cx="1097280" cy="310896"/>
          </a:xfrm>
          <a:prstGeom prst="rect">
            <a:avLst/>
          </a:prstGeom>
          <a:solidFill>
            <a:srgbClr val="D04A02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16" name="Text 114"/>
          <p:cNvSpPr/>
          <p:nvPr/>
        </p:nvSpPr>
        <p:spPr>
          <a:xfrm>
            <a:off x="6766560" y="31455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7863840" y="3145536"/>
            <a:ext cx="1097280" cy="310896"/>
          </a:xfrm>
          <a:prstGeom prst="rect">
            <a:avLst/>
          </a:prstGeom>
          <a:solidFill>
            <a:srgbClr val="E8F8E8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18" name="Text 116"/>
          <p:cNvSpPr/>
          <p:nvPr/>
        </p:nvSpPr>
        <p:spPr>
          <a:xfrm>
            <a:off x="7863840" y="31455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365760" y="3456432"/>
            <a:ext cx="2011680" cy="310896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20" name="Text 118"/>
          <p:cNvSpPr/>
          <p:nvPr/>
        </p:nvSpPr>
        <p:spPr>
          <a:xfrm>
            <a:off x="411480" y="345643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Pattern Intelligence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(Cross-policy, cross-LOB pattern library)</a:t>
            </a:r>
            <a:endParaRPr lang="en-US" sz="650" dirty="0"/>
          </a:p>
        </p:txBody>
      </p:sp>
      <p:sp>
        <p:nvSpPr>
          <p:cNvPr id="121" name="Shape 119"/>
          <p:cNvSpPr/>
          <p:nvPr/>
        </p:nvSpPr>
        <p:spPr>
          <a:xfrm>
            <a:off x="2377440" y="3456432"/>
            <a:ext cx="1097280" cy="310896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22" name="Text 120"/>
          <p:cNvSpPr/>
          <p:nvPr/>
        </p:nvSpPr>
        <p:spPr>
          <a:xfrm>
            <a:off x="2377440" y="34564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3474720" y="3456432"/>
            <a:ext cx="1097280" cy="310896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24" name="Text 122"/>
          <p:cNvSpPr/>
          <p:nvPr/>
        </p:nvSpPr>
        <p:spPr>
          <a:xfrm>
            <a:off x="3474720" y="34564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125" name="Shape 123"/>
          <p:cNvSpPr/>
          <p:nvPr/>
        </p:nvSpPr>
        <p:spPr>
          <a:xfrm>
            <a:off x="4572000" y="3456432"/>
            <a:ext cx="1097280" cy="310896"/>
          </a:xfrm>
          <a:prstGeom prst="rect">
            <a:avLst/>
          </a:prstGeom>
          <a:solidFill>
            <a:srgbClr val="D04A02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26" name="Text 124"/>
          <p:cNvSpPr/>
          <p:nvPr/>
        </p:nvSpPr>
        <p:spPr>
          <a:xfrm>
            <a:off x="4572000" y="34564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5669280" y="3456432"/>
            <a:ext cx="1097280" cy="310896"/>
          </a:xfrm>
          <a:prstGeom prst="rect">
            <a:avLst/>
          </a:prstGeom>
          <a:solidFill>
            <a:srgbClr val="FFF3E0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28" name="Text 126"/>
          <p:cNvSpPr/>
          <p:nvPr/>
        </p:nvSpPr>
        <p:spPr>
          <a:xfrm>
            <a:off x="5669280" y="34564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</a:t>
            </a:r>
            <a:endParaRPr lang="en-US" sz="700" dirty="0"/>
          </a:p>
        </p:txBody>
      </p:sp>
      <p:sp>
        <p:nvSpPr>
          <p:cNvPr id="129" name="Shape 127"/>
          <p:cNvSpPr/>
          <p:nvPr/>
        </p:nvSpPr>
        <p:spPr>
          <a:xfrm>
            <a:off x="6766560" y="3456432"/>
            <a:ext cx="1097280" cy="310896"/>
          </a:xfrm>
          <a:prstGeom prst="rect">
            <a:avLst/>
          </a:prstGeom>
          <a:solidFill>
            <a:srgbClr val="FFF3E0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30" name="Text 128"/>
          <p:cNvSpPr/>
          <p:nvPr/>
        </p:nvSpPr>
        <p:spPr>
          <a:xfrm>
            <a:off x="6766560" y="34564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7863840" y="3456432"/>
            <a:ext cx="1097280" cy="310896"/>
          </a:xfrm>
          <a:prstGeom prst="rect">
            <a:avLst/>
          </a:prstGeom>
          <a:solidFill>
            <a:srgbClr val="F3E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32" name="Text 130"/>
          <p:cNvSpPr/>
          <p:nvPr/>
        </p:nvSpPr>
        <p:spPr>
          <a:xfrm>
            <a:off x="7863840" y="34564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365760" y="3904488"/>
            <a:ext cx="411480" cy="164592"/>
          </a:xfrm>
          <a:prstGeom prst="rect">
            <a:avLst/>
          </a:prstGeom>
          <a:solidFill>
            <a:srgbClr val="D04A02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34" name="Text 132"/>
          <p:cNvSpPr/>
          <p:nvPr/>
        </p:nvSpPr>
        <p:spPr>
          <a:xfrm>
            <a:off x="365760" y="39044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550" dirty="0"/>
          </a:p>
        </p:txBody>
      </p:sp>
      <p:sp>
        <p:nvSpPr>
          <p:cNvPr id="135" name="Text 133"/>
          <p:cNvSpPr/>
          <p:nvPr/>
        </p:nvSpPr>
        <p:spPr>
          <a:xfrm>
            <a:off x="804672" y="39044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development</a:t>
            </a:r>
            <a:endParaRPr lang="en-US" sz="600" dirty="0"/>
          </a:p>
        </p:txBody>
      </p:sp>
      <p:sp>
        <p:nvSpPr>
          <p:cNvPr id="136" name="Shape 134"/>
          <p:cNvSpPr/>
          <p:nvPr/>
        </p:nvSpPr>
        <p:spPr>
          <a:xfrm>
            <a:off x="1783080" y="3904488"/>
            <a:ext cx="411480" cy="164592"/>
          </a:xfrm>
          <a:prstGeom prst="rect">
            <a:avLst/>
          </a:prstGeom>
          <a:solidFill>
            <a:srgbClr val="E8F8E8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37" name="Text 135"/>
          <p:cNvSpPr/>
          <p:nvPr/>
        </p:nvSpPr>
        <p:spPr>
          <a:xfrm>
            <a:off x="1783080" y="39044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550" dirty="0"/>
          </a:p>
        </p:txBody>
      </p:sp>
      <p:sp>
        <p:nvSpPr>
          <p:cNvPr id="138" name="Text 136"/>
          <p:cNvSpPr/>
          <p:nvPr/>
        </p:nvSpPr>
        <p:spPr>
          <a:xfrm>
            <a:off x="2221992" y="39044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as-is</a:t>
            </a:r>
            <a:endParaRPr lang="en-US" sz="600" dirty="0"/>
          </a:p>
        </p:txBody>
      </p:sp>
      <p:sp>
        <p:nvSpPr>
          <p:cNvPr id="139" name="Shape 137"/>
          <p:cNvSpPr/>
          <p:nvPr/>
        </p:nvSpPr>
        <p:spPr>
          <a:xfrm>
            <a:off x="3200400" y="3904488"/>
            <a:ext cx="411480" cy="164592"/>
          </a:xfrm>
          <a:prstGeom prst="rect">
            <a:avLst/>
          </a:prstGeom>
          <a:solidFill>
            <a:srgbClr val="FFF3E0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40" name="Text 138"/>
          <p:cNvSpPr/>
          <p:nvPr/>
        </p:nvSpPr>
        <p:spPr>
          <a:xfrm>
            <a:off x="3200400" y="39044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</a:t>
            </a:r>
            <a:endParaRPr lang="en-US" sz="550" dirty="0"/>
          </a:p>
        </p:txBody>
      </p:sp>
      <p:sp>
        <p:nvSpPr>
          <p:cNvPr id="141" name="Text 139"/>
          <p:cNvSpPr/>
          <p:nvPr/>
        </p:nvSpPr>
        <p:spPr>
          <a:xfrm>
            <a:off x="3639312" y="39044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for new LOBs</a:t>
            </a:r>
            <a:endParaRPr lang="en-US" sz="600" dirty="0"/>
          </a:p>
        </p:txBody>
      </p:sp>
      <p:sp>
        <p:nvSpPr>
          <p:cNvPr id="142" name="Shape 140"/>
          <p:cNvSpPr/>
          <p:nvPr/>
        </p:nvSpPr>
        <p:spPr>
          <a:xfrm>
            <a:off x="4617720" y="3904488"/>
            <a:ext cx="411480" cy="164592"/>
          </a:xfrm>
          <a:prstGeom prst="rect">
            <a:avLst/>
          </a:prstGeom>
          <a:solidFill>
            <a:srgbClr val="E3F2FD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43" name="Text 141"/>
          <p:cNvSpPr/>
          <p:nvPr/>
        </p:nvSpPr>
        <p:spPr>
          <a:xfrm>
            <a:off x="4617720" y="39044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550" dirty="0"/>
          </a:p>
        </p:txBody>
      </p:sp>
      <p:sp>
        <p:nvSpPr>
          <p:cNvPr id="144" name="Text 142"/>
          <p:cNvSpPr/>
          <p:nvPr/>
        </p:nvSpPr>
        <p:spPr>
          <a:xfrm>
            <a:off x="5056632" y="39044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enterprise-wide</a:t>
            </a:r>
            <a:endParaRPr lang="en-US" sz="600" dirty="0"/>
          </a:p>
        </p:txBody>
      </p:sp>
      <p:sp>
        <p:nvSpPr>
          <p:cNvPr id="145" name="Shape 143"/>
          <p:cNvSpPr/>
          <p:nvPr/>
        </p:nvSpPr>
        <p:spPr>
          <a:xfrm>
            <a:off x="6035040" y="3904488"/>
            <a:ext cx="411480" cy="164592"/>
          </a:xfrm>
          <a:prstGeom prst="rect">
            <a:avLst/>
          </a:prstGeom>
          <a:solidFill>
            <a:srgbClr val="F3E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46" name="Text 144"/>
          <p:cNvSpPr/>
          <p:nvPr/>
        </p:nvSpPr>
        <p:spPr>
          <a:xfrm>
            <a:off x="6035040" y="39044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</a:t>
            </a:r>
            <a:endParaRPr lang="en-US" sz="550" dirty="0"/>
          </a:p>
        </p:txBody>
      </p:sp>
      <p:sp>
        <p:nvSpPr>
          <p:cNvPr id="147" name="Text 145"/>
          <p:cNvSpPr/>
          <p:nvPr/>
        </p:nvSpPr>
        <p:spPr>
          <a:xfrm>
            <a:off x="6473952" y="39044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tuned</a:t>
            </a:r>
            <a:endParaRPr lang="en-US" sz="600" dirty="0"/>
          </a:p>
        </p:txBody>
      </p:sp>
      <p:sp>
        <p:nvSpPr>
          <p:cNvPr id="148" name="Shape 146"/>
          <p:cNvSpPr/>
          <p:nvPr/>
        </p:nvSpPr>
        <p:spPr>
          <a:xfrm>
            <a:off x="7452360" y="3904488"/>
            <a:ext cx="411480" cy="164592"/>
          </a:xfrm>
          <a:prstGeom prst="rect">
            <a:avLst/>
          </a:prstGeom>
          <a:solidFill>
            <a:srgbClr val="FCE4EC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49" name="Text 147"/>
          <p:cNvSpPr/>
          <p:nvPr/>
        </p:nvSpPr>
        <p:spPr>
          <a:xfrm>
            <a:off x="7452360" y="39044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D1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550" dirty="0"/>
          </a:p>
        </p:txBody>
      </p:sp>
      <p:sp>
        <p:nvSpPr>
          <p:cNvPr id="150" name="Text 148"/>
          <p:cNvSpPr/>
          <p:nvPr/>
        </p:nvSpPr>
        <p:spPr>
          <a:xfrm>
            <a:off x="7891272" y="39044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Handed to Securian</a:t>
            </a:r>
            <a:endParaRPr lang="en-US" sz="600" dirty="0"/>
          </a:p>
        </p:txBody>
      </p:sp>
      <p:sp>
        <p:nvSpPr>
          <p:cNvPr id="151" name="Shape 149"/>
          <p:cNvSpPr/>
          <p:nvPr/>
        </p:nvSpPr>
        <p:spPr>
          <a:xfrm>
            <a:off x="365760" y="4251960"/>
            <a:ext cx="8412480" cy="320040"/>
          </a:xfrm>
          <a:prstGeom prst="rect">
            <a:avLst/>
          </a:prstGeom>
          <a:solidFill>
            <a:srgbClr val="FFF8F0"/>
          </a:solidFill>
          <a:ln w="6350">
            <a:solidFill>
              <a:srgbClr val="D04A02"/>
            </a:solidFill>
            <a:prstDash val="solid"/>
          </a:ln>
        </p:spPr>
        <p:txBody>
          <a:bodyPr/>
          <a:p/>
        </p:txBody>
      </p:sp>
      <p:sp>
        <p:nvSpPr>
          <p:cNvPr id="152" name="Text 150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Efficiency:  6 of 8 shared assets are built in Phase 1A and reused across all subsequent phases — every dollar invested in Phase 1 compounds through the full 36-month program.</a:t>
            </a:r>
            <a:endParaRPr lang="en-US" sz="750" dirty="0"/>
          </a:p>
        </p:txBody>
      </p:sp>
      <p:sp>
        <p:nvSpPr>
          <p:cNvPr id="153" name="Shape 151"/>
          <p:cNvSpPr/>
          <p:nvPr/>
        </p:nvSpPr>
        <p:spPr>
          <a:xfrm>
            <a:off x="365760" y="4645152"/>
            <a:ext cx="8412480" cy="0"/>
          </a:xfrm>
          <a:prstGeom prst="line">
            <a:avLst/>
          </a:prstGeom>
          <a:noFill/>
          <a:ln w="19050">
            <a:solidFill>
              <a:srgbClr val="D04A02"/>
            </a:solidFill>
            <a:prstDash val="solid"/>
          </a:ln>
        </p:spPr>
        <p:txBody>
          <a:bodyPr/>
          <a:p/>
        </p:txBody>
      </p:sp>
      <p:sp>
        <p:nvSpPr>
          <p:cNvPr id="154" name="Text 152"/>
          <p:cNvSpPr/>
          <p:nvPr/>
        </p:nvSpPr>
        <p:spPr>
          <a:xfrm>
            <a:off x="36576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 Confidential  |  GenAI &amp; Agentic AI Delivery Blueprint  |  Securian Insurance</a:t>
            </a:r>
            <a:endParaRPr lang="en-US" sz="700" dirty="0"/>
          </a:p>
        </p:txBody>
      </p:sp>
      <p:sp>
        <p:nvSpPr>
          <p:cNvPr id="155" name="Text 153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37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Summary — FTE Rollup Across All Phases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delivers all resources  |  Securian monitors, validates &amp; signs off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603504"/>
            <a:ext cx="1645920" cy="219456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1480" y="60350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BLUEPRINT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2194560" cy="27432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5760" y="914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Category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0" y="914400"/>
            <a:ext cx="914400" cy="27432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560320" y="914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474720" y="914400"/>
            <a:ext cx="914400" cy="27432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74720" y="914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1B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89120" y="914400"/>
            <a:ext cx="914400" cy="27432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389120" y="914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303520" y="914400"/>
            <a:ext cx="914400" cy="27432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303520" y="914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2B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217920" y="914400"/>
            <a:ext cx="914400" cy="27432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217920" y="914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3A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132320" y="914400"/>
            <a:ext cx="914400" cy="27432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132320" y="914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046720" y="914400"/>
            <a:ext cx="914400" cy="27432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046720" y="914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1188720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11480" y="11887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Leadership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(Partner, PM, Solution Architect)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2560320" y="1188720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560320" y="11887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474720" y="1188720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474720" y="11887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389120" y="1188720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389120" y="11887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303520" y="1188720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303520" y="11887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217920" y="1188720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217920" y="11887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132320" y="1188720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132320" y="11887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8046720" y="1188720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046720" y="11887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65760" y="1426464"/>
            <a:ext cx="219456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11480" y="14264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2560320" y="1426464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2560320" y="14264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474720" y="1426464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3474720" y="14264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389120" y="1426464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389120" y="14264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303520" y="1426464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303520" y="14264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217920" y="1426464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217920" y="14264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132320" y="1426464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7132320" y="14264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8046720" y="1426464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8046720" y="14264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65760" y="1664208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411480" y="166420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Leads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2560320" y="1664208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2560320" y="16642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474720" y="1664208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3474720" y="16642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389120" y="1664208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4389120" y="16642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5303520" y="1664208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5303520" y="16642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217920" y="1664208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6217920" y="16642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7132320" y="1664208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7132320" y="16642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8046720" y="1664208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8046720" y="16642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365760" y="1901952"/>
            <a:ext cx="219456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411480" y="19019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/ ML Engineers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2560320" y="1901952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2560320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3474720" y="1901952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3474720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389120" y="1901952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4389120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5303520" y="1901952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5303520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6217920" y="1901952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6217920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7132320" y="1901952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7132320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8046720" y="1901952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8046720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365760" y="2139696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88" name="Text 86"/>
          <p:cNvSpPr/>
          <p:nvPr/>
        </p:nvSpPr>
        <p:spPr>
          <a:xfrm>
            <a:off x="411480" y="21396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 / DevOps Engineers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2560320" y="2139696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2560320" y="21396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3474720" y="2139696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3474720" y="21396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4389120" y="2139696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4389120" y="21396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5303520" y="2139696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5303520" y="21396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6217920" y="2139696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98" name="Text 96"/>
          <p:cNvSpPr/>
          <p:nvPr/>
        </p:nvSpPr>
        <p:spPr>
          <a:xfrm>
            <a:off x="6217920" y="21396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7132320" y="2139696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00" name="Text 98"/>
          <p:cNvSpPr/>
          <p:nvPr/>
        </p:nvSpPr>
        <p:spPr>
          <a:xfrm>
            <a:off x="7132320" y="21396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8046720" y="2139696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02" name="Text 100"/>
          <p:cNvSpPr/>
          <p:nvPr/>
        </p:nvSpPr>
        <p:spPr>
          <a:xfrm>
            <a:off x="8046720" y="21396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365760" y="2377440"/>
            <a:ext cx="219456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411480" y="237744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Engineers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>
            <a:off x="2560320" y="2377440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06" name="Text 104"/>
          <p:cNvSpPr/>
          <p:nvPr/>
        </p:nvSpPr>
        <p:spPr>
          <a:xfrm>
            <a:off x="2560320" y="23774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3474720" y="2377440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08" name="Text 106"/>
          <p:cNvSpPr/>
          <p:nvPr/>
        </p:nvSpPr>
        <p:spPr>
          <a:xfrm>
            <a:off x="3474720" y="23774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4389120" y="2377440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10" name="Text 108"/>
          <p:cNvSpPr/>
          <p:nvPr/>
        </p:nvSpPr>
        <p:spPr>
          <a:xfrm>
            <a:off x="4389120" y="23774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5303520" y="2377440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12" name="Text 110"/>
          <p:cNvSpPr/>
          <p:nvPr/>
        </p:nvSpPr>
        <p:spPr>
          <a:xfrm>
            <a:off x="5303520" y="23774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6217920" y="2377440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14" name="Text 112"/>
          <p:cNvSpPr/>
          <p:nvPr/>
        </p:nvSpPr>
        <p:spPr>
          <a:xfrm>
            <a:off x="6217920" y="23774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7132320" y="2377440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16" name="Text 114"/>
          <p:cNvSpPr/>
          <p:nvPr/>
        </p:nvSpPr>
        <p:spPr>
          <a:xfrm>
            <a:off x="7132320" y="23774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8046720" y="2377440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18" name="Text 116"/>
          <p:cNvSpPr/>
          <p:nvPr/>
        </p:nvSpPr>
        <p:spPr>
          <a:xfrm>
            <a:off x="8046720" y="23774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365760" y="2615184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20" name="Text 118"/>
          <p:cNvSpPr/>
          <p:nvPr/>
        </p:nvSpPr>
        <p:spPr>
          <a:xfrm>
            <a:off x="411480" y="26151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Domain SMEs</a:t>
            </a:r>
            <a:endParaRPr lang="en-US" sz="650" dirty="0"/>
          </a:p>
        </p:txBody>
      </p:sp>
      <p:sp>
        <p:nvSpPr>
          <p:cNvPr id="121" name="Shape 119"/>
          <p:cNvSpPr/>
          <p:nvPr/>
        </p:nvSpPr>
        <p:spPr>
          <a:xfrm>
            <a:off x="2560320" y="2615184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22" name="Text 120"/>
          <p:cNvSpPr/>
          <p:nvPr/>
        </p:nvSpPr>
        <p:spPr>
          <a:xfrm>
            <a:off x="2560320" y="26151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3474720" y="2615184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24" name="Text 122"/>
          <p:cNvSpPr/>
          <p:nvPr/>
        </p:nvSpPr>
        <p:spPr>
          <a:xfrm>
            <a:off x="3474720" y="26151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4389120" y="2615184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26" name="Text 124"/>
          <p:cNvSpPr/>
          <p:nvPr/>
        </p:nvSpPr>
        <p:spPr>
          <a:xfrm>
            <a:off x="4389120" y="26151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5303520" y="2615184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28" name="Text 126"/>
          <p:cNvSpPr/>
          <p:nvPr/>
        </p:nvSpPr>
        <p:spPr>
          <a:xfrm>
            <a:off x="5303520" y="26151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6217920" y="2615184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30" name="Text 128"/>
          <p:cNvSpPr/>
          <p:nvPr/>
        </p:nvSpPr>
        <p:spPr>
          <a:xfrm>
            <a:off x="6217920" y="26151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7132320" y="2615184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32" name="Text 130"/>
          <p:cNvSpPr/>
          <p:nvPr/>
        </p:nvSpPr>
        <p:spPr>
          <a:xfrm>
            <a:off x="7132320" y="26151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8046720" y="2615184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34" name="Text 132"/>
          <p:cNvSpPr/>
          <p:nvPr/>
        </p:nvSpPr>
        <p:spPr>
          <a:xfrm>
            <a:off x="8046720" y="26151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365760" y="2852928"/>
            <a:ext cx="219456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36" name="Text 134"/>
          <p:cNvSpPr/>
          <p:nvPr/>
        </p:nvSpPr>
        <p:spPr>
          <a:xfrm>
            <a:off x="411480" y="28529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Validation</a:t>
            </a:r>
            <a:endParaRPr lang="en-US" sz="650" dirty="0"/>
          </a:p>
        </p:txBody>
      </p:sp>
      <p:sp>
        <p:nvSpPr>
          <p:cNvPr id="137" name="Shape 135"/>
          <p:cNvSpPr/>
          <p:nvPr/>
        </p:nvSpPr>
        <p:spPr>
          <a:xfrm>
            <a:off x="2560320" y="2852928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38" name="Text 136"/>
          <p:cNvSpPr/>
          <p:nvPr/>
        </p:nvSpPr>
        <p:spPr>
          <a:xfrm>
            <a:off x="2560320" y="28529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139" name="Shape 137"/>
          <p:cNvSpPr/>
          <p:nvPr/>
        </p:nvSpPr>
        <p:spPr>
          <a:xfrm>
            <a:off x="3474720" y="2852928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40" name="Text 138"/>
          <p:cNvSpPr/>
          <p:nvPr/>
        </p:nvSpPr>
        <p:spPr>
          <a:xfrm>
            <a:off x="3474720" y="28529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4389120" y="2852928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42" name="Text 140"/>
          <p:cNvSpPr/>
          <p:nvPr/>
        </p:nvSpPr>
        <p:spPr>
          <a:xfrm>
            <a:off x="4389120" y="28529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5303520" y="2852928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44" name="Text 142"/>
          <p:cNvSpPr/>
          <p:nvPr/>
        </p:nvSpPr>
        <p:spPr>
          <a:xfrm>
            <a:off x="5303520" y="28529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6217920" y="2852928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46" name="Text 144"/>
          <p:cNvSpPr/>
          <p:nvPr/>
        </p:nvSpPr>
        <p:spPr>
          <a:xfrm>
            <a:off x="6217920" y="28529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7132320" y="2852928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48" name="Text 146"/>
          <p:cNvSpPr/>
          <p:nvPr/>
        </p:nvSpPr>
        <p:spPr>
          <a:xfrm>
            <a:off x="7132320" y="28529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8046720" y="2852928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50" name="Text 148"/>
          <p:cNvSpPr/>
          <p:nvPr/>
        </p:nvSpPr>
        <p:spPr>
          <a:xfrm>
            <a:off x="8046720" y="28529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51" name="Shape 149"/>
          <p:cNvSpPr/>
          <p:nvPr/>
        </p:nvSpPr>
        <p:spPr>
          <a:xfrm>
            <a:off x="365760" y="3090672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52" name="Text 150"/>
          <p:cNvSpPr/>
          <p:nvPr/>
        </p:nvSpPr>
        <p:spPr>
          <a:xfrm>
            <a:off x="411480" y="30906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/ Compliance</a:t>
            </a:r>
            <a:endParaRPr lang="en-US" sz="650" dirty="0"/>
          </a:p>
        </p:txBody>
      </p:sp>
      <p:sp>
        <p:nvSpPr>
          <p:cNvPr id="153" name="Shape 151"/>
          <p:cNvSpPr/>
          <p:nvPr/>
        </p:nvSpPr>
        <p:spPr>
          <a:xfrm>
            <a:off x="2560320" y="3090672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54" name="Text 152"/>
          <p:cNvSpPr/>
          <p:nvPr/>
        </p:nvSpPr>
        <p:spPr>
          <a:xfrm>
            <a:off x="2560320" y="30906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55" name="Shape 153"/>
          <p:cNvSpPr/>
          <p:nvPr/>
        </p:nvSpPr>
        <p:spPr>
          <a:xfrm>
            <a:off x="3474720" y="3090672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56" name="Text 154"/>
          <p:cNvSpPr/>
          <p:nvPr/>
        </p:nvSpPr>
        <p:spPr>
          <a:xfrm>
            <a:off x="3474720" y="30906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57" name="Shape 155"/>
          <p:cNvSpPr/>
          <p:nvPr/>
        </p:nvSpPr>
        <p:spPr>
          <a:xfrm>
            <a:off x="4389120" y="3090672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58" name="Text 156"/>
          <p:cNvSpPr/>
          <p:nvPr/>
        </p:nvSpPr>
        <p:spPr>
          <a:xfrm>
            <a:off x="4389120" y="30906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59" name="Shape 157"/>
          <p:cNvSpPr/>
          <p:nvPr/>
        </p:nvSpPr>
        <p:spPr>
          <a:xfrm>
            <a:off x="5303520" y="3090672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60" name="Text 158"/>
          <p:cNvSpPr/>
          <p:nvPr/>
        </p:nvSpPr>
        <p:spPr>
          <a:xfrm>
            <a:off x="5303520" y="30906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61" name="Shape 159"/>
          <p:cNvSpPr/>
          <p:nvPr/>
        </p:nvSpPr>
        <p:spPr>
          <a:xfrm>
            <a:off x="6217920" y="3090672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62" name="Text 160"/>
          <p:cNvSpPr/>
          <p:nvPr/>
        </p:nvSpPr>
        <p:spPr>
          <a:xfrm>
            <a:off x="6217920" y="30906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63" name="Shape 161"/>
          <p:cNvSpPr/>
          <p:nvPr/>
        </p:nvSpPr>
        <p:spPr>
          <a:xfrm>
            <a:off x="7132320" y="3090672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64" name="Text 162"/>
          <p:cNvSpPr/>
          <p:nvPr/>
        </p:nvSpPr>
        <p:spPr>
          <a:xfrm>
            <a:off x="7132320" y="30906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165" name="Shape 163"/>
          <p:cNvSpPr/>
          <p:nvPr/>
        </p:nvSpPr>
        <p:spPr>
          <a:xfrm>
            <a:off x="8046720" y="3090672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66" name="Text 164"/>
          <p:cNvSpPr/>
          <p:nvPr/>
        </p:nvSpPr>
        <p:spPr>
          <a:xfrm>
            <a:off x="8046720" y="30906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67" name="Shape 165"/>
          <p:cNvSpPr/>
          <p:nvPr/>
        </p:nvSpPr>
        <p:spPr>
          <a:xfrm>
            <a:off x="365760" y="3328416"/>
            <a:ext cx="219456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68" name="Text 166"/>
          <p:cNvSpPr/>
          <p:nvPr/>
        </p:nvSpPr>
        <p:spPr>
          <a:xfrm>
            <a:off x="411480" y="332841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Mgmt / Training</a:t>
            </a:r>
            <a:endParaRPr lang="en-US" sz="650" dirty="0"/>
          </a:p>
        </p:txBody>
      </p:sp>
      <p:sp>
        <p:nvSpPr>
          <p:cNvPr id="169" name="Shape 167"/>
          <p:cNvSpPr/>
          <p:nvPr/>
        </p:nvSpPr>
        <p:spPr>
          <a:xfrm>
            <a:off x="2560320" y="3328416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70" name="Text 168"/>
          <p:cNvSpPr/>
          <p:nvPr/>
        </p:nvSpPr>
        <p:spPr>
          <a:xfrm>
            <a:off x="2560320" y="33284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71" name="Shape 169"/>
          <p:cNvSpPr/>
          <p:nvPr/>
        </p:nvSpPr>
        <p:spPr>
          <a:xfrm>
            <a:off x="3474720" y="3328416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72" name="Text 170"/>
          <p:cNvSpPr/>
          <p:nvPr/>
        </p:nvSpPr>
        <p:spPr>
          <a:xfrm>
            <a:off x="3474720" y="33284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73" name="Shape 171"/>
          <p:cNvSpPr/>
          <p:nvPr/>
        </p:nvSpPr>
        <p:spPr>
          <a:xfrm>
            <a:off x="4389120" y="3328416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74" name="Text 172"/>
          <p:cNvSpPr/>
          <p:nvPr/>
        </p:nvSpPr>
        <p:spPr>
          <a:xfrm>
            <a:off x="4389120" y="33284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75" name="Shape 173"/>
          <p:cNvSpPr/>
          <p:nvPr/>
        </p:nvSpPr>
        <p:spPr>
          <a:xfrm>
            <a:off x="5303520" y="3328416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76" name="Text 174"/>
          <p:cNvSpPr/>
          <p:nvPr/>
        </p:nvSpPr>
        <p:spPr>
          <a:xfrm>
            <a:off x="5303520" y="33284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77" name="Shape 175"/>
          <p:cNvSpPr/>
          <p:nvPr/>
        </p:nvSpPr>
        <p:spPr>
          <a:xfrm>
            <a:off x="6217920" y="3328416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78" name="Text 176"/>
          <p:cNvSpPr/>
          <p:nvPr/>
        </p:nvSpPr>
        <p:spPr>
          <a:xfrm>
            <a:off x="6217920" y="33284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79" name="Shape 177"/>
          <p:cNvSpPr/>
          <p:nvPr/>
        </p:nvSpPr>
        <p:spPr>
          <a:xfrm>
            <a:off x="7132320" y="3328416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80" name="Text 178"/>
          <p:cNvSpPr/>
          <p:nvPr/>
        </p:nvSpPr>
        <p:spPr>
          <a:xfrm>
            <a:off x="7132320" y="33284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181" name="Shape 179"/>
          <p:cNvSpPr/>
          <p:nvPr/>
        </p:nvSpPr>
        <p:spPr>
          <a:xfrm>
            <a:off x="8046720" y="3328416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82" name="Text 180"/>
          <p:cNvSpPr/>
          <p:nvPr/>
        </p:nvSpPr>
        <p:spPr>
          <a:xfrm>
            <a:off x="8046720" y="33284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183" name="Shape 181"/>
          <p:cNvSpPr/>
          <p:nvPr/>
        </p:nvSpPr>
        <p:spPr>
          <a:xfrm>
            <a:off x="365760" y="3566160"/>
            <a:ext cx="2194560" cy="237744"/>
          </a:xfrm>
          <a:prstGeom prst="rect">
            <a:avLst/>
          </a:prstGeom>
          <a:solidFill>
            <a:srgbClr val="FFF3E0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84" name="Text 182"/>
          <p:cNvSpPr/>
          <p:nvPr/>
        </p:nvSpPr>
        <p:spPr>
          <a:xfrm>
            <a:off x="411480" y="35661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FTE</a:t>
            </a:r>
            <a:endParaRPr lang="en-US" sz="750" dirty="0"/>
          </a:p>
        </p:txBody>
      </p:sp>
      <p:sp>
        <p:nvSpPr>
          <p:cNvPr id="185" name="Shape 183"/>
          <p:cNvSpPr/>
          <p:nvPr/>
        </p:nvSpPr>
        <p:spPr>
          <a:xfrm>
            <a:off x="2560320" y="3566160"/>
            <a:ext cx="914400" cy="237744"/>
          </a:xfrm>
          <a:prstGeom prst="rect">
            <a:avLst/>
          </a:prstGeom>
          <a:solidFill>
            <a:srgbClr val="FFF3E0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86" name="Text 184"/>
          <p:cNvSpPr/>
          <p:nvPr/>
        </p:nvSpPr>
        <p:spPr>
          <a:xfrm>
            <a:off x="2560320" y="35661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50" dirty="0"/>
          </a:p>
        </p:txBody>
      </p:sp>
      <p:sp>
        <p:nvSpPr>
          <p:cNvPr id="187" name="Shape 185"/>
          <p:cNvSpPr/>
          <p:nvPr/>
        </p:nvSpPr>
        <p:spPr>
          <a:xfrm>
            <a:off x="3474720" y="3566160"/>
            <a:ext cx="914400" cy="237744"/>
          </a:xfrm>
          <a:prstGeom prst="rect">
            <a:avLst/>
          </a:prstGeom>
          <a:solidFill>
            <a:srgbClr val="FFF3E0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88" name="Text 186"/>
          <p:cNvSpPr/>
          <p:nvPr/>
        </p:nvSpPr>
        <p:spPr>
          <a:xfrm>
            <a:off x="3474720" y="35661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18*</a:t>
            </a:r>
            <a:endParaRPr lang="en-US" sz="850" dirty="0"/>
          </a:p>
        </p:txBody>
      </p:sp>
      <p:sp>
        <p:nvSpPr>
          <p:cNvPr id="189" name="Shape 187"/>
          <p:cNvSpPr/>
          <p:nvPr/>
        </p:nvSpPr>
        <p:spPr>
          <a:xfrm>
            <a:off x="4389120" y="3566160"/>
            <a:ext cx="914400" cy="237744"/>
          </a:xfrm>
          <a:prstGeom prst="rect">
            <a:avLst/>
          </a:prstGeom>
          <a:solidFill>
            <a:srgbClr val="FFF3E0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90" name="Text 188"/>
          <p:cNvSpPr/>
          <p:nvPr/>
        </p:nvSpPr>
        <p:spPr>
          <a:xfrm>
            <a:off x="4389120" y="35661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19*</a:t>
            </a:r>
            <a:endParaRPr lang="en-US" sz="850" dirty="0"/>
          </a:p>
        </p:txBody>
      </p:sp>
      <p:sp>
        <p:nvSpPr>
          <p:cNvPr id="191" name="Shape 189"/>
          <p:cNvSpPr/>
          <p:nvPr/>
        </p:nvSpPr>
        <p:spPr>
          <a:xfrm>
            <a:off x="5303520" y="3566160"/>
            <a:ext cx="914400" cy="237744"/>
          </a:xfrm>
          <a:prstGeom prst="rect">
            <a:avLst/>
          </a:prstGeom>
          <a:solidFill>
            <a:srgbClr val="FFF3E0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92" name="Text 190"/>
          <p:cNvSpPr/>
          <p:nvPr/>
        </p:nvSpPr>
        <p:spPr>
          <a:xfrm>
            <a:off x="5303520" y="35661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20*</a:t>
            </a:r>
            <a:endParaRPr lang="en-US" sz="850" dirty="0"/>
          </a:p>
        </p:txBody>
      </p:sp>
      <p:sp>
        <p:nvSpPr>
          <p:cNvPr id="193" name="Shape 191"/>
          <p:cNvSpPr/>
          <p:nvPr/>
        </p:nvSpPr>
        <p:spPr>
          <a:xfrm>
            <a:off x="6217920" y="3566160"/>
            <a:ext cx="914400" cy="237744"/>
          </a:xfrm>
          <a:prstGeom prst="rect">
            <a:avLst/>
          </a:prstGeom>
          <a:solidFill>
            <a:srgbClr val="FFF3E0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94" name="Text 192"/>
          <p:cNvSpPr/>
          <p:nvPr/>
        </p:nvSpPr>
        <p:spPr>
          <a:xfrm>
            <a:off x="6217920" y="35661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50" dirty="0"/>
          </a:p>
        </p:txBody>
      </p:sp>
      <p:sp>
        <p:nvSpPr>
          <p:cNvPr id="195" name="Shape 193"/>
          <p:cNvSpPr/>
          <p:nvPr/>
        </p:nvSpPr>
        <p:spPr>
          <a:xfrm>
            <a:off x="7132320" y="3566160"/>
            <a:ext cx="914400" cy="237744"/>
          </a:xfrm>
          <a:prstGeom prst="rect">
            <a:avLst/>
          </a:prstGeom>
          <a:solidFill>
            <a:srgbClr val="FFF3E0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96" name="Text 194"/>
          <p:cNvSpPr/>
          <p:nvPr/>
        </p:nvSpPr>
        <p:spPr>
          <a:xfrm>
            <a:off x="7132320" y="35661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50" dirty="0"/>
          </a:p>
        </p:txBody>
      </p:sp>
      <p:sp>
        <p:nvSpPr>
          <p:cNvPr id="197" name="Shape 195"/>
          <p:cNvSpPr/>
          <p:nvPr/>
        </p:nvSpPr>
        <p:spPr>
          <a:xfrm>
            <a:off x="8046720" y="3566160"/>
            <a:ext cx="914400" cy="237744"/>
          </a:xfrm>
          <a:prstGeom prst="rect">
            <a:avLst/>
          </a:prstGeom>
          <a:solidFill>
            <a:srgbClr val="FFF3E0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98" name="Text 196"/>
          <p:cNvSpPr/>
          <p:nvPr/>
        </p:nvSpPr>
        <p:spPr>
          <a:xfrm>
            <a:off x="8046720" y="35661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50" dirty="0"/>
          </a:p>
        </p:txBody>
      </p:sp>
      <p:sp>
        <p:nvSpPr>
          <p:cNvPr id="199" name="Text 197"/>
          <p:cNvSpPr/>
          <p:nvPr/>
        </p:nvSpPr>
        <p:spPr>
          <a:xfrm>
            <a:off x="365760" y="38587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 Phases 1B, 2A, 2B include overlapping work: scaling prior-phase agents to new LOBs while building new use cases. FTE counts reflect net team size including overlap resources.</a:t>
            </a:r>
            <a:endParaRPr lang="en-US" sz="600" dirty="0"/>
          </a:p>
        </p:txBody>
      </p:sp>
      <p:sp>
        <p:nvSpPr>
          <p:cNvPr id="200" name="Shape 198"/>
          <p:cNvSpPr/>
          <p:nvPr/>
        </p:nvSpPr>
        <p:spPr>
          <a:xfrm>
            <a:off x="365760" y="4096512"/>
            <a:ext cx="27432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01" name="Text 199"/>
          <p:cNvSpPr/>
          <p:nvPr/>
        </p:nvSpPr>
        <p:spPr>
          <a:xfrm>
            <a:off x="457200" y="41239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FTE</a:t>
            </a:r>
            <a:endParaRPr lang="en-US" sz="1300" dirty="0"/>
          </a:p>
          <a:p>
            <a:pPr indent="0" marL="0">
              <a:buNone/>
            </a:pPr>
            <a:r>
              <a:rPr lang="en-US" sz="7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Team Size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2B — 3 concurrent product pods</a:t>
            </a:r>
            <a:endParaRPr lang="en-US" sz="1300" dirty="0"/>
          </a:p>
        </p:txBody>
      </p:sp>
      <p:sp>
        <p:nvSpPr>
          <p:cNvPr id="202" name="Shape 200"/>
          <p:cNvSpPr/>
          <p:nvPr/>
        </p:nvSpPr>
        <p:spPr>
          <a:xfrm>
            <a:off x="3246120" y="4096512"/>
            <a:ext cx="27432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03" name="Text 201"/>
          <p:cNvSpPr/>
          <p:nvPr/>
        </p:nvSpPr>
        <p:spPr>
          <a:xfrm>
            <a:off x="3337560" y="41239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~18 FTE</a:t>
            </a:r>
            <a:endParaRPr lang="en-US" sz="1300" dirty="0"/>
          </a:p>
          <a:p>
            <a:pPr indent="0" marL="0">
              <a:buNone/>
            </a:pPr>
            <a:r>
              <a:rPr lang="en-US" sz="7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36-Month Average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team across all phases</a:t>
            </a:r>
            <a:endParaRPr lang="en-US" sz="1300" dirty="0"/>
          </a:p>
        </p:txBody>
      </p:sp>
      <p:sp>
        <p:nvSpPr>
          <p:cNvPr id="204" name="Shape 202"/>
          <p:cNvSpPr/>
          <p:nvPr/>
        </p:nvSpPr>
        <p:spPr>
          <a:xfrm>
            <a:off x="6126480" y="4096512"/>
            <a:ext cx="274320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205" name="Text 203"/>
          <p:cNvSpPr/>
          <p:nvPr/>
        </p:nvSpPr>
        <p:spPr>
          <a:xfrm>
            <a:off x="6217920" y="41239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 &amp; Validate</a:t>
            </a:r>
            <a:endParaRPr lang="en-US" sz="1300" dirty="0"/>
          </a:p>
          <a:p>
            <a:pPr indent="0" marL="0">
              <a:buNone/>
            </a:pPr>
            <a:r>
              <a:rPr lang="en-US" sz="7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Securian Role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gates, sign-off, domain guidance</a:t>
            </a:r>
            <a:endParaRPr lang="en-US" sz="1300" dirty="0"/>
          </a:p>
        </p:txBody>
      </p:sp>
      <p:sp>
        <p:nvSpPr>
          <p:cNvPr id="206" name="Shape 204"/>
          <p:cNvSpPr/>
          <p:nvPr/>
        </p:nvSpPr>
        <p:spPr>
          <a:xfrm>
            <a:off x="365760" y="4645152"/>
            <a:ext cx="8412480" cy="0"/>
          </a:xfrm>
          <a:prstGeom prst="line">
            <a:avLst/>
          </a:prstGeom>
          <a:noFill/>
          <a:ln w="19050">
            <a:solidFill>
              <a:srgbClr val="D04A02"/>
            </a:solidFill>
            <a:prstDash val="solid"/>
          </a:ln>
        </p:spPr>
        <p:txBody>
          <a:bodyPr/>
          <a:p/>
        </p:txBody>
      </p:sp>
      <p:sp>
        <p:nvSpPr>
          <p:cNvPr id="207" name="Text 205"/>
          <p:cNvSpPr/>
          <p:nvPr/>
        </p:nvSpPr>
        <p:spPr>
          <a:xfrm>
            <a:off x="36576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 Confidential  |  GenAI &amp; Agentic AI Delivery Blueprint  |  Securian Insurance</a:t>
            </a:r>
            <a:endParaRPr lang="en-US" sz="700" dirty="0"/>
          </a:p>
        </p:txBody>
      </p:sp>
      <p:sp>
        <p:nvSpPr>
          <p:cNvPr id="208" name="Text 206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Landscape &amp; Mitigations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Responsible AI Means Anticipating Risk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457200"/>
            <a:ext cx="8869680" cy="11887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548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" y="49789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Confidential  |  GenAI &amp; Agentic AI Transformation Proposal  |  Securian Insurance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778240" y="49789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37160" y="658368"/>
            <a:ext cx="8823960" cy="201168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82880" y="6583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Rating:  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325880" y="694944"/>
            <a:ext cx="914400" cy="128016"/>
          </a:xfrm>
          <a:prstGeom prst="rect">
            <a:avLst/>
          </a:prstGeom>
          <a:solidFill>
            <a:srgbClr val="880000"/>
          </a:solidFill>
          <a:ln w="12700">
            <a:solidFill>
              <a:srgbClr val="88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325880" y="69494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2560320" y="694944"/>
            <a:ext cx="914400" cy="128016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560320" y="69494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3794760" y="694944"/>
            <a:ext cx="914400" cy="128016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794760" y="69494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137160" y="932688"/>
            <a:ext cx="431596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37160" y="932688"/>
            <a:ext cx="36576" cy="128016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28600" y="99669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Hallucination &amp; Factual Errors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593592" y="1014984"/>
            <a:ext cx="786384" cy="201168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593592" y="101498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28600" y="12527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Technical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28600" y="1435608"/>
            <a:ext cx="4133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RAG grounds outputs in verified corpora. Output validation layers check against policy databases. Human review gates for all high-stakes decisions.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99432" y="932688"/>
            <a:ext cx="431596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599432" y="932688"/>
            <a:ext cx="36576" cy="1280160"/>
          </a:xfrm>
          <a:prstGeom prst="rect">
            <a:avLst/>
          </a:prstGeom>
          <a:solidFill>
            <a:srgbClr val="880000"/>
          </a:solidFill>
          <a:ln w="12700">
            <a:solidFill>
              <a:srgbClr val="88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690872" y="99669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Non-Compliance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55864" y="1014984"/>
            <a:ext cx="786384" cy="201168"/>
          </a:xfrm>
          <a:prstGeom prst="rect">
            <a:avLst/>
          </a:prstGeom>
          <a:solidFill>
            <a:srgbClr val="880000"/>
          </a:solidFill>
          <a:ln w="12700">
            <a:solidFill>
              <a:srgbClr val="88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055864" y="101498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690872" y="12527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Regulatory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90872" y="1435608"/>
            <a:ext cx="4133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AI Governance Council with legal, compliance, and risk representation. Pre-deployment regulatory review. Continuous NAIC/state regulation monitoring agent.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37160" y="2267712"/>
            <a:ext cx="431596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137160" y="2267712"/>
            <a:ext cx="36576" cy="128016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28600" y="23317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Algorithmic Bias &amp; Disparate Impact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593592" y="2350008"/>
            <a:ext cx="786384" cy="201168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593592" y="2350008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28600" y="25877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Ethics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28600" y="2770632"/>
            <a:ext cx="4133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Protected class analysis at development and post-deployment. Quarterly bias audits. Third-party validation for underwriting and claims AI.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99432" y="2267712"/>
            <a:ext cx="431596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599432" y="2267712"/>
            <a:ext cx="36576" cy="128016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690872" y="23317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Privacy &amp; Security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055864" y="2350008"/>
            <a:ext cx="786384" cy="201168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055864" y="2350008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690872" y="25877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Security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690872" y="2770632"/>
            <a:ext cx="4133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PII redaction before LLM processing. Data residency controls. SOC 2 Type II compliance. Zero-trust access. Vendor DPAs with all AI providers.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37160" y="3602736"/>
            <a:ext cx="431596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137160" y="3602736"/>
            <a:ext cx="36576" cy="128016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228600" y="36667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Degradation &amp; Drift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593592" y="3685032"/>
            <a:ext cx="786384" cy="20116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3593592" y="368503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28600" y="39227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Operational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28600" y="4105656"/>
            <a:ext cx="4133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Automated drift detection with statistical process control. Performance dashboards. Quarterly revalidation cycles. Champion-challenger monitoring.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599432" y="3602736"/>
            <a:ext cx="431596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4599432" y="3602736"/>
            <a:ext cx="36576" cy="128016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690872" y="36667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 &amp; Dependency Risk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055864" y="3685032"/>
            <a:ext cx="786384" cy="20116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8055864" y="368503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690872" y="39227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Strategic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690872" y="4105656"/>
            <a:ext cx="4133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Build internal AI capability alongside vendor partnerships. Document all architectures and prompts. Avoid single-vendor lock-in through modular architecture.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Benefits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Creation Across the Insurance Value Chain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457200"/>
            <a:ext cx="8869680" cy="11887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548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" y="49789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Confidential  |  GenAI &amp; Agentic AI Transformation Proposal  |  Securian Insurance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778240" y="49789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37160" y="65836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are directional and grounded in evidence from peer insurer deployments. Specific sizing to be developed during the diagnostic phase.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37160" y="932688"/>
            <a:ext cx="1645920" cy="384048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37160" y="9326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Advice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783080" y="932688"/>
            <a:ext cx="128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04A02"/>
                </a:solidFill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" y="13441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911096" y="932688"/>
            <a:ext cx="164592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911096" y="9326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Pricing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557016" y="932688"/>
            <a:ext cx="128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04A02"/>
                </a:solidFill>
              </a:rPr>
              <a:t>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911096" y="13441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UW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pricing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685032" y="932688"/>
            <a:ext cx="1645920" cy="384048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85032" y="9326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330952" y="932688"/>
            <a:ext cx="128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04A02"/>
                </a:solidFill>
              </a:rPr>
              <a:t>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85032" y="13441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Straight-through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458968" y="932688"/>
            <a:ext cx="164592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58968" y="9326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104888" y="932688"/>
            <a:ext cx="128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04A02"/>
                </a:solidFill>
              </a:rPr>
              <a:t>›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58968" y="13441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claims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7232904" y="932688"/>
            <a:ext cx="1645920" cy="384048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232904" y="9326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Reporting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232904" y="13441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AI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37160" y="1719072"/>
            <a:ext cx="1700784" cy="749808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37160" y="173736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137160" y="213969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Capacity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911096" y="1719072"/>
            <a:ext cx="1700784" cy="7498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911096" y="173736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1911096" y="213969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Cycle Time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685032" y="1719072"/>
            <a:ext cx="1700784" cy="749808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685032" y="173736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3685032" y="213969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Rate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458968" y="1719072"/>
            <a:ext cx="1700784" cy="7498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458968" y="173736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5458968" y="213969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Leakage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232904" y="1719072"/>
            <a:ext cx="1700784" cy="749808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232904" y="173736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7232904" y="213969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Productivity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37160" y="2542032"/>
            <a:ext cx="2834640" cy="27432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210312" y="254203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Growth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37160" y="2816352"/>
            <a:ext cx="2834640" cy="502920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228600" y="2843784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underwriting → reduced NTU rates and faster time-to-premium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37160" y="3346704"/>
            <a:ext cx="28346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228600" y="337413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 tools → improved agent productivity and new business volume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37160" y="3877056"/>
            <a:ext cx="2834640" cy="502920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228600" y="390448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retention AI → reduced policy lapses across Life and Annuity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37160" y="4407408"/>
            <a:ext cx="28346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228600" y="44348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recommendation AI → cross-sell across credit and group lines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081528" y="2542032"/>
            <a:ext cx="283464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154680" y="254203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Optimization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081528" y="2816352"/>
            <a:ext cx="2834640" cy="502920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172968" y="2843784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Straight-through processing → lower manual handling cost per claim/policy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081528" y="3346704"/>
            <a:ext cx="28346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3172968" y="337413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extraction → lower data entry and verification cost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081528" y="3877056"/>
            <a:ext cx="2834640" cy="502920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3172968" y="390448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→ measurable reduction in loss leakage across claim lines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081528" y="4407408"/>
            <a:ext cx="28346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172968" y="44348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automation → lower regulatory audit and remediation cost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025896" y="2542032"/>
            <a:ext cx="2834640" cy="27432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6099048" y="254203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&amp; Quality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025896" y="2816352"/>
            <a:ext cx="2834640" cy="502920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6117336" y="2843784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UW decisions → reduced adverse selection and portfolio risk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025896" y="3346704"/>
            <a:ext cx="28346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6117336" y="337413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compliance monitoring → fewer regulatory breaches and fines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025896" y="3877056"/>
            <a:ext cx="2834640" cy="502920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6117336" y="390448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fraud detection → improved combined ratio contribution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025896" y="4407408"/>
            <a:ext cx="28346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6117336" y="44348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governance → reduced model risk and internal audit findings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Next Steps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Proposal to Program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457200"/>
            <a:ext cx="8869680" cy="11887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548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" y="497890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Confidential  |  GenAI &amp; Agentic AI Transformation Proposal  |  Securian Insurance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778240" y="49789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40080" y="658368"/>
            <a:ext cx="36576" cy="3950208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21208" y="731520"/>
            <a:ext cx="274320" cy="25603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21208" y="7315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96112" y="731520"/>
            <a:ext cx="914400" cy="23774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96112" y="7315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1–2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883664" y="658368"/>
            <a:ext cx="7077456" cy="731520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993392" y="713232"/>
            <a:ext cx="6876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Alignment Workshop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93392" y="950976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Facilitated session with Securian Insurance leadership to validate strategic priorities, confirm scope, and align on success metrics. Output: signed charter and executive sponsor named.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21208" y="1517904"/>
            <a:ext cx="274320" cy="256032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21208" y="15179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96112" y="1517904"/>
            <a:ext cx="914400" cy="237744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96112" y="15179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3–4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883664" y="1444752"/>
            <a:ext cx="7077456" cy="731520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993392" y="1499616"/>
            <a:ext cx="6876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Readiness Diagnostic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993392" y="1737360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of data maturity, technology landscape, talent inventory, governance baseline, and regulatory standing. Output: readiness scorecard and gap prioritization.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21208" y="2304288"/>
            <a:ext cx="274320" cy="25603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21208" y="23042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96112" y="2304288"/>
            <a:ext cx="914400" cy="23774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96112" y="23042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4–6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883664" y="2231136"/>
            <a:ext cx="7077456" cy="731520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993392" y="2286000"/>
            <a:ext cx="6876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 Prioritization Workshop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993392" y="2523744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working sessions with business lines to score use cases against impact, feasibility, and regulatory readiness. Output: prioritized use case backlog with Phase 1 selection confirmed.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21208" y="3090672"/>
            <a:ext cx="274320" cy="256032"/>
          </a:xfrm>
          <a:prstGeom prst="ellipse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21208" y="30906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6112" y="3090672"/>
            <a:ext cx="914400" cy="237744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96112" y="30906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6–8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883664" y="3017520"/>
            <a:ext cx="7077456" cy="731520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993392" y="3072384"/>
            <a:ext cx="6876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Program Mobilization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993392" y="3310128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charter, team staffing plan, vendor/platform selection criteria, governance framework draft, and pilot project kickoff. Output: funded Phase 1 program with governance in place.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21208" y="3877056"/>
            <a:ext cx="274320" cy="256032"/>
          </a:xfrm>
          <a:prstGeom prst="ellipse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21208" y="38770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96112" y="3877056"/>
            <a:ext cx="914400" cy="237744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96112" y="38770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883664" y="3803904"/>
            <a:ext cx="7077456" cy="731520"/>
          </a:xfrm>
          <a:prstGeom prst="rect">
            <a:avLst/>
          </a:prstGeom>
          <a:solidFill>
            <a:srgbClr val="F4F4F4"/>
          </a:solidFill>
          <a:ln w="381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1993392" y="3858768"/>
            <a:ext cx="6876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Tracking &amp; Reporting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993392" y="4096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measurement framework before Phase 1 pilots launch. Baseline metrics, target ranges, and executive dashboard agreed upfront — not retrospectively.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37160" y="4663440"/>
            <a:ext cx="8823960" cy="256032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228600" y="4663440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is ready to mobilize immediately. We recommend scheduling the Executive Alignment Workshop within the next 2 weeks to maintain program momentum.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7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Intelligent Insurance Enterprise Together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743200" cy="27432"/>
          </a:xfrm>
          <a:prstGeom prst="rect">
            <a:avLst/>
          </a:prstGeom>
          <a:solidFill>
            <a:srgbClr val="D04A02"/>
          </a:solidFill>
          <a:ln w="12700">
            <a:solidFill>
              <a:srgbClr val="D04A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Advisory  |  Insurance &amp; FinTech Practice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follow-up discussions, please contact your PwC engagement partner.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132320" y="1097280"/>
            <a:ext cx="1874520" cy="1463040"/>
          </a:xfrm>
          <a:prstGeom prst="rect">
            <a:avLst/>
          </a:prstGeom>
          <a:solidFill>
            <a:srgbClr val="D04A02">
              <a:alpha val="35000"/>
            </a:srgbClr>
          </a:solidFill>
          <a:ln w="12700">
            <a:solidFill>
              <a:srgbClr val="D04A0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498080" y="2743200"/>
            <a:ext cx="1508760" cy="1005840"/>
          </a:xfrm>
          <a:prstGeom prst="rect">
            <a:avLst/>
          </a:prstGeom>
          <a:solidFill>
            <a:srgbClr val="E8713A">
              <a:alpha val="45000"/>
            </a:srgbClr>
          </a:solidFill>
          <a:ln w="12700">
            <a:solidFill>
              <a:srgbClr val="E8713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4736592"/>
            <a:ext cx="8503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2025 PwC. All rights reserved. This document is confidential and intended solely for the use of Securian Insurance. Content is based on publicly available industry information and PwC proprietary frameworks.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4714</Words>
  <Application>Microsoft Office PowerPoint</Application>
  <PresentationFormat>On-screen Show (16:9)</PresentationFormat>
  <Paragraphs>586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GenAI &amp; Agentic AI Transformation Proposal</dc:title>
  <dc:subject>PptxGenJS Presentation</dc:subject>
  <dc:creator>PptxGenJS</dc:creator>
  <cp:lastModifiedBy>Office</cp:lastModifiedBy>
  <cp:revision>1</cp:revision>
  <dcterms:created xsi:type="dcterms:W3CDTF">2026-02-24T10:12:03Z</dcterms:created>
  <dcterms:modified xsi:type="dcterms:W3CDTF">2026-02-24T10:13:53Z</dcterms:modified>
</cp:coreProperties>
</file>